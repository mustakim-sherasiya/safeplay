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2-->
<p:presentation xmlns:r="http://schemas.openxmlformats.org/officeDocument/2006/relationships" xmlns:a="http://schemas.openxmlformats.org/drawingml/2006/main" xmlns:p="http://schemas.openxmlformats.org/presentationml/2006/main" embedTrueTypeFonts="1" saveSubsetFonts="1">
  <p:sldMasterIdLst>
    <p:sldMasterId id="2147483648" r:id="rId1"/>
    <p:sldMasterId id="2147483671" r:id="rId2"/>
    <p:sldMasterId id="2147483683" r:id="rId3"/>
  </p:sldMasterIdLst>
  <p:notesMasterIdLst>
    <p:notesMasterId r:id="rId4"/>
  </p:notesMasterIdLst>
  <p:sldIdLst>
    <p:sldId id="259" r:id="rId5"/>
    <p:sldId id="262" r:id="rId6"/>
    <p:sldId id="265" r:id="rId7"/>
    <p:sldId id="268" r:id="rId8"/>
    <p:sldId id="271" r:id="rId9"/>
    <p:sldId id="274" r:id="rId10"/>
    <p:sldId id="277" r:id="rId11"/>
    <p:sldId id="280" r:id="rId12"/>
    <p:sldId id="283" r:id="rId13"/>
    <p:sldId id="286" r:id="rId14"/>
    <p:sldId id="289" r:id="rId15"/>
    <p:sldId id="292" r:id="rId16"/>
    <p:sldId id="295" r:id="rId17"/>
    <p:sldId id="298" r:id="rId18"/>
    <p:sldId id="301" r:id="rId19"/>
    <p:sldId id="304" r:id="rId20"/>
    <p:sldId id="307" r:id="rId21"/>
    <p:sldId id="310" r:id="rId22"/>
    <p:sldId id="313" r:id="rId23"/>
    <p:sldId id="316" r:id="rId24"/>
  </p:sldIdLst>
  <p:sldSz cx="14630400" cy="8229600"/>
  <p:notesSz cx="6858000" cy="9144000"/>
  <p:embeddedFontLst>
    <p:embeddedFont>
      <p:font typeface="Spline Sans"/>
      <p:regular r:id="rId26"/>
    </p:embeddedFont>
    <p:embeddedFont>
      <p:font typeface="Barlow"/>
      <p:regular r:id="rId27"/>
    </p:embeddedFont>
  </p:embeddedFontLst>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 Type="http://schemas.openxmlformats.org/officeDocument/2006/relationships/slideMaster" Target="slideMasters/slideMaster2.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tags" Target="tags/tag1.xml" /><Relationship Id="rId26" Type="http://schemas.openxmlformats.org/officeDocument/2006/relationships/font" Target="fonts/font1.fntdata" /><Relationship Id="rId27" Type="http://schemas.openxmlformats.org/officeDocument/2006/relationships/font" Target="fonts/font2.fntdata" /><Relationship Id="rId28" Type="http://schemas.openxmlformats.org/officeDocument/2006/relationships/presProps" Target="presProps.xml" /><Relationship Id="rId29" Type="http://schemas.openxmlformats.org/officeDocument/2006/relationships/viewProps" Target="viewProps.xml" /><Relationship Id="rId3" Type="http://schemas.openxmlformats.org/officeDocument/2006/relationships/slideMaster" Target="slideMasters/slideMaster3.xml" /><Relationship Id="rId30" Type="http://schemas.openxmlformats.org/officeDocument/2006/relationships/theme" Target="theme/theme1.xml" /><Relationship Id="rId31" Type="http://schemas.openxmlformats.org/officeDocument/2006/relationships/tableStyles" Target="tableStyles.xml" /><Relationship Id="rId4" Type="http://schemas.openxmlformats.org/officeDocument/2006/relationships/notesMaster" Target="notesMasters/notesMaster1.xml" /><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val="1024086991"/>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1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1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2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2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2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2.xml" /></Relationships>
</file>

<file path=ppt/slideLayouts/_rels/slideLayout23.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2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2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2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2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2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3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3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3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_rels/slideLayout3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hyperlink" Target="https://gamma.app/?utm_source=made-with-gamma" TargetMode="External" /><Relationship Id="rId4" Type="http://schemas.openxmlformats.org/officeDocument/2006/relationships/slideMaster" Target="../slideMasters/slideMaster3.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E3E73D85-EFF2-4764-A430-5FC43D23C42C}"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5B8D5C81-036A-45CC-9791-EE1FFB4D316E}"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1E5AC209-9DCD-43F0-907B-AEE26E14EB6F}"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9E45D07C-7626-40C8-9F8F-BBDF5C1CF5E3}"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8E7F4019-AE52-4D6E-8426-0B578715C824}"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06E5B41B-6F65-43EF-BB65-81D6F66E20EC}"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709F3F2B-8AB8-46F4-B37B-2F5F5863CAE0}"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1268AB9C-376F-48F0-BAAF-5B5B0B7AB636}"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77E230EE-13FA-4CB4-969C-9CC9A1006C18}"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3C590D9C-7B49-4D0B-80B2-F0F3E573BB70}"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918F7163-F34C-4F1C-97A8-59B970DA0545}"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DEFAULT">
    <p:bg>
      <p:bgRef idx="1001">
        <a:schemeClr val="bg1"/>
      </p:bgRef>
    </p:bg>
    <p:spTree>
      <p:nvGrpSpPr>
        <p:cNvPr id="1" name=""/>
        <p:cNvGrpSpPr/>
        <p:nvPr/>
      </p:nvGrpSpPr>
      <p:grpSpPr>
        <a:xfrm>
          <a:off x="0" y="0"/>
          <a:ext cx="0" cy="0"/>
        </a:xfrm>
      </p:grpSpPr>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1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2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3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4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5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6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7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8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9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10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DEFAULT">
    <p:bg>
      <p:bgRef idx="1001">
        <a:schemeClr val="bg1"/>
      </p:bgRef>
    </p:bg>
    <p:spTree>
      <p:nvGrpSpPr>
        <p:cNvPr id="1" name=""/>
        <p:cNvGrpSpPr/>
        <p:nvPr/>
      </p:nvGrpSpPr>
      <p:grpSpPr>
        <a:xfrm>
          <a:off x="0" y="0"/>
          <a:ext cx="0" cy="0"/>
        </a:xfrm>
      </p:grpSpPr>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1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2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3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4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5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2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6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3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7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3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8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3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9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Layouts/slideLayout3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Slide 10 master">
    <p:spTree>
      <p:nvGrpSpPr>
        <p:cNvPr id="1" name=""/>
        <p:cNvGrpSpPr/>
        <p:nvPr/>
      </p:nvGrpSpPr>
      <p:grpSpPr>
        <a:xfrm>
          <a:off x="0" y="0"/>
          <a: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p:txBody>
      </p:sp>
      <p:pic>
        <p:nvPicPr>
          <p:cNvPr id="4" name="Image 1" descr="preencoded.png">
            <a:hlinkClick r:id="rId3"/>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_rels/slideMaster3.xml.rels>&#65279;<?xml version="1.0" encoding="utf-8" standalone="yes"?><Relationships xmlns="http://schemas.openxmlformats.org/package/2006/relationships"><Relationship Id="rId1" Type="http://schemas.openxmlformats.org/officeDocument/2006/relationships/slideLayout" Target="../slideLayouts/slideLayout23.xml" /><Relationship Id="rId10" Type="http://schemas.openxmlformats.org/officeDocument/2006/relationships/slideLayout" Target="../slideLayouts/slideLayout32.xml" /><Relationship Id="rId11" Type="http://schemas.openxmlformats.org/officeDocument/2006/relationships/slideLayout" Target="../slideLayouts/slideLayout33.xml" /><Relationship Id="rId12" Type="http://schemas.openxmlformats.org/officeDocument/2006/relationships/theme" Target="../theme/theme3.xml" /><Relationship Id="rId2" Type="http://schemas.openxmlformats.org/officeDocument/2006/relationships/slideLayout" Target="../slideLayouts/slideLayout24.xml" /><Relationship Id="rId3" Type="http://schemas.openxmlformats.org/officeDocument/2006/relationships/slideLayout" Target="../slideLayouts/slideLayout25.xml" /><Relationship Id="rId4" Type="http://schemas.openxmlformats.org/officeDocument/2006/relationships/slideLayout" Target="../slideLayouts/slideLayout26.xml" /><Relationship Id="rId5" Type="http://schemas.openxmlformats.org/officeDocument/2006/relationships/slideLayout" Target="../slideLayouts/slideLayout27.xml" /><Relationship Id="rId6" Type="http://schemas.openxmlformats.org/officeDocument/2006/relationships/slideLayout" Target="../slideLayouts/slideLayout28.xml" /><Relationship Id="rId7" Type="http://schemas.openxmlformats.org/officeDocument/2006/relationships/slideLayout" Target="../slideLayouts/slideLayout29.xml" /><Relationship Id="rId8" Type="http://schemas.openxmlformats.org/officeDocument/2006/relationships/slideLayout" Target="../slideLayouts/slideLayout30.xml" /><Relationship Id="rId9" Type="http://schemas.openxmlformats.org/officeDocument/2006/relationships/slideLayout" Target="../slideLayouts/slideLayout3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6.xml" /><Relationship Id="rId10" Type="http://schemas.openxmlformats.org/officeDocument/2006/relationships/image" Target="../media/image10.svg" /><Relationship Id="rId11" Type="http://schemas.openxmlformats.org/officeDocument/2006/relationships/image" Target="../media/image11.png" /><Relationship Id="rId12" Type="http://schemas.openxmlformats.org/officeDocument/2006/relationships/image" Target="../media/image12.svg" /><Relationship Id="rId13" Type="http://schemas.openxmlformats.org/officeDocument/2006/relationships/image" Target="../media/image13.png" /><Relationship Id="rId14" Type="http://schemas.openxmlformats.org/officeDocument/2006/relationships/image" Target="../media/image14.svg" /><Relationship Id="rId15" Type="http://schemas.openxmlformats.org/officeDocument/2006/relationships/image" Target="../media/image15.png" /><Relationship Id="rId16" Type="http://schemas.openxmlformats.org/officeDocument/2006/relationships/image" Target="../media/image16.svg" /><Relationship Id="rId17" Type="http://schemas.openxmlformats.org/officeDocument/2006/relationships/image" Target="../media/image17.png" /><Relationship Id="rId18" Type="http://schemas.openxmlformats.org/officeDocument/2006/relationships/image" Target="../media/image18.svg" /><Relationship Id="rId19" Type="http://schemas.openxmlformats.org/officeDocument/2006/relationships/image" Target="../media/image19.png" /><Relationship Id="rId2" Type="http://schemas.openxmlformats.org/officeDocument/2006/relationships/notesSlide" Target="../notesSlides/notesSlide4.xml" /><Relationship Id="rId20" Type="http://schemas.openxmlformats.org/officeDocument/2006/relationships/image" Target="../media/image20.svg" /><Relationship Id="rId3" Type="http://schemas.openxmlformats.org/officeDocument/2006/relationships/image" Target="../media/image3.png" /><Relationship Id="rId4" Type="http://schemas.openxmlformats.org/officeDocument/2006/relationships/image" Target="../media/image4.svg" /><Relationship Id="rId5" Type="http://schemas.openxmlformats.org/officeDocument/2006/relationships/image" Target="../media/image5.png" /><Relationship Id="rId6" Type="http://schemas.openxmlformats.org/officeDocument/2006/relationships/image" Target="../media/image6.svg" /><Relationship Id="rId7" Type="http://schemas.openxmlformats.org/officeDocument/2006/relationships/image" Target="../media/image7.png" /><Relationship Id="rId8" Type="http://schemas.openxmlformats.org/officeDocument/2006/relationships/image" Target="../media/image8.svg" /><Relationship Id="rId9" Type="http://schemas.openxmlformats.org/officeDocument/2006/relationships/image" Target="../media/image9.pn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7.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8.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9.xml" /><Relationship Id="rId10" Type="http://schemas.openxmlformats.org/officeDocument/2006/relationships/image" Target="../media/image28.svg" /><Relationship Id="rId2" Type="http://schemas.openxmlformats.org/officeDocument/2006/relationships/notesSlide" Target="../notesSlides/notesSlide7.xml" /><Relationship Id="rId3" Type="http://schemas.openxmlformats.org/officeDocument/2006/relationships/image" Target="../media/image21.png" /><Relationship Id="rId4" Type="http://schemas.openxmlformats.org/officeDocument/2006/relationships/image" Target="../media/image22.svg" /><Relationship Id="rId5" Type="http://schemas.openxmlformats.org/officeDocument/2006/relationships/image" Target="../media/image23.png" /><Relationship Id="rId6" Type="http://schemas.openxmlformats.org/officeDocument/2006/relationships/image" Target="../media/image24.svg" /><Relationship Id="rId7" Type="http://schemas.openxmlformats.org/officeDocument/2006/relationships/image" Target="../media/image25.png" /><Relationship Id="rId8" Type="http://schemas.openxmlformats.org/officeDocument/2006/relationships/image" Target="../media/image26.svg" /><Relationship Id="rId9" Type="http://schemas.openxmlformats.org/officeDocument/2006/relationships/image" Target="../media/image27.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1.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2.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4.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5.xml" /><Relationship Id="rId2" Type="http://schemas.openxmlformats.org/officeDocument/2006/relationships/notesSlide" Target="../notesSlides/notesSlide1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6.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7.xml" /><Relationship Id="rId2" Type="http://schemas.openxmlformats.org/officeDocument/2006/relationships/notesSlide" Target="../notesSlides/notesSlide14.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8.xml" /><Relationship Id="rId10" Type="http://schemas.openxmlformats.org/officeDocument/2006/relationships/image" Target="../media/image34.svg" /><Relationship Id="rId2" Type="http://schemas.openxmlformats.org/officeDocument/2006/relationships/notesSlide" Target="../notesSlides/notesSlide15.xml" /><Relationship Id="rId3" Type="http://schemas.openxmlformats.org/officeDocument/2006/relationships/image" Target="../media/image5.png" /><Relationship Id="rId4" Type="http://schemas.openxmlformats.org/officeDocument/2006/relationships/image" Target="../media/image6.svg" /><Relationship Id="rId5" Type="http://schemas.openxmlformats.org/officeDocument/2006/relationships/image" Target="../media/image29.png" /><Relationship Id="rId6" Type="http://schemas.openxmlformats.org/officeDocument/2006/relationships/image" Target="../media/image30.svg" /><Relationship Id="rId7" Type="http://schemas.openxmlformats.org/officeDocument/2006/relationships/image" Target="../media/image31.png" /><Relationship Id="rId8" Type="http://schemas.openxmlformats.org/officeDocument/2006/relationships/image" Target="../media/image32.svg" /><Relationship Id="rId9" Type="http://schemas.openxmlformats.org/officeDocument/2006/relationships/image" Target="../media/image33.pn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9.xml" /><Relationship Id="rId10" Type="http://schemas.openxmlformats.org/officeDocument/2006/relationships/image" Target="../media/image28.svg" /><Relationship Id="rId2" Type="http://schemas.openxmlformats.org/officeDocument/2006/relationships/notesSlide" Target="../notesSlides/notesSlide16.xml" /><Relationship Id="rId3" Type="http://schemas.openxmlformats.org/officeDocument/2006/relationships/image" Target="../media/image21.png" /><Relationship Id="rId4" Type="http://schemas.openxmlformats.org/officeDocument/2006/relationships/image" Target="../media/image22.svg" /><Relationship Id="rId5" Type="http://schemas.openxmlformats.org/officeDocument/2006/relationships/image" Target="../media/image23.png" /><Relationship Id="rId6" Type="http://schemas.openxmlformats.org/officeDocument/2006/relationships/image" Target="../media/image24.svg" /><Relationship Id="rId7" Type="http://schemas.openxmlformats.org/officeDocument/2006/relationships/image" Target="../media/image25.png" /><Relationship Id="rId8" Type="http://schemas.openxmlformats.org/officeDocument/2006/relationships/image" Target="../media/image26.svg" /><Relationship Id="rId9" Type="http://schemas.openxmlformats.org/officeDocument/2006/relationships/image" Target="../media/image27.pn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17.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18.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32.xml" /><Relationship Id="rId2" Type="http://schemas.openxmlformats.org/officeDocument/2006/relationships/notesSlide" Target="../notesSlides/notesSlide19.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33.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1">
    <p:spTree>
      <p:nvGrpSpPr>
        <p:cNvPr id="1" name=""/>
        <p:cNvGrpSpPr/>
        <p:nvPr/>
      </p:nvGrpSpPr>
      <p:grpSpPr>
        <a:xfrm>
          <a:off x="0" y="0"/>
          <a:ext cx="0" cy="0"/>
        </a:xfrm>
      </p:grpSpPr>
      <p:sp>
        <p:nvSpPr>
          <p:cNvPr id="2" name="Text 0"/>
          <p:cNvSpPr/>
          <p:nvPr/>
        </p:nvSpPr>
        <p:spPr>
          <a:xfrm>
            <a:off x="881063" y="2063234"/>
            <a:ext cx="12243792"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SafePlay: Secure Chat &amp; Digital Wellbeing Application</a:t>
            </a:r>
            <a:endParaRPr lang="en-US" sz="3850"/>
          </a:p>
        </p:txBody>
      </p:sp>
      <p:sp>
        <p:nvSpPr>
          <p:cNvPr id="3" name="Text 1"/>
          <p:cNvSpPr/>
          <p:nvPr/>
        </p:nvSpPr>
        <p:spPr>
          <a:xfrm>
            <a:off x="881063" y="3115747"/>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A modern Android application meticulously crafted for secure communication, paramount user safety, and comprehensive digital wellbeing. SafePlay redefines how users connect, offering a robust and intuitive platform designed with contemporary digital challenges in mind.</a:t>
            </a:r>
            <a:endParaRPr lang="en-US" sz="1700"/>
          </a:p>
        </p:txBody>
      </p:sp>
      <p:sp>
        <p:nvSpPr>
          <p:cNvPr id="4" name="Text 2"/>
          <p:cNvSpPr/>
          <p:nvPr/>
        </p:nvSpPr>
        <p:spPr>
          <a:xfrm>
            <a:off x="881063" y="4420791"/>
            <a:ext cx="12868275" cy="440531"/>
          </a:xfrm>
          <a:prstGeom prst="rect">
            <a:avLst/>
          </a:prstGeom>
          <a:noFill/>
        </p:spPr>
        <p:txBody>
          <a:bodyPr wrap="none" lIns="0" tIns="0" rIns="0" bIns="0" rtlCol="0" anchor="t"/>
          <a:lstStyle/>
          <a:p>
            <a:pPr marL="0" indent="0" algn="l">
              <a:lnSpc>
                <a:spcPts val="3450"/>
              </a:lnSpc>
              <a:buNone/>
            </a:pPr>
            <a:r>
              <a:rPr lang="en-US" sz="2150">
                <a:solidFill>
                  <a:srgbClr val="E0E4E6"/>
                </a:solidFill>
                <a:latin typeface="Barlow" pitchFamily="34" charset="0"/>
                <a:ea typeface="Barlow" pitchFamily="34" charset="-122"/>
                <a:cs typeface="Barlow" pitchFamily="34" charset="-120"/>
              </a:rPr>
              <a:t>Presented By:</a:t>
            </a:r>
            <a:endParaRPr lang="en-US" sz="2150"/>
          </a:p>
        </p:txBody>
      </p:sp>
      <p:sp>
        <p:nvSpPr>
          <p:cNvPr id="5" name="Text 3"/>
          <p:cNvSpPr/>
          <p:nvPr/>
        </p:nvSpPr>
        <p:spPr>
          <a:xfrm>
            <a:off x="881063" y="5109091"/>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Mustakim Sherasiya (23SOECE11096)Bhargav Desani (23SOEIT11002)Vaibhav Vasani (23SOECE11040)</a:t>
            </a:r>
            <a:endParaRPr lang="en-US" sz="1700"/>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2">
    <p:spTree>
      <p:nvGrpSpPr>
        <p:cNvPr id="1" name=""/>
        <p:cNvGrpSpPr/>
        <p:nvPr/>
      </p:nvGrpSpPr>
      <p:grpSpPr>
        <a:xfrm>
          <a:off x="0" y="0"/>
          <a:ext cx="0" cy="0"/>
        </a:xfrm>
      </p:grpSpPr>
      <p:sp>
        <p:nvSpPr>
          <p:cNvPr id="2" name="Text 0"/>
          <p:cNvSpPr/>
          <p:nvPr/>
        </p:nvSpPr>
        <p:spPr>
          <a:xfrm>
            <a:off x="881063" y="1130856"/>
            <a:ext cx="5540812"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Introduction to SafePlay</a:t>
            </a:r>
            <a:endParaRPr lang="en-US" sz="3850"/>
          </a:p>
        </p:txBody>
      </p:sp>
      <p:sp>
        <p:nvSpPr>
          <p:cNvPr id="3" name="Text 1"/>
          <p:cNvSpPr/>
          <p:nvPr/>
        </p:nvSpPr>
        <p:spPr>
          <a:xfrm>
            <a:off x="881063" y="2183368"/>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SafePlay is a cutting-edge Android application, meticulously engineered using </a:t>
            </a:r>
            <a:r>
              <a:rPr lang="en-US" sz="1700">
                <a:solidFill>
                  <a:srgbClr val="16FFBB"/>
                </a:solidFill>
                <a:latin typeface="Barlow" pitchFamily="34" charset="0"/>
                <a:ea typeface="Barlow" pitchFamily="34" charset="-122"/>
                <a:cs typeface="Barlow" pitchFamily="34" charset="-120"/>
              </a:rPr>
              <a:t>Kotlin</a:t>
            </a:r>
            <a:r>
              <a:rPr lang="en-US" sz="1700">
                <a:solidFill>
                  <a:srgbClr val="E0E4E6"/>
                </a:solidFill>
                <a:latin typeface="Barlow" pitchFamily="34" charset="0"/>
                <a:ea typeface="Barlow" pitchFamily="34" charset="-122"/>
                <a:cs typeface="Barlow" pitchFamily="34" charset="-120"/>
              </a:rPr>
              <a:t>, </a:t>
            </a:r>
            <a:r>
              <a:rPr lang="en-US" sz="1700">
                <a:solidFill>
                  <a:srgbClr val="16FFBB"/>
                </a:solidFill>
                <a:latin typeface="Barlow" pitchFamily="34" charset="0"/>
                <a:ea typeface="Barlow" pitchFamily="34" charset="-122"/>
                <a:cs typeface="Barlow" pitchFamily="34" charset="-120"/>
              </a:rPr>
              <a:t>Jetpack Compose</a:t>
            </a:r>
            <a:r>
              <a:rPr lang="en-US" sz="1700">
                <a:solidFill>
                  <a:srgbClr val="E0E4E6"/>
                </a:solidFill>
                <a:latin typeface="Barlow" pitchFamily="34" charset="0"/>
                <a:ea typeface="Barlow" pitchFamily="34" charset="-122"/>
                <a:cs typeface="Barlow" pitchFamily="34" charset="-120"/>
              </a:rPr>
              <a:t>, and </a:t>
            </a:r>
            <a:r>
              <a:rPr lang="en-US" sz="1700">
                <a:solidFill>
                  <a:srgbClr val="16FFBB"/>
                </a:solidFill>
                <a:latin typeface="Barlow" pitchFamily="34" charset="0"/>
                <a:ea typeface="Barlow" pitchFamily="34" charset="-122"/>
                <a:cs typeface="Barlow" pitchFamily="34" charset="-120"/>
              </a:rPr>
              <a:t>Firebase</a:t>
            </a:r>
            <a:r>
              <a:rPr lang="en-US" sz="1700">
                <a:solidFill>
                  <a:srgbClr val="E0E4E6"/>
                </a:solidFill>
                <a:latin typeface="Barlow" pitchFamily="34" charset="0"/>
                <a:ea typeface="Barlow" pitchFamily="34" charset="-122"/>
                <a:cs typeface="Barlow" pitchFamily="34" charset="-120"/>
              </a:rPr>
              <a:t>. It seamlessly integrates secure communication, advanced authentication protocols, stringent safety controls, and extensive personalisation features to deliver a superior user experience.</a:t>
            </a:r>
            <a:endParaRPr lang="en-US" sz="1700"/>
          </a:p>
        </p:txBody>
      </p:sp>
      <p:sp>
        <p:nvSpPr>
          <p:cNvPr id="4" name="Shape 2"/>
          <p:cNvSpPr/>
          <p:nvPr/>
        </p:nvSpPr>
        <p:spPr>
          <a:xfrm>
            <a:off x="881063" y="3488412"/>
            <a:ext cx="4142542" cy="3010138"/>
          </a:xfrm>
          <a:prstGeom prst="roundRect">
            <a:avLst>
              <a:gd name="adj" fmla="val 10978"/>
            </a:avLst>
          </a:prstGeom>
          <a:solidFill>
            <a:srgbClr val="0A081B">
              <a:alpha val="75000"/>
            </a:srgbClr>
          </a:solidFill>
          <a:ln w="30480">
            <a:solidFill>
              <a:srgbClr val="16FFBB"/>
            </a:solidFill>
            <a:prstDash val="solid"/>
          </a:ln>
        </p:spPr>
        <p:txBody>
          <a:bodyPr/>
          <a:lstStyle/>
          <a:p/>
        </p:txBody>
      </p:sp>
      <p:sp>
        <p:nvSpPr>
          <p:cNvPr id="5" name="Shape 3"/>
          <p:cNvSpPr/>
          <p:nvPr/>
        </p:nvSpPr>
        <p:spPr>
          <a:xfrm>
            <a:off x="911543" y="3518892"/>
            <a:ext cx="4081582" cy="660797"/>
          </a:xfrm>
          <a:prstGeom prst="roundRect">
            <a:avLst>
              <a:gd name="adj" fmla="val 44472"/>
            </a:avLst>
          </a:prstGeom>
          <a:solidFill>
            <a:srgbClr val="0A081B"/>
          </a:solidFill>
        </p:spPr>
        <p:txBody>
          <a:bodyPr/>
          <a:lstStyle/>
          <a:p/>
        </p:txBody>
      </p:sp>
      <p:sp>
        <p:nvSpPr>
          <p:cNvPr id="6" name="Text 4"/>
          <p:cNvSpPr/>
          <p:nvPr/>
        </p:nvSpPr>
        <p:spPr>
          <a:xfrm>
            <a:off x="1131808" y="4399955"/>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Users</a:t>
            </a:r>
            <a:endParaRPr lang="en-US" sz="1900"/>
          </a:p>
        </p:txBody>
      </p:sp>
      <p:sp>
        <p:nvSpPr>
          <p:cNvPr id="7" name="Text 5"/>
          <p:cNvSpPr/>
          <p:nvPr/>
        </p:nvSpPr>
        <p:spPr>
          <a:xfrm>
            <a:off x="1131808" y="4838105"/>
            <a:ext cx="3641050"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Engage in secure chat, manage personal profiles, and personalise their application experience.</a:t>
            </a:r>
            <a:endParaRPr lang="en-US" sz="1700"/>
          </a:p>
        </p:txBody>
      </p:sp>
      <p:sp>
        <p:nvSpPr>
          <p:cNvPr id="8" name="Shape 6"/>
          <p:cNvSpPr/>
          <p:nvPr/>
        </p:nvSpPr>
        <p:spPr>
          <a:xfrm>
            <a:off x="5243870" y="3488412"/>
            <a:ext cx="4142542" cy="3010138"/>
          </a:xfrm>
          <a:prstGeom prst="roundRect">
            <a:avLst>
              <a:gd name="adj" fmla="val 10978"/>
            </a:avLst>
          </a:prstGeom>
          <a:solidFill>
            <a:srgbClr val="0A081B">
              <a:alpha val="75000"/>
            </a:srgbClr>
          </a:solidFill>
          <a:ln w="30480">
            <a:solidFill>
              <a:srgbClr val="29DDDA"/>
            </a:solidFill>
            <a:prstDash val="solid"/>
          </a:ln>
        </p:spPr>
        <p:txBody>
          <a:bodyPr/>
          <a:lstStyle/>
          <a:p/>
        </p:txBody>
      </p:sp>
      <p:sp>
        <p:nvSpPr>
          <p:cNvPr id="9" name="Shape 7"/>
          <p:cNvSpPr/>
          <p:nvPr/>
        </p:nvSpPr>
        <p:spPr>
          <a:xfrm>
            <a:off x="5274350" y="3518892"/>
            <a:ext cx="4081582" cy="660797"/>
          </a:xfrm>
          <a:prstGeom prst="roundRect">
            <a:avLst>
              <a:gd name="adj" fmla="val 44472"/>
            </a:avLst>
          </a:prstGeom>
          <a:solidFill>
            <a:srgbClr val="0A081B"/>
          </a:solidFill>
        </p:spPr>
        <p:txBody>
          <a:bodyPr/>
          <a:lstStyle/>
          <a:p/>
        </p:txBody>
      </p:sp>
      <p:sp>
        <p:nvSpPr>
          <p:cNvPr id="10" name="Text 8"/>
          <p:cNvSpPr/>
          <p:nvPr/>
        </p:nvSpPr>
        <p:spPr>
          <a:xfrm>
            <a:off x="5494615" y="4399955"/>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Admins</a:t>
            </a:r>
            <a:endParaRPr lang="en-US" sz="1900"/>
          </a:p>
        </p:txBody>
      </p:sp>
      <p:sp>
        <p:nvSpPr>
          <p:cNvPr id="11" name="Text 9"/>
          <p:cNvSpPr/>
          <p:nvPr/>
        </p:nvSpPr>
        <p:spPr>
          <a:xfrm>
            <a:off x="5494615" y="4838105"/>
            <a:ext cx="3641050" cy="140970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Monitor user activity, implement banning/unbanning actions, and efficiently handle feedback submissions.</a:t>
            </a:r>
            <a:endParaRPr lang="en-US" sz="1700"/>
          </a:p>
        </p:txBody>
      </p:sp>
      <p:sp>
        <p:nvSpPr>
          <p:cNvPr id="12" name="Shape 10"/>
          <p:cNvSpPr/>
          <p:nvPr/>
        </p:nvSpPr>
        <p:spPr>
          <a:xfrm>
            <a:off x="9606677" y="3488412"/>
            <a:ext cx="4142542" cy="3010138"/>
          </a:xfrm>
          <a:prstGeom prst="roundRect">
            <a:avLst>
              <a:gd name="adj" fmla="val 10978"/>
            </a:avLst>
          </a:prstGeom>
          <a:solidFill>
            <a:srgbClr val="0A081B">
              <a:alpha val="75000"/>
            </a:srgbClr>
          </a:solidFill>
          <a:ln w="30480">
            <a:solidFill>
              <a:srgbClr val="37A7E7"/>
            </a:solidFill>
            <a:prstDash val="solid"/>
          </a:ln>
        </p:spPr>
        <p:txBody>
          <a:bodyPr/>
          <a:lstStyle/>
          <a:p/>
        </p:txBody>
      </p:sp>
      <p:sp>
        <p:nvSpPr>
          <p:cNvPr id="13" name="Shape 11"/>
          <p:cNvSpPr/>
          <p:nvPr/>
        </p:nvSpPr>
        <p:spPr>
          <a:xfrm>
            <a:off x="9637157" y="3518892"/>
            <a:ext cx="4081582" cy="660797"/>
          </a:xfrm>
          <a:prstGeom prst="roundRect">
            <a:avLst>
              <a:gd name="adj" fmla="val 44472"/>
            </a:avLst>
          </a:prstGeom>
          <a:solidFill>
            <a:srgbClr val="0A081B"/>
          </a:solidFill>
        </p:spPr>
        <p:txBody>
          <a:bodyPr/>
          <a:lstStyle/>
          <a:p/>
        </p:txBody>
      </p:sp>
      <p:sp>
        <p:nvSpPr>
          <p:cNvPr id="14" name="Text 12"/>
          <p:cNvSpPr/>
          <p:nvPr/>
        </p:nvSpPr>
        <p:spPr>
          <a:xfrm>
            <a:off x="9857423" y="4399955"/>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Master Admin</a:t>
            </a:r>
            <a:endParaRPr lang="en-US" sz="1900"/>
          </a:p>
        </p:txBody>
      </p:sp>
      <p:sp>
        <p:nvSpPr>
          <p:cNvPr id="15" name="Text 13"/>
          <p:cNvSpPr/>
          <p:nvPr/>
        </p:nvSpPr>
        <p:spPr>
          <a:xfrm>
            <a:off x="9857423" y="4838105"/>
            <a:ext cx="3641050" cy="140970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Possess the highest level of control, including comprehensive admin-management rights for unparalleled oversight.</a:t>
            </a:r>
            <a:endParaRPr lang="en-US" sz="1700"/>
          </a:p>
        </p:txBody>
      </p:sp>
      <p:sp>
        <p:nvSpPr>
          <p:cNvPr id="16" name="Text 14"/>
          <p:cNvSpPr/>
          <p:nvPr/>
        </p:nvSpPr>
        <p:spPr>
          <a:xfrm>
            <a:off x="881063" y="6746319"/>
            <a:ext cx="12868275" cy="352425"/>
          </a:xfrm>
          <a:prstGeom prst="rect">
            <a:avLst/>
          </a:prstGeom>
          <a:noFill/>
        </p:spPr>
        <p:txBody>
          <a:bodyPr wrap="non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SafePlay stands as a user-friendly, secure, and modern digital platform, elevating communication to new standards.</a:t>
            </a:r>
            <a:endParaRPr lang="en-US" sz="1700"/>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3">
    <p:spTree>
      <p:nvGrpSpPr>
        <p:cNvPr id="1" name=""/>
        <p:cNvGrpSpPr/>
        <p:nvPr/>
      </p:nvGrpSpPr>
      <p:grpSpPr>
        <a:xfrm>
          <a:off x="0" y="0"/>
          <a:ext cx="0" cy="0"/>
        </a:xfrm>
      </p:grpSpPr>
      <p:sp>
        <p:nvSpPr>
          <p:cNvPr id="2" name="Text 0"/>
          <p:cNvSpPr/>
          <p:nvPr/>
        </p:nvSpPr>
        <p:spPr>
          <a:xfrm>
            <a:off x="798076" y="549712"/>
            <a:ext cx="6789777" cy="554236"/>
          </a:xfrm>
          <a:prstGeom prst="rect">
            <a:avLst/>
          </a:prstGeom>
          <a:noFill/>
        </p:spPr>
        <p:txBody>
          <a:bodyPr wrap="none" lIns="0" tIns="0" rIns="0" bIns="0" rtlCol="0" anchor="t"/>
          <a:lstStyle/>
          <a:p>
            <a:pPr marL="0" indent="0" algn="l">
              <a:lnSpc>
                <a:spcPts val="4350"/>
              </a:lnSpc>
              <a:buNone/>
            </a:pPr>
            <a:r>
              <a:rPr lang="en-US" sz="3450" b="1">
                <a:solidFill>
                  <a:srgbClr val="F0FCFF"/>
                </a:solidFill>
                <a:latin typeface="Spline Sans Bold" pitchFamily="34" charset="0"/>
                <a:ea typeface="Spline Sans Bold" pitchFamily="34" charset="-122"/>
                <a:cs typeface="Spline Sans Bold" pitchFamily="34" charset="-120"/>
              </a:rPr>
              <a:t>Comprehensive Usage Overview</a:t>
            </a:r>
            <a:endParaRPr lang="en-US" sz="3450"/>
          </a:p>
        </p:txBody>
      </p:sp>
      <p:sp>
        <p:nvSpPr>
          <p:cNvPr id="3" name="Text 1"/>
          <p:cNvSpPr/>
          <p:nvPr/>
        </p:nvSpPr>
        <p:spPr>
          <a:xfrm>
            <a:off x="798076" y="1502926"/>
            <a:ext cx="13034248" cy="957620"/>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SafePlay streamlines the user journey from initial sign-up to daily interaction. Users can register using their email and phone number, followed by a secure One-Time Password (OTP) verification process, ensuring robust account authenticity. Upon successful verification, users can securely log in and access a full suite of communication and safety tools.</a:t>
            </a:r>
            <a:endParaRPr lang="en-US" sz="1550"/>
          </a:p>
        </p:txBody>
      </p:sp>
      <p:sp>
        <p:nvSpPr>
          <p:cNvPr id="4" name="Text 2"/>
          <p:cNvSpPr/>
          <p:nvPr/>
        </p:nvSpPr>
        <p:spPr>
          <a:xfrm>
            <a:off x="798076" y="2884408"/>
            <a:ext cx="2216825" cy="277058"/>
          </a:xfrm>
          <a:prstGeom prst="rect">
            <a:avLst/>
          </a:prstGeom>
          <a:noFill/>
        </p:spPr>
        <p:txBody>
          <a:bodyPr wrap="none" lIns="0" tIns="0" rIns="0" bIns="0" rtlCol="0" anchor="t"/>
          <a:lstStyle/>
          <a:p>
            <a:pPr marL="0" indent="0" algn="l">
              <a:lnSpc>
                <a:spcPts val="2150"/>
              </a:lnSpc>
              <a:buNone/>
            </a:pPr>
            <a:r>
              <a:rPr lang="en-US" sz="1700" b="1">
                <a:solidFill>
                  <a:srgbClr val="F0FCFF"/>
                </a:solidFill>
                <a:latin typeface="Spline Sans Bold" pitchFamily="34" charset="0"/>
                <a:ea typeface="Spline Sans Bold" pitchFamily="34" charset="-122"/>
                <a:cs typeface="Spline Sans Bold" pitchFamily="34" charset="-120"/>
              </a:rPr>
              <a:t>User Capabilities</a:t>
            </a:r>
            <a:endParaRPr lang="en-US" sz="1700"/>
          </a:p>
        </p:txBody>
      </p:sp>
      <p:sp>
        <p:nvSpPr>
          <p:cNvPr id="5" name="Text 3"/>
          <p:cNvSpPr/>
          <p:nvPr/>
        </p:nvSpPr>
        <p:spPr>
          <a:xfrm>
            <a:off x="798076" y="3360896"/>
            <a:ext cx="6273760" cy="319207"/>
          </a:xfrm>
          <a:prstGeom prst="rect">
            <a:avLst/>
          </a:prstGeom>
          <a:noFill/>
        </p:spPr>
        <p:txBody>
          <a:bodyPr wrap="non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Create and manage a </a:t>
            </a:r>
            <a:r>
              <a:rPr lang="en-US" sz="1550">
                <a:solidFill>
                  <a:srgbClr val="16FFBB"/>
                </a:solidFill>
                <a:latin typeface="Barlow" pitchFamily="34" charset="0"/>
                <a:ea typeface="Barlow" pitchFamily="34" charset="-122"/>
                <a:cs typeface="Barlow" pitchFamily="34" charset="-120"/>
              </a:rPr>
              <a:t>4 or 6-digit PIN</a:t>
            </a:r>
            <a:r>
              <a:rPr lang="en-US" sz="1550">
                <a:solidFill>
                  <a:srgbClr val="E0E4E6"/>
                </a:solidFill>
                <a:latin typeface="Barlow" pitchFamily="34" charset="0"/>
                <a:ea typeface="Barlow" pitchFamily="34" charset="-122"/>
                <a:cs typeface="Barlow" pitchFamily="34" charset="-120"/>
              </a:rPr>
              <a:t> for enhanced security.</a:t>
            </a:r>
            <a:endParaRPr lang="en-US" sz="1550"/>
          </a:p>
        </p:txBody>
      </p:sp>
      <p:sp>
        <p:nvSpPr>
          <p:cNvPr id="6" name="Text 4"/>
          <p:cNvSpPr/>
          <p:nvPr/>
        </p:nvSpPr>
        <p:spPr>
          <a:xfrm>
            <a:off x="798076" y="3749873"/>
            <a:ext cx="6273760" cy="638413"/>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Enable </a:t>
            </a:r>
            <a:r>
              <a:rPr lang="en-US" sz="1550">
                <a:solidFill>
                  <a:srgbClr val="16FFBB"/>
                </a:solidFill>
                <a:latin typeface="Barlow" pitchFamily="34" charset="0"/>
                <a:ea typeface="Barlow" pitchFamily="34" charset="-122"/>
                <a:cs typeface="Barlow" pitchFamily="34" charset="-120"/>
              </a:rPr>
              <a:t>biometric login</a:t>
            </a:r>
            <a:r>
              <a:rPr lang="en-US" sz="1550">
                <a:solidFill>
                  <a:srgbClr val="E0E4E6"/>
                </a:solidFill>
                <a:latin typeface="Barlow" pitchFamily="34" charset="0"/>
                <a:ea typeface="Barlow" pitchFamily="34" charset="-122"/>
                <a:cs typeface="Barlow" pitchFamily="34" charset="-120"/>
              </a:rPr>
              <a:t> (fingerprint/face recognition) for convenient and secure access.</a:t>
            </a:r>
            <a:endParaRPr lang="en-US" sz="1550"/>
          </a:p>
        </p:txBody>
      </p:sp>
      <p:sp>
        <p:nvSpPr>
          <p:cNvPr id="7" name="Text 5"/>
          <p:cNvSpPr/>
          <p:nvPr/>
        </p:nvSpPr>
        <p:spPr>
          <a:xfrm>
            <a:off x="798076" y="4458057"/>
            <a:ext cx="6273760" cy="638413"/>
          </a:xfrm>
          <a:prstGeom prst="rect">
            <a:avLst/>
          </a:prstGeom>
          <a:noFill/>
        </p:spPr>
        <p:txBody>
          <a:bodyPr wrap="square" lIns="0" tIns="0" rIns="0" bIns="0" rtlCol="0" anchor="t"/>
          <a:lstStyle/>
          <a:p>
            <a:pPr marL="342900" indent="-342900" algn="l">
              <a:lnSpc>
                <a:spcPts val="2500"/>
              </a:lnSpc>
              <a:buSzTx/>
              <a:buChar char="•"/>
            </a:pPr>
            <a:r>
              <a:rPr lang="en-US" sz="1550">
                <a:solidFill>
                  <a:srgbClr val="E0E4E6"/>
                </a:solidFill>
                <a:latin typeface="Barlow" pitchFamily="34" charset="0"/>
                <a:ea typeface="Barlow" pitchFamily="34" charset="-122"/>
                <a:cs typeface="Barlow" pitchFamily="34" charset="-120"/>
              </a:rPr>
              <a:t>Engage in real-time chat with message reactions, delivery markers, and the ability to star important messages.</a:t>
            </a:r>
            <a:endParaRPr lang="en-US" sz="1550"/>
          </a:p>
        </p:txBody>
      </p:sp>
      <p:sp>
        <p:nvSpPr>
          <p:cNvPr id="8" name="Text 6"/>
          <p:cNvSpPr/>
          <p:nvPr/>
        </p:nvSpPr>
        <p:spPr>
          <a:xfrm>
            <a:off x="798076" y="5166241"/>
            <a:ext cx="6273760" cy="638413"/>
          </a:xfrm>
          <a:prstGeom prst="rect">
            <a:avLst/>
          </a:prstGeom>
          <a:noFill/>
        </p:spPr>
        <p:txBody>
          <a:bodyPr wrap="square" lIns="0" tIns="0" rIns="0" bIns="0" rtlCol="0" anchor="t"/>
          <a:lstStyle/>
          <a:p>
            <a:pPr marL="342900" indent="-342900" algn="l">
              <a:lnSpc>
                <a:spcPts val="2500"/>
              </a:lnSpc>
              <a:buSzTx/>
              <a:buChar char="•"/>
            </a:pPr>
            <a:r>
              <a:rPr lang="en-US" sz="1550">
                <a:solidFill>
                  <a:srgbClr val="E0E4E6"/>
                </a:solidFill>
                <a:latin typeface="Barlow" pitchFamily="34" charset="0"/>
                <a:ea typeface="Barlow" pitchFamily="34" charset="-122"/>
                <a:cs typeface="Barlow" pitchFamily="34" charset="-120"/>
              </a:rPr>
              <a:t>Customise the app interface with personalised wallpapers and profile photos.</a:t>
            </a:r>
            <a:endParaRPr lang="en-US" sz="1550"/>
          </a:p>
        </p:txBody>
      </p:sp>
      <p:sp>
        <p:nvSpPr>
          <p:cNvPr id="9" name="Text 7"/>
          <p:cNvSpPr/>
          <p:nvPr/>
        </p:nvSpPr>
        <p:spPr>
          <a:xfrm>
            <a:off x="798076" y="5874425"/>
            <a:ext cx="6273760" cy="638413"/>
          </a:xfrm>
          <a:prstGeom prst="rect">
            <a:avLst/>
          </a:prstGeom>
          <a:noFill/>
        </p:spPr>
        <p:txBody>
          <a:bodyPr wrap="square" lIns="0" tIns="0" rIns="0" bIns="0" rtlCol="0" anchor="t"/>
          <a:lstStyle/>
          <a:p>
            <a:pPr marL="342900" indent="-342900" algn="l">
              <a:lnSpc>
                <a:spcPts val="2500"/>
              </a:lnSpc>
              <a:buSzTx/>
              <a:buChar char="•"/>
            </a:pPr>
            <a:r>
              <a:rPr lang="en-US" sz="1550">
                <a:solidFill>
                  <a:srgbClr val="E0E4E6"/>
                </a:solidFill>
                <a:latin typeface="Barlow" pitchFamily="34" charset="0"/>
                <a:ea typeface="Barlow" pitchFamily="34" charset="-122"/>
                <a:cs typeface="Barlow" pitchFamily="34" charset="-120"/>
              </a:rPr>
              <a:t>Submit direct feedback to administrators for continuous improvement.</a:t>
            </a:r>
            <a:endParaRPr lang="en-US" sz="1550"/>
          </a:p>
        </p:txBody>
      </p:sp>
      <p:sp>
        <p:nvSpPr>
          <p:cNvPr id="10" name="Text 8"/>
          <p:cNvSpPr/>
          <p:nvPr/>
        </p:nvSpPr>
        <p:spPr>
          <a:xfrm>
            <a:off x="798076" y="6582608"/>
            <a:ext cx="6273760" cy="319207"/>
          </a:xfrm>
          <a:prstGeom prst="rect">
            <a:avLst/>
          </a:prstGeom>
          <a:noFill/>
        </p:spPr>
        <p:txBody>
          <a:bodyPr wrap="none" lIns="0" tIns="0" rIns="0" bIns="0" rtlCol="0" anchor="t"/>
          <a:lstStyle/>
          <a:p>
            <a:pPr marL="342900" indent="-342900" algn="l">
              <a:lnSpc>
                <a:spcPts val="2500"/>
              </a:lnSpc>
              <a:buSzTx/>
              <a:buChar char="•"/>
            </a:pPr>
            <a:r>
              <a:rPr lang="en-US" sz="1550">
                <a:solidFill>
                  <a:srgbClr val="E0E4E6"/>
                </a:solidFill>
                <a:latin typeface="Barlow" pitchFamily="34" charset="0"/>
                <a:ea typeface="Barlow" pitchFamily="34" charset="-122"/>
                <a:cs typeface="Barlow" pitchFamily="34" charset="-120"/>
              </a:rPr>
              <a:t>Enjoy integrated mini-games, accessible even without logging in.</a:t>
            </a:r>
            <a:endParaRPr lang="en-US" sz="1550"/>
          </a:p>
        </p:txBody>
      </p:sp>
      <p:sp>
        <p:nvSpPr>
          <p:cNvPr id="11" name="Text 9"/>
          <p:cNvSpPr/>
          <p:nvPr/>
        </p:nvSpPr>
        <p:spPr>
          <a:xfrm>
            <a:off x="798076" y="6971586"/>
            <a:ext cx="6273760" cy="638413"/>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Securely store login credentials using </a:t>
            </a:r>
            <a:r>
              <a:rPr lang="en-US" sz="1550">
                <a:solidFill>
                  <a:srgbClr val="16FFBB"/>
                </a:solidFill>
                <a:latin typeface="Barlow" pitchFamily="34" charset="0"/>
                <a:ea typeface="Barlow" pitchFamily="34" charset="-122"/>
                <a:cs typeface="Barlow" pitchFamily="34" charset="-120"/>
              </a:rPr>
              <a:t>EncryptedSharedPreferences</a:t>
            </a:r>
            <a:r>
              <a:rPr lang="en-US" sz="1550">
                <a:solidFill>
                  <a:srgbClr val="E0E4E6"/>
                </a:solidFill>
                <a:latin typeface="Barlow" pitchFamily="34" charset="0"/>
                <a:ea typeface="Barlow" pitchFamily="34" charset="-122"/>
                <a:cs typeface="Barlow" pitchFamily="34" charset="-120"/>
              </a:rPr>
              <a:t> for data protection.</a:t>
            </a:r>
            <a:endParaRPr lang="en-US" sz="1550"/>
          </a:p>
        </p:txBody>
      </p:sp>
      <p:sp>
        <p:nvSpPr>
          <p:cNvPr id="12" name="Text 10"/>
          <p:cNvSpPr/>
          <p:nvPr/>
        </p:nvSpPr>
        <p:spPr>
          <a:xfrm>
            <a:off x="7566184" y="2884408"/>
            <a:ext cx="2531150" cy="277058"/>
          </a:xfrm>
          <a:prstGeom prst="rect">
            <a:avLst/>
          </a:prstGeom>
          <a:noFill/>
        </p:spPr>
        <p:txBody>
          <a:bodyPr wrap="none" lIns="0" tIns="0" rIns="0" bIns="0" rtlCol="0" anchor="t"/>
          <a:lstStyle/>
          <a:p>
            <a:pPr marL="0" indent="0" algn="l">
              <a:lnSpc>
                <a:spcPts val="2150"/>
              </a:lnSpc>
              <a:buNone/>
            </a:pPr>
            <a:r>
              <a:rPr lang="en-US" sz="1700" b="1">
                <a:solidFill>
                  <a:srgbClr val="F0FCFF"/>
                </a:solidFill>
                <a:latin typeface="Spline Sans Bold" pitchFamily="34" charset="0"/>
                <a:ea typeface="Spline Sans Bold" pitchFamily="34" charset="-122"/>
                <a:cs typeface="Spline Sans Bold" pitchFamily="34" charset="-120"/>
              </a:rPr>
              <a:t>Administrator Functions</a:t>
            </a:r>
            <a:endParaRPr lang="en-US" sz="1700"/>
          </a:p>
        </p:txBody>
      </p:sp>
      <p:sp>
        <p:nvSpPr>
          <p:cNvPr id="13" name="Text 11"/>
          <p:cNvSpPr/>
          <p:nvPr/>
        </p:nvSpPr>
        <p:spPr>
          <a:xfrm>
            <a:off x="7566184" y="3360896"/>
            <a:ext cx="6273760" cy="638413"/>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Implement </a:t>
            </a:r>
            <a:r>
              <a:rPr lang="en-US" sz="1550">
                <a:solidFill>
                  <a:srgbClr val="16FFBB"/>
                </a:solidFill>
                <a:latin typeface="Barlow" pitchFamily="34" charset="0"/>
                <a:ea typeface="Barlow" pitchFamily="34" charset="-122"/>
                <a:cs typeface="Barlow" pitchFamily="34" charset="-120"/>
              </a:rPr>
              <a:t>user banning or unbanning</a:t>
            </a:r>
            <a:r>
              <a:rPr lang="en-US" sz="1550">
                <a:solidFill>
                  <a:srgbClr val="E0E4E6"/>
                </a:solidFill>
                <a:latin typeface="Barlow" pitchFamily="34" charset="0"/>
                <a:ea typeface="Barlow" pitchFamily="34" charset="-122"/>
                <a:cs typeface="Barlow" pitchFamily="34" charset="-120"/>
              </a:rPr>
              <a:t> as required to maintain community standards.</a:t>
            </a:r>
            <a:endParaRPr lang="en-US" sz="1550"/>
          </a:p>
        </p:txBody>
      </p:sp>
      <p:sp>
        <p:nvSpPr>
          <p:cNvPr id="14" name="Text 12"/>
          <p:cNvSpPr/>
          <p:nvPr/>
        </p:nvSpPr>
        <p:spPr>
          <a:xfrm>
            <a:off x="7566184" y="4069080"/>
            <a:ext cx="6273760" cy="319207"/>
          </a:xfrm>
          <a:prstGeom prst="rect">
            <a:avLst/>
          </a:prstGeom>
          <a:noFill/>
        </p:spPr>
        <p:txBody>
          <a:bodyPr wrap="none" lIns="0" tIns="0" rIns="0" bIns="0" rtlCol="0" anchor="t"/>
          <a:lstStyle/>
          <a:p>
            <a:pPr marL="342900" indent="-342900" algn="l">
              <a:lnSpc>
                <a:spcPts val="2500"/>
              </a:lnSpc>
              <a:buSzTx/>
              <a:buChar char="•"/>
            </a:pPr>
            <a:r>
              <a:rPr lang="en-US" sz="1550">
                <a:solidFill>
                  <a:srgbClr val="E0E4E6"/>
                </a:solidFill>
                <a:latin typeface="Barlow" pitchFamily="34" charset="0"/>
                <a:ea typeface="Barlow" pitchFamily="34" charset="-122"/>
                <a:cs typeface="Barlow" pitchFamily="34" charset="-120"/>
              </a:rPr>
              <a:t>View, manage, and reply to all user feedback efficiently.</a:t>
            </a:r>
            <a:endParaRPr lang="en-US" sz="1550"/>
          </a:p>
        </p:txBody>
      </p:sp>
      <p:sp>
        <p:nvSpPr>
          <p:cNvPr id="15" name="Text 13"/>
          <p:cNvSpPr/>
          <p:nvPr/>
        </p:nvSpPr>
        <p:spPr>
          <a:xfrm>
            <a:off x="7566184" y="4458057"/>
            <a:ext cx="6273760" cy="638413"/>
          </a:xfrm>
          <a:prstGeom prst="rect">
            <a:avLst/>
          </a:prstGeom>
          <a:noFill/>
        </p:spPr>
        <p:txBody>
          <a:bodyPr wrap="square" lIns="0" tIns="0" rIns="0" bIns="0" rtlCol="0" anchor="t"/>
          <a:lstStyle/>
          <a:p>
            <a:pPr marL="342900" indent="-342900" algn="l">
              <a:lnSpc>
                <a:spcPts val="2500"/>
              </a:lnSpc>
              <a:buSzTx/>
              <a:buChar char="•"/>
            </a:pPr>
            <a:r>
              <a:rPr lang="en-US" sz="1550">
                <a:solidFill>
                  <a:srgbClr val="E0E4E6"/>
                </a:solidFill>
                <a:latin typeface="Barlow" pitchFamily="34" charset="0"/>
                <a:ea typeface="Barlow" pitchFamily="34" charset="-122"/>
                <a:cs typeface="Barlow" pitchFamily="34" charset="-120"/>
              </a:rPr>
              <a:t>Oversee and manage user accounts, including promotion to admin roles.</a:t>
            </a:r>
            <a:endParaRPr lang="en-US" sz="1550"/>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4">
    <p:spTree>
      <p:nvGrpSpPr>
        <p:cNvPr id="1" name=""/>
        <p:cNvGrpSpPr/>
        <p:nvPr/>
      </p:nvGrpSpPr>
      <p:grpSpPr>
        <a:xfrm>
          <a:off x="0" y="0"/>
          <a:ext cx="0" cy="0"/>
        </a:xfrm>
      </p:grpSpPr>
      <p:sp>
        <p:nvSpPr>
          <p:cNvPr id="2" name="Text 0"/>
          <p:cNvSpPr/>
          <p:nvPr/>
        </p:nvSpPr>
        <p:spPr>
          <a:xfrm>
            <a:off x="610314" y="661154"/>
            <a:ext cx="7774543" cy="423863"/>
          </a:xfrm>
          <a:prstGeom prst="rect">
            <a:avLst/>
          </a:prstGeom>
          <a:noFill/>
        </p:spPr>
        <p:txBody>
          <a:bodyPr wrap="none" lIns="0" tIns="0" rIns="0" bIns="0" rtlCol="0" anchor="t"/>
          <a:lstStyle/>
          <a:p>
            <a:pPr marL="0" indent="0" algn="l">
              <a:lnSpc>
                <a:spcPts val="3300"/>
              </a:lnSpc>
              <a:buNone/>
            </a:pPr>
            <a:r>
              <a:rPr lang="en-US" sz="2650" b="1">
                <a:solidFill>
                  <a:srgbClr val="F0FCFF"/>
                </a:solidFill>
                <a:latin typeface="Spline Sans Bold" pitchFamily="34" charset="0"/>
                <a:ea typeface="Spline Sans Bold" pitchFamily="34" charset="-122"/>
                <a:cs typeface="Spline Sans Bold" pitchFamily="34" charset="-120"/>
              </a:rPr>
              <a:t>Key Features: Enhancing the SafePlay Experience</a:t>
            </a:r>
            <a:endParaRPr lang="en-US" sz="2650"/>
          </a:p>
        </p:txBody>
      </p:sp>
      <p:sp>
        <p:nvSpPr>
          <p:cNvPr id="3" name="Text 1"/>
          <p:cNvSpPr/>
          <p:nvPr/>
        </p:nvSpPr>
        <p:spPr>
          <a:xfrm>
            <a:off x="610314" y="1390174"/>
            <a:ext cx="13409771" cy="244197"/>
          </a:xfrm>
          <a:prstGeom prst="rect">
            <a:avLst/>
          </a:prstGeom>
          <a:noFill/>
        </p:spPr>
        <p:txBody>
          <a:bodyPr wrap="non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SafePlay is built upon a foundation of essential features designed to provide a secure, engaging, and highly personalised communication environment.</a:t>
            </a:r>
            <a:endParaRPr lang="en-US" sz="1200"/>
          </a:p>
        </p:txBody>
      </p:sp>
      <p:sp>
        <p:nvSpPr>
          <p:cNvPr id="4" name="Shape 2"/>
          <p:cNvSpPr/>
          <p:nvPr/>
        </p:nvSpPr>
        <p:spPr>
          <a:xfrm>
            <a:off x="610314" y="1805940"/>
            <a:ext cx="4368165" cy="1737717"/>
          </a:xfrm>
          <a:prstGeom prst="roundRect">
            <a:avLst>
              <a:gd name="adj" fmla="val 13173"/>
            </a:avLst>
          </a:prstGeom>
          <a:solidFill>
            <a:srgbClr val="0A081B"/>
          </a:solidFill>
          <a:ln w="15240">
            <a:solidFill>
              <a:srgbClr val="16FFBB"/>
            </a:solidFill>
            <a:prstDash val="solid"/>
          </a:ln>
        </p:spPr>
        <p:txBody>
          <a:bodyPr/>
          <a:lstStyle/>
          <a:p/>
        </p:txBody>
      </p:sp>
      <p:sp>
        <p:nvSpPr>
          <p:cNvPr id="5" name="Shape 3"/>
          <p:cNvSpPr/>
          <p:nvPr/>
        </p:nvSpPr>
        <p:spPr>
          <a:xfrm>
            <a:off x="778073" y="1973699"/>
            <a:ext cx="457795" cy="457795"/>
          </a:xfrm>
          <a:prstGeom prst="roundRect">
            <a:avLst>
              <a:gd name="adj" fmla="val 19972008"/>
            </a:avLst>
          </a:prstGeom>
          <a:solidFill>
            <a:srgbClr val="16FFBB"/>
          </a:solidFill>
        </p:spPr>
        <p:txBody>
          <a:bodyPr/>
          <a:lstStyle/>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3923" y="2099548"/>
            <a:ext cx="205978" cy="205978"/>
          </a:xfrm>
          <a:prstGeom prst="rect">
            <a:avLst/>
          </a:prstGeom>
        </p:spPr>
      </p:pic>
      <p:sp>
        <p:nvSpPr>
          <p:cNvPr id="7" name="Text 4"/>
          <p:cNvSpPr/>
          <p:nvPr/>
        </p:nvSpPr>
        <p:spPr>
          <a:xfrm>
            <a:off x="778073" y="2584013"/>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User Authentication</a:t>
            </a:r>
            <a:endParaRPr lang="en-US" sz="1300"/>
          </a:p>
        </p:txBody>
      </p:sp>
      <p:sp>
        <p:nvSpPr>
          <p:cNvPr id="8" name="Text 5"/>
          <p:cNvSpPr/>
          <p:nvPr/>
        </p:nvSpPr>
        <p:spPr>
          <a:xfrm>
            <a:off x="778073" y="2887504"/>
            <a:ext cx="4032647" cy="488394"/>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Robust email and phone signup, OTP verification, email verification, and secure login processes.</a:t>
            </a:r>
            <a:endParaRPr lang="en-US" sz="1200"/>
          </a:p>
        </p:txBody>
      </p:sp>
      <p:sp>
        <p:nvSpPr>
          <p:cNvPr id="9" name="Shape 6"/>
          <p:cNvSpPr/>
          <p:nvPr/>
        </p:nvSpPr>
        <p:spPr>
          <a:xfrm>
            <a:off x="5130998" y="1805940"/>
            <a:ext cx="4368284" cy="1737717"/>
          </a:xfrm>
          <a:prstGeom prst="roundRect">
            <a:avLst>
              <a:gd name="adj" fmla="val 13173"/>
            </a:avLst>
          </a:prstGeom>
          <a:solidFill>
            <a:srgbClr val="0A081B"/>
          </a:solidFill>
          <a:ln w="15240">
            <a:solidFill>
              <a:srgbClr val="29DDDA"/>
            </a:solidFill>
            <a:prstDash val="solid"/>
          </a:ln>
        </p:spPr>
        <p:txBody>
          <a:bodyPr/>
          <a:lstStyle/>
          <a:p/>
        </p:txBody>
      </p:sp>
      <p:sp>
        <p:nvSpPr>
          <p:cNvPr id="10" name="Shape 7"/>
          <p:cNvSpPr/>
          <p:nvPr/>
        </p:nvSpPr>
        <p:spPr>
          <a:xfrm>
            <a:off x="5298757" y="1973699"/>
            <a:ext cx="457795" cy="457795"/>
          </a:xfrm>
          <a:prstGeom prst="roundRect">
            <a:avLst>
              <a:gd name="adj" fmla="val 19972008"/>
            </a:avLst>
          </a:prstGeom>
          <a:solidFill>
            <a:srgbClr val="29DDDA"/>
          </a:solidFill>
        </p:spPr>
        <p:txBody>
          <a:bodyPr/>
          <a:lstStyle/>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24607" y="2099548"/>
            <a:ext cx="205978" cy="205978"/>
          </a:xfrm>
          <a:prstGeom prst="rect">
            <a:avLst/>
          </a:prstGeom>
        </p:spPr>
      </p:pic>
      <p:sp>
        <p:nvSpPr>
          <p:cNvPr id="12" name="Text 8"/>
          <p:cNvSpPr/>
          <p:nvPr/>
        </p:nvSpPr>
        <p:spPr>
          <a:xfrm>
            <a:off x="5298757" y="2584013"/>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PIN System</a:t>
            </a:r>
            <a:endParaRPr lang="en-US" sz="1300"/>
          </a:p>
        </p:txBody>
      </p:sp>
      <p:sp>
        <p:nvSpPr>
          <p:cNvPr id="13" name="Text 9"/>
          <p:cNvSpPr/>
          <p:nvPr/>
        </p:nvSpPr>
        <p:spPr>
          <a:xfrm>
            <a:off x="5298757" y="2887504"/>
            <a:ext cx="4032766" cy="488394"/>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Secure creation of 4/6 digit PINs, easy PIN modification, and server-verified PIN checks for integrity.</a:t>
            </a:r>
            <a:endParaRPr lang="en-US" sz="1200"/>
          </a:p>
        </p:txBody>
      </p:sp>
      <p:sp>
        <p:nvSpPr>
          <p:cNvPr id="14" name="Shape 10"/>
          <p:cNvSpPr/>
          <p:nvPr/>
        </p:nvSpPr>
        <p:spPr>
          <a:xfrm>
            <a:off x="9651802" y="1805940"/>
            <a:ext cx="4368284" cy="1737717"/>
          </a:xfrm>
          <a:prstGeom prst="roundRect">
            <a:avLst>
              <a:gd name="adj" fmla="val 13173"/>
            </a:avLst>
          </a:prstGeom>
          <a:solidFill>
            <a:srgbClr val="0A081B"/>
          </a:solidFill>
          <a:ln w="15240">
            <a:solidFill>
              <a:srgbClr val="37A7E7"/>
            </a:solidFill>
            <a:prstDash val="solid"/>
          </a:ln>
        </p:spPr>
        <p:txBody>
          <a:bodyPr/>
          <a:lstStyle/>
          <a:p/>
        </p:txBody>
      </p:sp>
      <p:sp>
        <p:nvSpPr>
          <p:cNvPr id="15" name="Shape 11"/>
          <p:cNvSpPr/>
          <p:nvPr/>
        </p:nvSpPr>
        <p:spPr>
          <a:xfrm>
            <a:off x="9819561" y="1973699"/>
            <a:ext cx="457795" cy="457795"/>
          </a:xfrm>
          <a:prstGeom prst="roundRect">
            <a:avLst>
              <a:gd name="adj" fmla="val 19972008"/>
            </a:avLst>
          </a:prstGeom>
          <a:solidFill>
            <a:srgbClr val="37A7E7"/>
          </a:solidFill>
        </p:spPr>
        <p:txBody>
          <a:bodyPr/>
          <a:lstStyle/>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45410" y="2099548"/>
            <a:ext cx="205978" cy="205978"/>
          </a:xfrm>
          <a:prstGeom prst="rect">
            <a:avLst/>
          </a:prstGeom>
        </p:spPr>
      </p:pic>
      <p:sp>
        <p:nvSpPr>
          <p:cNvPr id="17" name="Text 12"/>
          <p:cNvSpPr/>
          <p:nvPr/>
        </p:nvSpPr>
        <p:spPr>
          <a:xfrm>
            <a:off x="9819561" y="2584013"/>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Biometric Login</a:t>
            </a:r>
            <a:endParaRPr lang="en-US" sz="1300"/>
          </a:p>
        </p:txBody>
      </p:sp>
      <p:sp>
        <p:nvSpPr>
          <p:cNvPr id="18" name="Text 13"/>
          <p:cNvSpPr/>
          <p:nvPr/>
        </p:nvSpPr>
        <p:spPr>
          <a:xfrm>
            <a:off x="9819561" y="2887504"/>
            <a:ext cx="4032766" cy="488394"/>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Automatic biometric popup and auto-disabling if device biometrics are removed, ensuring adaptive security.</a:t>
            </a:r>
            <a:endParaRPr lang="en-US" sz="1200"/>
          </a:p>
        </p:txBody>
      </p:sp>
      <p:sp>
        <p:nvSpPr>
          <p:cNvPr id="19" name="Shape 14"/>
          <p:cNvSpPr/>
          <p:nvPr/>
        </p:nvSpPr>
        <p:spPr>
          <a:xfrm>
            <a:off x="610314" y="3696176"/>
            <a:ext cx="4368165" cy="1981914"/>
          </a:xfrm>
          <a:prstGeom prst="roundRect">
            <a:avLst>
              <a:gd name="adj" fmla="val 11550"/>
            </a:avLst>
          </a:prstGeom>
          <a:solidFill>
            <a:srgbClr val="0A081B"/>
          </a:solidFill>
          <a:ln w="15240">
            <a:solidFill>
              <a:srgbClr val="091231"/>
            </a:solidFill>
            <a:prstDash val="solid"/>
          </a:ln>
        </p:spPr>
        <p:txBody>
          <a:bodyPr/>
          <a:lstStyle/>
          <a:p/>
        </p:txBody>
      </p:sp>
      <p:sp>
        <p:nvSpPr>
          <p:cNvPr id="20" name="Shape 15"/>
          <p:cNvSpPr/>
          <p:nvPr/>
        </p:nvSpPr>
        <p:spPr>
          <a:xfrm>
            <a:off x="778073" y="3863935"/>
            <a:ext cx="457795" cy="457795"/>
          </a:xfrm>
          <a:prstGeom prst="roundRect">
            <a:avLst>
              <a:gd name="adj" fmla="val 19972008"/>
            </a:avLst>
          </a:prstGeom>
          <a:solidFill>
            <a:srgbClr val="091231"/>
          </a:solidFill>
        </p:spPr>
        <p:txBody>
          <a:bodyPr/>
          <a:lstStyle/>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3923" y="3989784"/>
            <a:ext cx="205978" cy="205978"/>
          </a:xfrm>
          <a:prstGeom prst="rect">
            <a:avLst/>
          </a:prstGeom>
        </p:spPr>
      </p:pic>
      <p:sp>
        <p:nvSpPr>
          <p:cNvPr id="22" name="Text 16"/>
          <p:cNvSpPr/>
          <p:nvPr/>
        </p:nvSpPr>
        <p:spPr>
          <a:xfrm>
            <a:off x="778073" y="4474250"/>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Real-time Chat</a:t>
            </a:r>
            <a:endParaRPr lang="en-US" sz="1300"/>
          </a:p>
        </p:txBody>
      </p:sp>
      <p:sp>
        <p:nvSpPr>
          <p:cNvPr id="23" name="Text 17"/>
          <p:cNvSpPr/>
          <p:nvPr/>
        </p:nvSpPr>
        <p:spPr>
          <a:xfrm>
            <a:off x="778073" y="4777740"/>
            <a:ext cx="4032647" cy="732592"/>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Dynamic real-time chat with reactions, message editing/deletion, starring, and comprehensive delivery &amp; read receipts.</a:t>
            </a:r>
            <a:endParaRPr lang="en-US" sz="1200"/>
          </a:p>
        </p:txBody>
      </p:sp>
      <p:sp>
        <p:nvSpPr>
          <p:cNvPr id="24" name="Shape 18"/>
          <p:cNvSpPr/>
          <p:nvPr/>
        </p:nvSpPr>
        <p:spPr>
          <a:xfrm>
            <a:off x="5130998" y="3696176"/>
            <a:ext cx="4368284" cy="1981914"/>
          </a:xfrm>
          <a:prstGeom prst="roundRect">
            <a:avLst>
              <a:gd name="adj" fmla="val 11550"/>
            </a:avLst>
          </a:prstGeom>
          <a:solidFill>
            <a:srgbClr val="0A081B"/>
          </a:solidFill>
          <a:ln w="15240">
            <a:solidFill>
              <a:srgbClr val="16FFBB"/>
            </a:solidFill>
            <a:prstDash val="solid"/>
          </a:ln>
        </p:spPr>
        <p:txBody>
          <a:bodyPr/>
          <a:lstStyle/>
          <a:p/>
        </p:txBody>
      </p:sp>
      <p:sp>
        <p:nvSpPr>
          <p:cNvPr id="25" name="Shape 19"/>
          <p:cNvSpPr/>
          <p:nvPr/>
        </p:nvSpPr>
        <p:spPr>
          <a:xfrm>
            <a:off x="5298757" y="3863935"/>
            <a:ext cx="457795" cy="457795"/>
          </a:xfrm>
          <a:prstGeom prst="roundRect">
            <a:avLst>
              <a:gd name="adj" fmla="val 19972008"/>
            </a:avLst>
          </a:prstGeom>
          <a:solidFill>
            <a:srgbClr val="16FFBB"/>
          </a:solidFill>
        </p:spPr>
        <p:txBody>
          <a:bodyPr/>
          <a:lstStyle/>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24607" y="3989784"/>
            <a:ext cx="205978" cy="205978"/>
          </a:xfrm>
          <a:prstGeom prst="rect">
            <a:avLst/>
          </a:prstGeom>
        </p:spPr>
      </p:pic>
      <p:sp>
        <p:nvSpPr>
          <p:cNvPr id="27" name="Text 20"/>
          <p:cNvSpPr/>
          <p:nvPr/>
        </p:nvSpPr>
        <p:spPr>
          <a:xfrm>
            <a:off x="5298757" y="4474250"/>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User Dashboard</a:t>
            </a:r>
            <a:endParaRPr lang="en-US" sz="1300"/>
          </a:p>
        </p:txBody>
      </p:sp>
      <p:sp>
        <p:nvSpPr>
          <p:cNvPr id="28" name="Text 21"/>
          <p:cNvSpPr/>
          <p:nvPr/>
        </p:nvSpPr>
        <p:spPr>
          <a:xfrm>
            <a:off x="5298757" y="4777740"/>
            <a:ext cx="4032766" cy="488394"/>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Centralised view of chats, user search functionality, conversation glow effects, and the ability to remove chats.</a:t>
            </a:r>
            <a:endParaRPr lang="en-US" sz="1200"/>
          </a:p>
        </p:txBody>
      </p:sp>
      <p:sp>
        <p:nvSpPr>
          <p:cNvPr id="29" name="Shape 22"/>
          <p:cNvSpPr/>
          <p:nvPr/>
        </p:nvSpPr>
        <p:spPr>
          <a:xfrm>
            <a:off x="9651802" y="3696176"/>
            <a:ext cx="4368284" cy="1981914"/>
          </a:xfrm>
          <a:prstGeom prst="roundRect">
            <a:avLst>
              <a:gd name="adj" fmla="val 11550"/>
            </a:avLst>
          </a:prstGeom>
          <a:solidFill>
            <a:srgbClr val="0A081B"/>
          </a:solidFill>
          <a:ln w="15240">
            <a:solidFill>
              <a:srgbClr val="29DDDA"/>
            </a:solidFill>
            <a:prstDash val="solid"/>
          </a:ln>
        </p:spPr>
        <p:txBody>
          <a:bodyPr/>
          <a:lstStyle/>
          <a:p/>
        </p:txBody>
      </p:sp>
      <p:sp>
        <p:nvSpPr>
          <p:cNvPr id="30" name="Shape 23"/>
          <p:cNvSpPr/>
          <p:nvPr/>
        </p:nvSpPr>
        <p:spPr>
          <a:xfrm>
            <a:off x="9819561" y="3863935"/>
            <a:ext cx="457795" cy="457795"/>
          </a:xfrm>
          <a:prstGeom prst="roundRect">
            <a:avLst>
              <a:gd name="adj" fmla="val 19972008"/>
            </a:avLst>
          </a:prstGeom>
          <a:solidFill>
            <a:srgbClr val="29DDDA"/>
          </a:solidFill>
        </p:spPr>
        <p:txBody>
          <a:bodyPr/>
          <a:lstStyle/>
          <a:p/>
        </p:txBody>
      </p:sp>
      <p:pic>
        <p:nvPicPr>
          <p:cNvPr id="3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945410" y="3989784"/>
            <a:ext cx="205978" cy="205978"/>
          </a:xfrm>
          <a:prstGeom prst="rect">
            <a:avLst/>
          </a:prstGeom>
        </p:spPr>
      </p:pic>
      <p:sp>
        <p:nvSpPr>
          <p:cNvPr id="32" name="Text 24"/>
          <p:cNvSpPr/>
          <p:nvPr/>
        </p:nvSpPr>
        <p:spPr>
          <a:xfrm>
            <a:off x="9819561" y="4474250"/>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Admin Panel</a:t>
            </a:r>
            <a:endParaRPr lang="en-US" sz="1300"/>
          </a:p>
        </p:txBody>
      </p:sp>
      <p:sp>
        <p:nvSpPr>
          <p:cNvPr id="33" name="Text 25"/>
          <p:cNvSpPr/>
          <p:nvPr/>
        </p:nvSpPr>
        <p:spPr>
          <a:xfrm>
            <a:off x="9819561" y="4777740"/>
            <a:ext cx="4032766" cy="732592"/>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Tools to ban/unban users, mark feedback as read, and promote users to administrative roles, maintaining platform integrity.</a:t>
            </a:r>
            <a:endParaRPr lang="en-US" sz="1200"/>
          </a:p>
        </p:txBody>
      </p:sp>
      <p:sp>
        <p:nvSpPr>
          <p:cNvPr id="34" name="Shape 26"/>
          <p:cNvSpPr/>
          <p:nvPr/>
        </p:nvSpPr>
        <p:spPr>
          <a:xfrm>
            <a:off x="610314" y="5830610"/>
            <a:ext cx="4368165" cy="1737717"/>
          </a:xfrm>
          <a:prstGeom prst="roundRect">
            <a:avLst>
              <a:gd name="adj" fmla="val 13173"/>
            </a:avLst>
          </a:prstGeom>
          <a:solidFill>
            <a:srgbClr val="0A081B"/>
          </a:solidFill>
          <a:ln w="15240">
            <a:solidFill>
              <a:srgbClr val="37A7E7"/>
            </a:solidFill>
            <a:prstDash val="solid"/>
          </a:ln>
        </p:spPr>
        <p:txBody>
          <a:bodyPr/>
          <a:lstStyle/>
          <a:p/>
        </p:txBody>
      </p:sp>
      <p:sp>
        <p:nvSpPr>
          <p:cNvPr id="35" name="Shape 27"/>
          <p:cNvSpPr/>
          <p:nvPr/>
        </p:nvSpPr>
        <p:spPr>
          <a:xfrm>
            <a:off x="778073" y="5998369"/>
            <a:ext cx="457795" cy="457795"/>
          </a:xfrm>
          <a:prstGeom prst="roundRect">
            <a:avLst>
              <a:gd name="adj" fmla="val 19972008"/>
            </a:avLst>
          </a:prstGeom>
          <a:solidFill>
            <a:srgbClr val="37A7E7"/>
          </a:solidFill>
        </p:spPr>
        <p:txBody>
          <a:bodyPr/>
          <a:lstStyle/>
          <a:p/>
        </p:txBody>
      </p:sp>
      <p:pic>
        <p:nvPicPr>
          <p:cNvPr id="36"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3923" y="6124218"/>
            <a:ext cx="205978" cy="205978"/>
          </a:xfrm>
          <a:prstGeom prst="rect">
            <a:avLst/>
          </a:prstGeom>
        </p:spPr>
      </p:pic>
      <p:sp>
        <p:nvSpPr>
          <p:cNvPr id="37" name="Text 28"/>
          <p:cNvSpPr/>
          <p:nvPr/>
        </p:nvSpPr>
        <p:spPr>
          <a:xfrm>
            <a:off x="778073" y="6608683"/>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Personalisation</a:t>
            </a:r>
            <a:endParaRPr lang="en-US" sz="1300"/>
          </a:p>
        </p:txBody>
      </p:sp>
      <p:sp>
        <p:nvSpPr>
          <p:cNvPr id="38" name="Text 29"/>
          <p:cNvSpPr/>
          <p:nvPr/>
        </p:nvSpPr>
        <p:spPr>
          <a:xfrm>
            <a:off x="778073" y="6912173"/>
            <a:ext cx="4032647" cy="488394"/>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Extensive options including wallpaper and profile photo uploads, customisable display names, and 'about' sections.</a:t>
            </a:r>
            <a:endParaRPr lang="en-US" sz="1200"/>
          </a:p>
        </p:txBody>
      </p:sp>
      <p:sp>
        <p:nvSpPr>
          <p:cNvPr id="39" name="Shape 30"/>
          <p:cNvSpPr/>
          <p:nvPr/>
        </p:nvSpPr>
        <p:spPr>
          <a:xfrm>
            <a:off x="5130998" y="5830610"/>
            <a:ext cx="4368284" cy="1737717"/>
          </a:xfrm>
          <a:prstGeom prst="roundRect">
            <a:avLst>
              <a:gd name="adj" fmla="val 13173"/>
            </a:avLst>
          </a:prstGeom>
          <a:solidFill>
            <a:srgbClr val="0A081B"/>
          </a:solidFill>
          <a:ln w="15240">
            <a:solidFill>
              <a:srgbClr val="091231"/>
            </a:solidFill>
            <a:prstDash val="solid"/>
          </a:ln>
        </p:spPr>
        <p:txBody>
          <a:bodyPr/>
          <a:lstStyle/>
          <a:p/>
        </p:txBody>
      </p:sp>
      <p:sp>
        <p:nvSpPr>
          <p:cNvPr id="40" name="Shape 31"/>
          <p:cNvSpPr/>
          <p:nvPr/>
        </p:nvSpPr>
        <p:spPr>
          <a:xfrm>
            <a:off x="5298757" y="5998369"/>
            <a:ext cx="457795" cy="457795"/>
          </a:xfrm>
          <a:prstGeom prst="roundRect">
            <a:avLst>
              <a:gd name="adj" fmla="val 19972008"/>
            </a:avLst>
          </a:prstGeom>
          <a:solidFill>
            <a:srgbClr val="091231"/>
          </a:solidFill>
        </p:spPr>
        <p:txBody>
          <a:bodyPr/>
          <a:lstStyle/>
          <a:p/>
        </p:txBody>
      </p:sp>
      <p:pic>
        <p:nvPicPr>
          <p:cNvPr id="41"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24607" y="6124218"/>
            <a:ext cx="205978" cy="205978"/>
          </a:xfrm>
          <a:prstGeom prst="rect">
            <a:avLst/>
          </a:prstGeom>
        </p:spPr>
      </p:pic>
      <p:sp>
        <p:nvSpPr>
          <p:cNvPr id="42" name="Text 32"/>
          <p:cNvSpPr/>
          <p:nvPr/>
        </p:nvSpPr>
        <p:spPr>
          <a:xfrm>
            <a:off x="5298757" y="6608683"/>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Feedback System</a:t>
            </a:r>
            <a:endParaRPr lang="en-US" sz="1300"/>
          </a:p>
        </p:txBody>
      </p:sp>
      <p:sp>
        <p:nvSpPr>
          <p:cNvPr id="43" name="Text 33"/>
          <p:cNvSpPr/>
          <p:nvPr/>
        </p:nvSpPr>
        <p:spPr>
          <a:xfrm>
            <a:off x="5298757" y="6912173"/>
            <a:ext cx="4032766" cy="488394"/>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Dedicated system for users to submit feedback, with clear pathways for admins to read and reply.</a:t>
            </a:r>
            <a:endParaRPr lang="en-US" sz="1200"/>
          </a:p>
        </p:txBody>
      </p:sp>
      <p:sp>
        <p:nvSpPr>
          <p:cNvPr id="44" name="Shape 34"/>
          <p:cNvSpPr/>
          <p:nvPr/>
        </p:nvSpPr>
        <p:spPr>
          <a:xfrm>
            <a:off x="9651802" y="5830610"/>
            <a:ext cx="4368284" cy="1737717"/>
          </a:xfrm>
          <a:prstGeom prst="roundRect">
            <a:avLst>
              <a:gd name="adj" fmla="val 13173"/>
            </a:avLst>
          </a:prstGeom>
          <a:solidFill>
            <a:srgbClr val="0A081B"/>
          </a:solidFill>
          <a:ln w="15240">
            <a:solidFill>
              <a:srgbClr val="16FFBB"/>
            </a:solidFill>
            <a:prstDash val="solid"/>
          </a:ln>
        </p:spPr>
        <p:txBody>
          <a:bodyPr/>
          <a:lstStyle/>
          <a:p/>
        </p:txBody>
      </p:sp>
      <p:sp>
        <p:nvSpPr>
          <p:cNvPr id="45" name="Shape 35"/>
          <p:cNvSpPr/>
          <p:nvPr/>
        </p:nvSpPr>
        <p:spPr>
          <a:xfrm>
            <a:off x="9819561" y="5998369"/>
            <a:ext cx="457795" cy="457795"/>
          </a:xfrm>
          <a:prstGeom prst="roundRect">
            <a:avLst>
              <a:gd name="adj" fmla="val 19972008"/>
            </a:avLst>
          </a:prstGeom>
          <a:solidFill>
            <a:srgbClr val="16FFBB"/>
          </a:solidFill>
        </p:spPr>
        <p:txBody>
          <a:bodyPr/>
          <a:lstStyle/>
          <a:p/>
        </p:txBody>
      </p:sp>
      <p:pic>
        <p:nvPicPr>
          <p:cNvPr id="46" name="Image 8"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945410" y="6124218"/>
            <a:ext cx="205978" cy="205978"/>
          </a:xfrm>
          <a:prstGeom prst="rect">
            <a:avLst/>
          </a:prstGeom>
        </p:spPr>
      </p:pic>
      <p:sp>
        <p:nvSpPr>
          <p:cNvPr id="47" name="Text 36"/>
          <p:cNvSpPr/>
          <p:nvPr/>
        </p:nvSpPr>
        <p:spPr>
          <a:xfrm>
            <a:off x="9819561" y="6608683"/>
            <a:ext cx="1695569" cy="211931"/>
          </a:xfrm>
          <a:prstGeom prst="rect">
            <a:avLst/>
          </a:prstGeom>
          <a:noFill/>
        </p:spPr>
        <p:txBody>
          <a:bodyPr wrap="none" lIns="0" tIns="0" rIns="0" bIns="0" rtlCol="0" anchor="t"/>
          <a:lstStyle/>
          <a:p>
            <a:pPr marL="0" indent="0" algn="l">
              <a:lnSpc>
                <a:spcPts val="1650"/>
              </a:lnSpc>
              <a:buNone/>
            </a:pPr>
            <a:r>
              <a:rPr lang="en-US" sz="1300" b="1">
                <a:solidFill>
                  <a:srgbClr val="E0E4E6"/>
                </a:solidFill>
                <a:latin typeface="Spline Sans Bold" pitchFamily="34" charset="0"/>
                <a:ea typeface="Spline Sans Bold" pitchFamily="34" charset="-122"/>
                <a:cs typeface="Spline Sans Bold" pitchFamily="34" charset="-120"/>
              </a:rPr>
              <a:t>Mini Games</a:t>
            </a:r>
            <a:endParaRPr lang="en-US" sz="1300"/>
          </a:p>
        </p:txBody>
      </p:sp>
      <p:sp>
        <p:nvSpPr>
          <p:cNvPr id="48" name="Text 37"/>
          <p:cNvSpPr/>
          <p:nvPr/>
        </p:nvSpPr>
        <p:spPr>
          <a:xfrm>
            <a:off x="9819561" y="6912173"/>
            <a:ext cx="4032766" cy="488394"/>
          </a:xfrm>
          <a:prstGeom prst="rect">
            <a:avLst/>
          </a:prstGeom>
          <a:noFill/>
        </p:spPr>
        <p:txBody>
          <a:bodyPr wrap="square" lIns="0" tIns="0" rIns="0" bIns="0" rtlCol="0" anchor="t"/>
          <a:lstStyle/>
          <a:p>
            <a:pPr marL="0" indent="0" algn="l">
              <a:lnSpc>
                <a:spcPts val="1900"/>
              </a:lnSpc>
              <a:buNone/>
            </a:pPr>
            <a:r>
              <a:rPr lang="en-US" sz="1200">
                <a:solidFill>
                  <a:srgbClr val="E0E4E6"/>
                </a:solidFill>
                <a:latin typeface="Barlow" pitchFamily="34" charset="0"/>
                <a:ea typeface="Barlow" pitchFamily="34" charset="-122"/>
                <a:cs typeface="Barlow" pitchFamily="34" charset="-120"/>
              </a:rPr>
              <a:t>Collection of small, engaging offline games, accessible even without requiring user login for casual entertainment.</a:t>
            </a:r>
            <a:endParaRPr lang="en-US" sz="1200"/>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5">
    <p:spTree>
      <p:nvGrpSpPr>
        <p:cNvPr id="1" name=""/>
        <p:cNvGrpSpPr/>
        <p:nvPr/>
      </p:nvGrpSpPr>
      <p:grpSpPr>
        <a:xfrm>
          <a:off x="0" y="0"/>
          <a:ext cx="0" cy="0"/>
        </a:xfrm>
      </p:grpSpPr>
      <p:sp>
        <p:nvSpPr>
          <p:cNvPr id="2" name="Text 0"/>
          <p:cNvSpPr/>
          <p:nvPr/>
        </p:nvSpPr>
        <p:spPr>
          <a:xfrm>
            <a:off x="760571" y="636389"/>
            <a:ext cx="7801808" cy="528161"/>
          </a:xfrm>
          <a:prstGeom prst="rect">
            <a:avLst/>
          </a:prstGeom>
          <a:noFill/>
        </p:spPr>
        <p:txBody>
          <a:bodyPr wrap="none" lIns="0" tIns="0" rIns="0" bIns="0" rtlCol="0" anchor="t"/>
          <a:lstStyle/>
          <a:p>
            <a:pPr marL="0" indent="0" algn="l">
              <a:lnSpc>
                <a:spcPts val="4150"/>
              </a:lnSpc>
              <a:buNone/>
            </a:pPr>
            <a:r>
              <a:rPr lang="en-US" sz="3300" b="1">
                <a:solidFill>
                  <a:srgbClr val="F0FCFF"/>
                </a:solidFill>
                <a:latin typeface="Spline Sans Bold" pitchFamily="34" charset="0"/>
                <a:ea typeface="Spline Sans Bold" pitchFamily="34" charset="-122"/>
                <a:cs typeface="Spline Sans Bold" pitchFamily="34" charset="-120"/>
              </a:rPr>
              <a:t>Current Limitations and Considerations</a:t>
            </a:r>
            <a:endParaRPr lang="en-US" sz="3300"/>
          </a:p>
        </p:txBody>
      </p:sp>
      <p:sp>
        <p:nvSpPr>
          <p:cNvPr id="3" name="Text 1"/>
          <p:cNvSpPr/>
          <p:nvPr/>
        </p:nvSpPr>
        <p:spPr>
          <a:xfrm>
            <a:off x="760571" y="1544836"/>
            <a:ext cx="13109259" cy="304205"/>
          </a:xfrm>
          <a:prstGeom prst="rect">
            <a:avLst/>
          </a:prstGeom>
          <a:noFill/>
        </p:spPr>
        <p:txBody>
          <a:bodyPr wrap="none" lIns="0" tIns="0" rIns="0" bIns="0" rtlCol="0" anchor="t"/>
          <a:lstStyle/>
          <a:p>
            <a:pPr marL="0" indent="0" algn="l">
              <a:lnSpc>
                <a:spcPts val="2350"/>
              </a:lnSpc>
              <a:buNone/>
            </a:pPr>
            <a:r>
              <a:rPr lang="en-US" sz="1450">
                <a:solidFill>
                  <a:srgbClr val="E0E4E6"/>
                </a:solidFill>
                <a:latin typeface="Barlow" pitchFamily="34" charset="0"/>
                <a:ea typeface="Barlow" pitchFamily="34" charset="-122"/>
                <a:cs typeface="Barlow" pitchFamily="34" charset="-120"/>
              </a:rPr>
              <a:t>While SafePlay offers a robust feature set, it is important to acknowledge certain current limitations that shape its functionality and user experience.</a:t>
            </a:r>
            <a:endParaRPr lang="en-US" sz="1450"/>
          </a:p>
        </p:txBody>
      </p:sp>
      <p:sp>
        <p:nvSpPr>
          <p:cNvPr id="4" name="Shape 2"/>
          <p:cNvSpPr/>
          <p:nvPr/>
        </p:nvSpPr>
        <p:spPr>
          <a:xfrm>
            <a:off x="760571" y="2062877"/>
            <a:ext cx="6459498" cy="1716643"/>
          </a:xfrm>
          <a:prstGeom prst="roundRect">
            <a:avLst>
              <a:gd name="adj" fmla="val 6392"/>
            </a:avLst>
          </a:prstGeom>
          <a:solidFill>
            <a:srgbClr val="0A081B">
              <a:alpha val="75000"/>
            </a:srgbClr>
          </a:solidFill>
          <a:ln w="22860">
            <a:solidFill>
              <a:srgbClr val="16FFBB"/>
            </a:solidFill>
            <a:prstDash val="solid"/>
          </a:ln>
        </p:spPr>
        <p:txBody>
          <a:bodyPr/>
          <a:lstStyle/>
          <a:p/>
        </p:txBody>
      </p:sp>
      <p:sp>
        <p:nvSpPr>
          <p:cNvPr id="5" name="Shape 3"/>
          <p:cNvSpPr/>
          <p:nvPr/>
        </p:nvSpPr>
        <p:spPr>
          <a:xfrm>
            <a:off x="737711" y="2062877"/>
            <a:ext cx="91440" cy="1716643"/>
          </a:xfrm>
          <a:prstGeom prst="roundRect">
            <a:avLst>
              <a:gd name="adj" fmla="val 311917"/>
            </a:avLst>
          </a:prstGeom>
          <a:solidFill>
            <a:srgbClr val="16FFBB"/>
          </a:solidFill>
        </p:spPr>
        <p:txBody>
          <a:bodyPr/>
          <a:lstStyle/>
          <a:p/>
        </p:txBody>
      </p:sp>
      <p:sp>
        <p:nvSpPr>
          <p:cNvPr id="6" name="Text 4"/>
          <p:cNvSpPr/>
          <p:nvPr/>
        </p:nvSpPr>
        <p:spPr>
          <a:xfrm>
            <a:off x="1042154" y="2275880"/>
            <a:ext cx="3062287" cy="263962"/>
          </a:xfrm>
          <a:prstGeom prst="rect">
            <a:avLst/>
          </a:prstGeom>
          <a:noFill/>
        </p:spPr>
        <p:txBody>
          <a:bodyPr wrap="none" lIns="0" tIns="0" rIns="0" bIns="0" rtlCol="0" anchor="t"/>
          <a:lstStyle/>
          <a:p>
            <a:pPr marL="0" indent="0" algn="l">
              <a:lnSpc>
                <a:spcPts val="2050"/>
              </a:lnSpc>
              <a:buNone/>
            </a:pPr>
            <a:r>
              <a:rPr lang="en-US" sz="1650" b="1">
                <a:solidFill>
                  <a:srgbClr val="E0E4E6"/>
                </a:solidFill>
                <a:latin typeface="Spline Sans Bold" pitchFamily="34" charset="0"/>
                <a:ea typeface="Spline Sans Bold" pitchFamily="34" charset="-122"/>
                <a:cs typeface="Spline Sans Bold" pitchFamily="34" charset="-120"/>
              </a:rPr>
              <a:t>Internet Connectivity Required</a:t>
            </a:r>
            <a:endParaRPr lang="en-US" sz="1650"/>
          </a:p>
        </p:txBody>
      </p:sp>
      <p:sp>
        <p:nvSpPr>
          <p:cNvPr id="7" name="Text 5"/>
          <p:cNvSpPr/>
          <p:nvPr/>
        </p:nvSpPr>
        <p:spPr>
          <a:xfrm>
            <a:off x="1042154" y="2653903"/>
            <a:ext cx="5964912" cy="912614"/>
          </a:xfrm>
          <a:prstGeom prst="rect">
            <a:avLst/>
          </a:prstGeom>
          <a:noFill/>
        </p:spPr>
        <p:txBody>
          <a:bodyPr wrap="square" lIns="0" tIns="0" rIns="0" bIns="0" rtlCol="0" anchor="t"/>
          <a:lstStyle/>
          <a:p>
            <a:pPr marL="0" indent="0" algn="l">
              <a:lnSpc>
                <a:spcPts val="2350"/>
              </a:lnSpc>
              <a:buNone/>
            </a:pPr>
            <a:r>
              <a:rPr lang="en-US" sz="1450">
                <a:solidFill>
                  <a:srgbClr val="E0E4E6"/>
                </a:solidFill>
                <a:latin typeface="Barlow" pitchFamily="34" charset="0"/>
                <a:ea typeface="Barlow" pitchFamily="34" charset="-122"/>
                <a:cs typeface="Barlow" pitchFamily="34" charset="-120"/>
              </a:rPr>
              <a:t>The majority of SafePlay’s features are deeply integrated with Firebase services, necessitating a stable and active internet connection for full functionality. Offline capabilities are limited.</a:t>
            </a:r>
            <a:endParaRPr lang="en-US" sz="1450"/>
          </a:p>
        </p:txBody>
      </p:sp>
      <p:sp>
        <p:nvSpPr>
          <p:cNvPr id="8" name="Shape 6"/>
          <p:cNvSpPr/>
          <p:nvPr/>
        </p:nvSpPr>
        <p:spPr>
          <a:xfrm>
            <a:off x="7410212" y="2062877"/>
            <a:ext cx="6459617" cy="1716643"/>
          </a:xfrm>
          <a:prstGeom prst="roundRect">
            <a:avLst>
              <a:gd name="adj" fmla="val 6392"/>
            </a:avLst>
          </a:prstGeom>
          <a:solidFill>
            <a:srgbClr val="0A081B">
              <a:alpha val="75000"/>
            </a:srgbClr>
          </a:solidFill>
          <a:ln w="22860">
            <a:solidFill>
              <a:srgbClr val="29DDDA"/>
            </a:solidFill>
            <a:prstDash val="solid"/>
          </a:ln>
        </p:spPr>
        <p:txBody>
          <a:bodyPr/>
          <a:lstStyle/>
          <a:p/>
        </p:txBody>
      </p:sp>
      <p:sp>
        <p:nvSpPr>
          <p:cNvPr id="9" name="Shape 7"/>
          <p:cNvSpPr/>
          <p:nvPr/>
        </p:nvSpPr>
        <p:spPr>
          <a:xfrm>
            <a:off x="7387352" y="2062877"/>
            <a:ext cx="91440" cy="1716643"/>
          </a:xfrm>
          <a:prstGeom prst="roundRect">
            <a:avLst>
              <a:gd name="adj" fmla="val 311917"/>
            </a:avLst>
          </a:prstGeom>
          <a:solidFill>
            <a:srgbClr val="29DDDA"/>
          </a:solidFill>
        </p:spPr>
        <p:txBody>
          <a:bodyPr/>
          <a:lstStyle/>
          <a:p/>
        </p:txBody>
      </p:sp>
      <p:sp>
        <p:nvSpPr>
          <p:cNvPr id="10" name="Text 8"/>
          <p:cNvSpPr/>
          <p:nvPr/>
        </p:nvSpPr>
        <p:spPr>
          <a:xfrm>
            <a:off x="7691795" y="2275880"/>
            <a:ext cx="2253496" cy="263962"/>
          </a:xfrm>
          <a:prstGeom prst="rect">
            <a:avLst/>
          </a:prstGeom>
          <a:noFill/>
        </p:spPr>
        <p:txBody>
          <a:bodyPr wrap="none" lIns="0" tIns="0" rIns="0" bIns="0" rtlCol="0" anchor="t"/>
          <a:lstStyle/>
          <a:p>
            <a:pPr marL="0" indent="0" algn="l">
              <a:lnSpc>
                <a:spcPts val="2050"/>
              </a:lnSpc>
              <a:buNone/>
            </a:pPr>
            <a:r>
              <a:rPr lang="en-US" sz="1650" b="1">
                <a:solidFill>
                  <a:srgbClr val="E0E4E6"/>
                </a:solidFill>
                <a:latin typeface="Spline Sans Bold" pitchFamily="34" charset="0"/>
                <a:ea typeface="Spline Sans Bold" pitchFamily="34" charset="-122"/>
                <a:cs typeface="Spline Sans Bold" pitchFamily="34" charset="-120"/>
              </a:rPr>
              <a:t>Android-Only Platform</a:t>
            </a:r>
            <a:endParaRPr lang="en-US" sz="1650"/>
          </a:p>
        </p:txBody>
      </p:sp>
      <p:sp>
        <p:nvSpPr>
          <p:cNvPr id="11" name="Text 9"/>
          <p:cNvSpPr/>
          <p:nvPr/>
        </p:nvSpPr>
        <p:spPr>
          <a:xfrm>
            <a:off x="7691795" y="2653903"/>
            <a:ext cx="5965031" cy="608409"/>
          </a:xfrm>
          <a:prstGeom prst="rect">
            <a:avLst/>
          </a:prstGeom>
          <a:noFill/>
        </p:spPr>
        <p:txBody>
          <a:bodyPr wrap="square" lIns="0" tIns="0" rIns="0" bIns="0" rtlCol="0" anchor="t"/>
          <a:lstStyle/>
          <a:p>
            <a:pPr marL="0" indent="0" algn="l">
              <a:lnSpc>
                <a:spcPts val="2350"/>
              </a:lnSpc>
              <a:buNone/>
            </a:pPr>
            <a:r>
              <a:rPr lang="en-US" sz="1450">
                <a:solidFill>
                  <a:srgbClr val="E0E4E6"/>
                </a:solidFill>
                <a:latin typeface="Barlow" pitchFamily="34" charset="0"/>
                <a:ea typeface="Barlow" pitchFamily="34" charset="-122"/>
                <a:cs typeface="Barlow" pitchFamily="34" charset="-120"/>
              </a:rPr>
              <a:t>Currently, SafePlay is exclusively available on Android devices, limiting its reach to users on other mobile operating systems.</a:t>
            </a:r>
            <a:endParaRPr lang="en-US" sz="1450"/>
          </a:p>
        </p:txBody>
      </p:sp>
      <p:sp>
        <p:nvSpPr>
          <p:cNvPr id="12" name="Shape 10"/>
          <p:cNvSpPr/>
          <p:nvPr/>
        </p:nvSpPr>
        <p:spPr>
          <a:xfrm>
            <a:off x="760571" y="3969663"/>
            <a:ext cx="6459498" cy="1716643"/>
          </a:xfrm>
          <a:prstGeom prst="roundRect">
            <a:avLst>
              <a:gd name="adj" fmla="val 6392"/>
            </a:avLst>
          </a:prstGeom>
          <a:solidFill>
            <a:srgbClr val="0A081B">
              <a:alpha val="75000"/>
            </a:srgbClr>
          </a:solidFill>
          <a:ln w="22860">
            <a:solidFill>
              <a:srgbClr val="37A7E7"/>
            </a:solidFill>
            <a:prstDash val="solid"/>
          </a:ln>
        </p:spPr>
        <p:txBody>
          <a:bodyPr/>
          <a:lstStyle/>
          <a:p/>
        </p:txBody>
      </p:sp>
      <p:sp>
        <p:nvSpPr>
          <p:cNvPr id="13" name="Shape 11"/>
          <p:cNvSpPr/>
          <p:nvPr/>
        </p:nvSpPr>
        <p:spPr>
          <a:xfrm>
            <a:off x="737711" y="3969663"/>
            <a:ext cx="91440" cy="1716643"/>
          </a:xfrm>
          <a:prstGeom prst="roundRect">
            <a:avLst>
              <a:gd name="adj" fmla="val 311917"/>
            </a:avLst>
          </a:prstGeom>
          <a:solidFill>
            <a:srgbClr val="37A7E7"/>
          </a:solidFill>
        </p:spPr>
        <p:txBody>
          <a:bodyPr/>
          <a:lstStyle/>
          <a:p/>
        </p:txBody>
      </p:sp>
      <p:sp>
        <p:nvSpPr>
          <p:cNvPr id="14" name="Text 12"/>
          <p:cNvSpPr/>
          <p:nvPr/>
        </p:nvSpPr>
        <p:spPr>
          <a:xfrm>
            <a:off x="1042154" y="4182666"/>
            <a:ext cx="2144316" cy="263962"/>
          </a:xfrm>
          <a:prstGeom prst="rect">
            <a:avLst/>
          </a:prstGeom>
          <a:noFill/>
        </p:spPr>
        <p:txBody>
          <a:bodyPr wrap="none" lIns="0" tIns="0" rIns="0" bIns="0" rtlCol="0" anchor="t"/>
          <a:lstStyle/>
          <a:p>
            <a:pPr marL="0" indent="0" algn="l">
              <a:lnSpc>
                <a:spcPts val="2050"/>
              </a:lnSpc>
              <a:buNone/>
            </a:pPr>
            <a:r>
              <a:rPr lang="en-US" sz="1650" b="1">
                <a:solidFill>
                  <a:srgbClr val="E0E4E6"/>
                </a:solidFill>
                <a:latin typeface="Spline Sans Bold" pitchFamily="34" charset="0"/>
                <a:ea typeface="Spline Sans Bold" pitchFamily="34" charset="-122"/>
                <a:cs typeface="Spline Sans Bold" pitchFamily="34" charset="-120"/>
              </a:rPr>
              <a:t>Firebase Dependency</a:t>
            </a:r>
            <a:endParaRPr lang="en-US" sz="1650"/>
          </a:p>
        </p:txBody>
      </p:sp>
      <p:sp>
        <p:nvSpPr>
          <p:cNvPr id="15" name="Text 13"/>
          <p:cNvSpPr/>
          <p:nvPr/>
        </p:nvSpPr>
        <p:spPr>
          <a:xfrm>
            <a:off x="1042154" y="4560689"/>
            <a:ext cx="5964912" cy="912614"/>
          </a:xfrm>
          <a:prstGeom prst="rect">
            <a:avLst/>
          </a:prstGeom>
          <a:noFill/>
        </p:spPr>
        <p:txBody>
          <a:bodyPr wrap="square" lIns="0" tIns="0" rIns="0" bIns="0" rtlCol="0" anchor="t"/>
          <a:lstStyle/>
          <a:p>
            <a:pPr marL="0" indent="0" algn="l">
              <a:lnSpc>
                <a:spcPts val="2350"/>
              </a:lnSpc>
              <a:buNone/>
            </a:pPr>
            <a:r>
              <a:rPr lang="en-US" sz="1450">
                <a:solidFill>
                  <a:srgbClr val="E0E4E6"/>
                </a:solidFill>
                <a:latin typeface="Barlow" pitchFamily="34" charset="0"/>
                <a:ea typeface="Barlow" pitchFamily="34" charset="-122"/>
                <a:cs typeface="Barlow" pitchFamily="34" charset="-120"/>
              </a:rPr>
              <a:t>All backend operations are reliant on Firebase. While powerful, this dependency means that heavy user load could potentially impact response times and overall performance.</a:t>
            </a:r>
            <a:endParaRPr lang="en-US" sz="1450"/>
          </a:p>
        </p:txBody>
      </p:sp>
      <p:sp>
        <p:nvSpPr>
          <p:cNvPr id="16" name="Shape 14"/>
          <p:cNvSpPr/>
          <p:nvPr/>
        </p:nvSpPr>
        <p:spPr>
          <a:xfrm>
            <a:off x="7410212" y="3969663"/>
            <a:ext cx="6459617" cy="1716643"/>
          </a:xfrm>
          <a:prstGeom prst="roundRect">
            <a:avLst>
              <a:gd name="adj" fmla="val 6392"/>
            </a:avLst>
          </a:prstGeom>
          <a:solidFill>
            <a:srgbClr val="0A081B">
              <a:alpha val="75000"/>
            </a:srgbClr>
          </a:solidFill>
          <a:ln w="22860">
            <a:solidFill>
              <a:srgbClr val="091231"/>
            </a:solidFill>
            <a:prstDash val="solid"/>
          </a:ln>
        </p:spPr>
        <p:txBody>
          <a:bodyPr/>
          <a:lstStyle/>
          <a:p/>
        </p:txBody>
      </p:sp>
      <p:sp>
        <p:nvSpPr>
          <p:cNvPr id="17" name="Shape 15"/>
          <p:cNvSpPr/>
          <p:nvPr/>
        </p:nvSpPr>
        <p:spPr>
          <a:xfrm>
            <a:off x="7387352" y="3969663"/>
            <a:ext cx="91440" cy="1716643"/>
          </a:xfrm>
          <a:prstGeom prst="roundRect">
            <a:avLst>
              <a:gd name="adj" fmla="val 311917"/>
            </a:avLst>
          </a:prstGeom>
          <a:solidFill>
            <a:srgbClr val="091231"/>
          </a:solidFill>
        </p:spPr>
        <p:txBody>
          <a:bodyPr/>
          <a:lstStyle/>
          <a:p/>
        </p:txBody>
      </p:sp>
      <p:sp>
        <p:nvSpPr>
          <p:cNvPr id="18" name="Text 16"/>
          <p:cNvSpPr/>
          <p:nvPr/>
        </p:nvSpPr>
        <p:spPr>
          <a:xfrm>
            <a:off x="7691795" y="4182666"/>
            <a:ext cx="3165634" cy="263962"/>
          </a:xfrm>
          <a:prstGeom prst="rect">
            <a:avLst/>
          </a:prstGeom>
          <a:noFill/>
        </p:spPr>
        <p:txBody>
          <a:bodyPr wrap="none" lIns="0" tIns="0" rIns="0" bIns="0" rtlCol="0" anchor="t"/>
          <a:lstStyle/>
          <a:p>
            <a:pPr marL="0" indent="0" algn="l">
              <a:lnSpc>
                <a:spcPts val="2050"/>
              </a:lnSpc>
              <a:buNone/>
            </a:pPr>
            <a:r>
              <a:rPr lang="en-US" sz="1650" b="1">
                <a:solidFill>
                  <a:srgbClr val="E0E4E6"/>
                </a:solidFill>
                <a:latin typeface="Spline Sans Bold" pitchFamily="34" charset="0"/>
                <a:ea typeface="Spline Sans Bold" pitchFamily="34" charset="-122"/>
                <a:cs typeface="Spline Sans Bold" pitchFamily="34" charset="-120"/>
              </a:rPr>
              <a:t>Animations on Low-End Devices</a:t>
            </a:r>
            <a:endParaRPr lang="en-US" sz="1650"/>
          </a:p>
        </p:txBody>
      </p:sp>
      <p:sp>
        <p:nvSpPr>
          <p:cNvPr id="19" name="Text 17"/>
          <p:cNvSpPr/>
          <p:nvPr/>
        </p:nvSpPr>
        <p:spPr>
          <a:xfrm>
            <a:off x="7691795" y="4560689"/>
            <a:ext cx="5965031" cy="912614"/>
          </a:xfrm>
          <a:prstGeom prst="rect">
            <a:avLst/>
          </a:prstGeom>
          <a:noFill/>
        </p:spPr>
        <p:txBody>
          <a:bodyPr wrap="square" lIns="0" tIns="0" rIns="0" bIns="0" rtlCol="0" anchor="t"/>
          <a:lstStyle/>
          <a:p>
            <a:pPr marL="0" indent="0" algn="l">
              <a:lnSpc>
                <a:spcPts val="2350"/>
              </a:lnSpc>
              <a:buNone/>
            </a:pPr>
            <a:r>
              <a:rPr lang="en-US" sz="1450">
                <a:solidFill>
                  <a:srgbClr val="E0E4E6"/>
                </a:solidFill>
                <a:latin typeface="Barlow" pitchFamily="34" charset="0"/>
                <a:ea typeface="Barlow" pitchFamily="34" charset="-122"/>
                <a:cs typeface="Barlow" pitchFamily="34" charset="-120"/>
              </a:rPr>
              <a:t>The visually rich neon glow animations, a key aesthetic component, may experience performance lag on Android devices equipped with lower RAM capacities, potentially affecting fluidity.</a:t>
            </a:r>
            <a:endParaRPr lang="en-US" sz="1450"/>
          </a:p>
        </p:txBody>
      </p:sp>
      <p:sp>
        <p:nvSpPr>
          <p:cNvPr id="20" name="Shape 18"/>
          <p:cNvSpPr/>
          <p:nvPr/>
        </p:nvSpPr>
        <p:spPr>
          <a:xfrm>
            <a:off x="760571" y="5876449"/>
            <a:ext cx="6459498" cy="1716643"/>
          </a:xfrm>
          <a:prstGeom prst="roundRect">
            <a:avLst>
              <a:gd name="adj" fmla="val 6392"/>
            </a:avLst>
          </a:prstGeom>
          <a:solidFill>
            <a:srgbClr val="0A081B">
              <a:alpha val="75000"/>
            </a:srgbClr>
          </a:solidFill>
          <a:ln w="22860">
            <a:solidFill>
              <a:srgbClr val="16FFBB"/>
            </a:solidFill>
            <a:prstDash val="solid"/>
          </a:ln>
        </p:spPr>
        <p:txBody>
          <a:bodyPr/>
          <a:lstStyle/>
          <a:p/>
        </p:txBody>
      </p:sp>
      <p:sp>
        <p:nvSpPr>
          <p:cNvPr id="21" name="Shape 19"/>
          <p:cNvSpPr/>
          <p:nvPr/>
        </p:nvSpPr>
        <p:spPr>
          <a:xfrm>
            <a:off x="737711" y="5876449"/>
            <a:ext cx="91440" cy="1716643"/>
          </a:xfrm>
          <a:prstGeom prst="roundRect">
            <a:avLst>
              <a:gd name="adj" fmla="val 311917"/>
            </a:avLst>
          </a:prstGeom>
          <a:solidFill>
            <a:srgbClr val="16FFBB"/>
          </a:solidFill>
        </p:spPr>
        <p:txBody>
          <a:bodyPr/>
          <a:lstStyle/>
          <a:p/>
        </p:txBody>
      </p:sp>
      <p:sp>
        <p:nvSpPr>
          <p:cNvPr id="22" name="Text 20"/>
          <p:cNvSpPr/>
          <p:nvPr/>
        </p:nvSpPr>
        <p:spPr>
          <a:xfrm>
            <a:off x="1042154" y="6089452"/>
            <a:ext cx="2789634" cy="263962"/>
          </a:xfrm>
          <a:prstGeom prst="rect">
            <a:avLst/>
          </a:prstGeom>
          <a:noFill/>
        </p:spPr>
        <p:txBody>
          <a:bodyPr wrap="none" lIns="0" tIns="0" rIns="0" bIns="0" rtlCol="0" anchor="t"/>
          <a:lstStyle/>
          <a:p>
            <a:pPr marL="0" indent="0" algn="l">
              <a:lnSpc>
                <a:spcPts val="2050"/>
              </a:lnSpc>
              <a:buNone/>
            </a:pPr>
            <a:r>
              <a:rPr lang="en-US" sz="1650" b="1">
                <a:solidFill>
                  <a:srgbClr val="E0E4E6"/>
                </a:solidFill>
                <a:latin typeface="Spline Sans Bold" pitchFamily="34" charset="0"/>
                <a:ea typeface="Spline Sans Bold" pitchFamily="34" charset="-122"/>
                <a:cs typeface="Spline Sans Bold" pitchFamily="34" charset="-120"/>
              </a:rPr>
              <a:t>No Group Chat Functionality</a:t>
            </a:r>
            <a:endParaRPr lang="en-US" sz="1650"/>
          </a:p>
        </p:txBody>
      </p:sp>
      <p:sp>
        <p:nvSpPr>
          <p:cNvPr id="23" name="Text 21"/>
          <p:cNvSpPr/>
          <p:nvPr/>
        </p:nvSpPr>
        <p:spPr>
          <a:xfrm>
            <a:off x="1042154" y="6467475"/>
            <a:ext cx="5964912" cy="608409"/>
          </a:xfrm>
          <a:prstGeom prst="rect">
            <a:avLst/>
          </a:prstGeom>
          <a:noFill/>
        </p:spPr>
        <p:txBody>
          <a:bodyPr wrap="square" lIns="0" tIns="0" rIns="0" bIns="0" rtlCol="0" anchor="t"/>
          <a:lstStyle/>
          <a:p>
            <a:pPr marL="0" indent="0" algn="l">
              <a:lnSpc>
                <a:spcPts val="2350"/>
              </a:lnSpc>
              <a:buNone/>
            </a:pPr>
            <a:r>
              <a:rPr lang="en-US" sz="1450">
                <a:solidFill>
                  <a:srgbClr val="E0E4E6"/>
                </a:solidFill>
                <a:latin typeface="Barlow" pitchFamily="34" charset="0"/>
                <a:ea typeface="Barlow" pitchFamily="34" charset="-122"/>
                <a:cs typeface="Barlow" pitchFamily="34" charset="-120"/>
              </a:rPr>
              <a:t>This version of SafePlay exclusively supports one-to-one direct messaging. Group chat functionality is not yet implemented.</a:t>
            </a:r>
            <a:endParaRPr lang="en-US" sz="1450"/>
          </a:p>
        </p:txBody>
      </p:sp>
      <p:sp>
        <p:nvSpPr>
          <p:cNvPr id="24" name="Shape 22"/>
          <p:cNvSpPr/>
          <p:nvPr/>
        </p:nvSpPr>
        <p:spPr>
          <a:xfrm>
            <a:off x="7410212" y="5876449"/>
            <a:ext cx="6459617" cy="1716643"/>
          </a:xfrm>
          <a:prstGeom prst="roundRect">
            <a:avLst>
              <a:gd name="adj" fmla="val 6392"/>
            </a:avLst>
          </a:prstGeom>
          <a:solidFill>
            <a:srgbClr val="0A081B">
              <a:alpha val="75000"/>
            </a:srgbClr>
          </a:solidFill>
          <a:ln w="22860">
            <a:solidFill>
              <a:srgbClr val="29DDDA"/>
            </a:solidFill>
            <a:prstDash val="solid"/>
          </a:ln>
        </p:spPr>
        <p:txBody>
          <a:bodyPr/>
          <a:lstStyle/>
          <a:p/>
        </p:txBody>
      </p:sp>
      <p:sp>
        <p:nvSpPr>
          <p:cNvPr id="25" name="Shape 23"/>
          <p:cNvSpPr/>
          <p:nvPr/>
        </p:nvSpPr>
        <p:spPr>
          <a:xfrm>
            <a:off x="7387352" y="5876449"/>
            <a:ext cx="91440" cy="1716643"/>
          </a:xfrm>
          <a:prstGeom prst="roundRect">
            <a:avLst>
              <a:gd name="adj" fmla="val 311917"/>
            </a:avLst>
          </a:prstGeom>
          <a:solidFill>
            <a:srgbClr val="29DDDA"/>
          </a:solidFill>
        </p:spPr>
        <p:txBody>
          <a:bodyPr/>
          <a:lstStyle/>
          <a:p/>
        </p:txBody>
      </p:sp>
      <p:sp>
        <p:nvSpPr>
          <p:cNvPr id="26" name="Text 24"/>
          <p:cNvSpPr/>
          <p:nvPr/>
        </p:nvSpPr>
        <p:spPr>
          <a:xfrm>
            <a:off x="7691795" y="6089452"/>
            <a:ext cx="2267069" cy="263962"/>
          </a:xfrm>
          <a:prstGeom prst="rect">
            <a:avLst/>
          </a:prstGeom>
          <a:noFill/>
        </p:spPr>
        <p:txBody>
          <a:bodyPr wrap="none" lIns="0" tIns="0" rIns="0" bIns="0" rtlCol="0" anchor="t"/>
          <a:lstStyle/>
          <a:p>
            <a:pPr marL="0" indent="0" algn="l">
              <a:lnSpc>
                <a:spcPts val="2050"/>
              </a:lnSpc>
              <a:buNone/>
            </a:pPr>
            <a:r>
              <a:rPr lang="en-US" sz="1650" b="1">
                <a:solidFill>
                  <a:srgbClr val="E0E4E6"/>
                </a:solidFill>
                <a:latin typeface="Spline Sans Bold" pitchFamily="34" charset="0"/>
                <a:ea typeface="Spline Sans Bold" pitchFamily="34" charset="-122"/>
                <a:cs typeface="Spline Sans Bold" pitchFamily="34" charset="-120"/>
              </a:rPr>
              <a:t>No Offline Chat Access</a:t>
            </a:r>
            <a:endParaRPr lang="en-US" sz="1650"/>
          </a:p>
        </p:txBody>
      </p:sp>
      <p:sp>
        <p:nvSpPr>
          <p:cNvPr id="27" name="Text 25"/>
          <p:cNvSpPr/>
          <p:nvPr/>
        </p:nvSpPr>
        <p:spPr>
          <a:xfrm>
            <a:off x="7691795" y="6467475"/>
            <a:ext cx="5965031" cy="912614"/>
          </a:xfrm>
          <a:prstGeom prst="rect">
            <a:avLst/>
          </a:prstGeom>
          <a:noFill/>
        </p:spPr>
        <p:txBody>
          <a:bodyPr wrap="square" lIns="0" tIns="0" rIns="0" bIns="0" rtlCol="0" anchor="t"/>
          <a:lstStyle/>
          <a:p>
            <a:pPr marL="0" indent="0" algn="l">
              <a:lnSpc>
                <a:spcPts val="2350"/>
              </a:lnSpc>
              <a:buNone/>
            </a:pPr>
            <a:r>
              <a:rPr lang="en-US" sz="1450">
                <a:solidFill>
                  <a:srgbClr val="E0E4E6"/>
                </a:solidFill>
                <a:latin typeface="Barlow" pitchFamily="34" charset="0"/>
                <a:ea typeface="Barlow" pitchFamily="34" charset="-122"/>
                <a:cs typeface="Barlow" pitchFamily="34" charset="-120"/>
              </a:rPr>
              <a:t>Messages and conversation histories require an active internet connection to load or synchronise, meaning offline access to past chats is not available.</a:t>
            </a:r>
            <a:endParaRPr lang="en-US" sz="1450"/>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6">
    <p:spTree>
      <p:nvGrpSpPr>
        <p:cNvPr id="1" name=""/>
        <p:cNvGrpSpPr/>
        <p:nvPr/>
      </p:nvGrpSpPr>
      <p:grpSpPr>
        <a:xfrm>
          <a:off x="0" y="0"/>
          <a:ext cx="0" cy="0"/>
        </a:xfrm>
      </p:grpSpPr>
      <p:sp>
        <p:nvSpPr>
          <p:cNvPr id="2" name="Text 0"/>
          <p:cNvSpPr/>
          <p:nvPr/>
        </p:nvSpPr>
        <p:spPr>
          <a:xfrm>
            <a:off x="440531" y="302895"/>
            <a:ext cx="3939183" cy="305991"/>
          </a:xfrm>
          <a:prstGeom prst="rect">
            <a:avLst/>
          </a:prstGeom>
          <a:noFill/>
        </p:spPr>
        <p:txBody>
          <a:bodyPr wrap="none" lIns="0" tIns="0" rIns="0" bIns="0" rtlCol="0" anchor="t"/>
          <a:lstStyle/>
          <a:p>
            <a:pPr marL="0" indent="0" algn="l">
              <a:lnSpc>
                <a:spcPts val="2400"/>
              </a:lnSpc>
              <a:buNone/>
            </a:pPr>
            <a:r>
              <a:rPr lang="en-US" sz="1900" b="1">
                <a:solidFill>
                  <a:srgbClr val="F0FCFF"/>
                </a:solidFill>
                <a:latin typeface="Spline Sans Bold" pitchFamily="34" charset="0"/>
                <a:ea typeface="Spline Sans Bold" pitchFamily="34" charset="-122"/>
                <a:cs typeface="Spline Sans Bold" pitchFamily="34" charset="-120"/>
              </a:rPr>
              <a:t>Future Enhancements for SafePlay</a:t>
            </a:r>
            <a:endParaRPr lang="en-US" sz="1900"/>
          </a:p>
        </p:txBody>
      </p:sp>
      <p:sp>
        <p:nvSpPr>
          <p:cNvPr id="3" name="Text 1"/>
          <p:cNvSpPr/>
          <p:nvPr/>
        </p:nvSpPr>
        <p:spPr>
          <a:xfrm>
            <a:off x="440531" y="829151"/>
            <a:ext cx="13749338"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Our vision for SafePlay includes a series of strategic enhancements aimed at expanding its capabilities, improving user experience, and addressing current limitations. These planned developments will solidify SafePlay's position as a leading secure communication platform.</a:t>
            </a:r>
            <a:endParaRPr lang="en-US" sz="850"/>
          </a:p>
        </p:txBody>
      </p:sp>
      <p:sp>
        <p:nvSpPr>
          <p:cNvPr id="4" name="Shape 2"/>
          <p:cNvSpPr/>
          <p:nvPr/>
        </p:nvSpPr>
        <p:spPr>
          <a:xfrm>
            <a:off x="440531" y="1129189"/>
            <a:ext cx="440531" cy="660797"/>
          </a:xfrm>
          <a:prstGeom prst="roundRect">
            <a:avLst>
              <a:gd name="adj" fmla="val 360049"/>
            </a:avLst>
          </a:prstGeom>
          <a:solidFill>
            <a:srgbClr val="0A081B"/>
          </a:solidFill>
          <a:ln w="7620">
            <a:solidFill>
              <a:srgbClr val="16FFBB"/>
            </a:solidFill>
            <a:prstDash val="solid"/>
          </a:ln>
        </p:spPr>
        <p:txBody>
          <a:bodyPr/>
          <a:lstStyle/>
          <a:p/>
        </p:txBody>
      </p:sp>
      <p:sp>
        <p:nvSpPr>
          <p:cNvPr id="5" name="Text 3"/>
          <p:cNvSpPr/>
          <p:nvPr/>
        </p:nvSpPr>
        <p:spPr>
          <a:xfrm>
            <a:off x="578168" y="1356360"/>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1</a:t>
            </a:r>
            <a:endParaRPr lang="en-US" sz="1300"/>
          </a:p>
        </p:txBody>
      </p:sp>
      <p:sp>
        <p:nvSpPr>
          <p:cNvPr id="6" name="Text 4"/>
          <p:cNvSpPr/>
          <p:nvPr/>
        </p:nvSpPr>
        <p:spPr>
          <a:xfrm>
            <a:off x="991195" y="1239322"/>
            <a:ext cx="1223843"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AI-Powered Chatbot</a:t>
            </a:r>
            <a:endParaRPr lang="en-US" sz="950"/>
          </a:p>
        </p:txBody>
      </p:sp>
      <p:sp>
        <p:nvSpPr>
          <p:cNvPr id="7" name="Text 5"/>
          <p:cNvSpPr/>
          <p:nvPr/>
        </p:nvSpPr>
        <p:spPr>
          <a:xfrm>
            <a:off x="991195" y="1458397"/>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Integration of an intelligent chatbot to provide real-time safety assistance and support.</a:t>
            </a:r>
            <a:endParaRPr lang="en-US" sz="850"/>
          </a:p>
        </p:txBody>
      </p:sp>
      <p:sp>
        <p:nvSpPr>
          <p:cNvPr id="8" name="Shape 6"/>
          <p:cNvSpPr/>
          <p:nvPr/>
        </p:nvSpPr>
        <p:spPr>
          <a:xfrm>
            <a:off x="440531" y="1900118"/>
            <a:ext cx="440531" cy="660797"/>
          </a:xfrm>
          <a:prstGeom prst="roundRect">
            <a:avLst>
              <a:gd name="adj" fmla="val 360049"/>
            </a:avLst>
          </a:prstGeom>
          <a:solidFill>
            <a:srgbClr val="0A081B"/>
          </a:solidFill>
          <a:ln w="7620">
            <a:solidFill>
              <a:srgbClr val="29DDDA"/>
            </a:solidFill>
            <a:prstDash val="solid"/>
          </a:ln>
        </p:spPr>
        <p:txBody>
          <a:bodyPr/>
          <a:lstStyle/>
          <a:p/>
        </p:txBody>
      </p:sp>
      <p:sp>
        <p:nvSpPr>
          <p:cNvPr id="9" name="Text 7"/>
          <p:cNvSpPr/>
          <p:nvPr/>
        </p:nvSpPr>
        <p:spPr>
          <a:xfrm>
            <a:off x="578168" y="2127290"/>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2</a:t>
            </a:r>
            <a:endParaRPr lang="en-US" sz="1300"/>
          </a:p>
        </p:txBody>
      </p:sp>
      <p:sp>
        <p:nvSpPr>
          <p:cNvPr id="10" name="Text 8"/>
          <p:cNvSpPr/>
          <p:nvPr/>
        </p:nvSpPr>
        <p:spPr>
          <a:xfrm>
            <a:off x="991195" y="2010251"/>
            <a:ext cx="1397675"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Offline Messaging Mode</a:t>
            </a:r>
            <a:endParaRPr lang="en-US" sz="950"/>
          </a:p>
        </p:txBody>
      </p:sp>
      <p:sp>
        <p:nvSpPr>
          <p:cNvPr id="11" name="Text 9"/>
          <p:cNvSpPr/>
          <p:nvPr/>
        </p:nvSpPr>
        <p:spPr>
          <a:xfrm>
            <a:off x="991195" y="2229326"/>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Development of an offline mode allowing users to view and compose messages even without internet connectivity.</a:t>
            </a:r>
            <a:endParaRPr lang="en-US" sz="850"/>
          </a:p>
        </p:txBody>
      </p:sp>
      <p:sp>
        <p:nvSpPr>
          <p:cNvPr id="12" name="Shape 10"/>
          <p:cNvSpPr/>
          <p:nvPr/>
        </p:nvSpPr>
        <p:spPr>
          <a:xfrm>
            <a:off x="440531" y="2671048"/>
            <a:ext cx="440531" cy="660797"/>
          </a:xfrm>
          <a:prstGeom prst="roundRect">
            <a:avLst>
              <a:gd name="adj" fmla="val 360049"/>
            </a:avLst>
          </a:prstGeom>
          <a:solidFill>
            <a:srgbClr val="0A081B"/>
          </a:solidFill>
          <a:ln w="7620">
            <a:solidFill>
              <a:srgbClr val="37A7E7"/>
            </a:solidFill>
            <a:prstDash val="solid"/>
          </a:ln>
        </p:spPr>
        <p:txBody>
          <a:bodyPr/>
          <a:lstStyle/>
          <a:p/>
        </p:txBody>
      </p:sp>
      <p:sp>
        <p:nvSpPr>
          <p:cNvPr id="13" name="Text 11"/>
          <p:cNvSpPr/>
          <p:nvPr/>
        </p:nvSpPr>
        <p:spPr>
          <a:xfrm>
            <a:off x="578168" y="2898219"/>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3</a:t>
            </a:r>
            <a:endParaRPr lang="en-US" sz="1300"/>
          </a:p>
        </p:txBody>
      </p:sp>
      <p:sp>
        <p:nvSpPr>
          <p:cNvPr id="14" name="Text 12"/>
          <p:cNvSpPr/>
          <p:nvPr/>
        </p:nvSpPr>
        <p:spPr>
          <a:xfrm>
            <a:off x="991195" y="2781181"/>
            <a:ext cx="1507331"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Group Chats &amp; Broadcasts</a:t>
            </a:r>
            <a:endParaRPr lang="en-US" sz="950"/>
          </a:p>
        </p:txBody>
      </p:sp>
      <p:sp>
        <p:nvSpPr>
          <p:cNvPr id="15" name="Text 13"/>
          <p:cNvSpPr/>
          <p:nvPr/>
        </p:nvSpPr>
        <p:spPr>
          <a:xfrm>
            <a:off x="991195" y="3000256"/>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Introduction of group chat functionality and broadcast channels to facilitate broader communication.</a:t>
            </a:r>
            <a:endParaRPr lang="en-US" sz="850"/>
          </a:p>
        </p:txBody>
      </p:sp>
      <p:sp>
        <p:nvSpPr>
          <p:cNvPr id="16" name="Shape 14"/>
          <p:cNvSpPr/>
          <p:nvPr/>
        </p:nvSpPr>
        <p:spPr>
          <a:xfrm>
            <a:off x="440531" y="3441978"/>
            <a:ext cx="440531" cy="660797"/>
          </a:xfrm>
          <a:prstGeom prst="roundRect">
            <a:avLst>
              <a:gd name="adj" fmla="val 360049"/>
            </a:avLst>
          </a:prstGeom>
          <a:solidFill>
            <a:srgbClr val="0A081B"/>
          </a:solidFill>
          <a:ln w="7620">
            <a:solidFill>
              <a:srgbClr val="091231"/>
            </a:solidFill>
            <a:prstDash val="solid"/>
          </a:ln>
        </p:spPr>
        <p:txBody>
          <a:bodyPr/>
          <a:lstStyle/>
          <a:p/>
        </p:txBody>
      </p:sp>
      <p:sp>
        <p:nvSpPr>
          <p:cNvPr id="17" name="Text 15"/>
          <p:cNvSpPr/>
          <p:nvPr/>
        </p:nvSpPr>
        <p:spPr>
          <a:xfrm>
            <a:off x="578168" y="3669149"/>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4</a:t>
            </a:r>
            <a:endParaRPr lang="en-US" sz="1300"/>
          </a:p>
        </p:txBody>
      </p:sp>
      <p:sp>
        <p:nvSpPr>
          <p:cNvPr id="18" name="Text 16"/>
          <p:cNvSpPr/>
          <p:nvPr/>
        </p:nvSpPr>
        <p:spPr>
          <a:xfrm>
            <a:off x="991195" y="3552111"/>
            <a:ext cx="1223843"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Premium Features</a:t>
            </a:r>
            <a:endParaRPr lang="en-US" sz="950"/>
          </a:p>
        </p:txBody>
      </p:sp>
      <p:sp>
        <p:nvSpPr>
          <p:cNvPr id="19" name="Text 17"/>
          <p:cNvSpPr/>
          <p:nvPr/>
        </p:nvSpPr>
        <p:spPr>
          <a:xfrm>
            <a:off x="991195" y="3771186"/>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Implementation of payment or subscription-based premium features to unlock advanced functionalities.</a:t>
            </a:r>
            <a:endParaRPr lang="en-US" sz="850"/>
          </a:p>
        </p:txBody>
      </p:sp>
      <p:sp>
        <p:nvSpPr>
          <p:cNvPr id="20" name="Shape 18"/>
          <p:cNvSpPr/>
          <p:nvPr/>
        </p:nvSpPr>
        <p:spPr>
          <a:xfrm>
            <a:off x="440531" y="4212907"/>
            <a:ext cx="440531" cy="660797"/>
          </a:xfrm>
          <a:prstGeom prst="roundRect">
            <a:avLst>
              <a:gd name="adj" fmla="val 360049"/>
            </a:avLst>
          </a:prstGeom>
          <a:solidFill>
            <a:srgbClr val="0A081B"/>
          </a:solidFill>
          <a:ln w="7620">
            <a:solidFill>
              <a:srgbClr val="16FFBB"/>
            </a:solidFill>
            <a:prstDash val="solid"/>
          </a:ln>
        </p:spPr>
        <p:txBody>
          <a:bodyPr/>
          <a:lstStyle/>
          <a:p/>
        </p:txBody>
      </p:sp>
      <p:sp>
        <p:nvSpPr>
          <p:cNvPr id="21" name="Text 19"/>
          <p:cNvSpPr/>
          <p:nvPr/>
        </p:nvSpPr>
        <p:spPr>
          <a:xfrm>
            <a:off x="578168" y="4440079"/>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5</a:t>
            </a:r>
            <a:endParaRPr lang="en-US" sz="1300"/>
          </a:p>
        </p:txBody>
      </p:sp>
      <p:sp>
        <p:nvSpPr>
          <p:cNvPr id="22" name="Text 20"/>
          <p:cNvSpPr/>
          <p:nvPr/>
        </p:nvSpPr>
        <p:spPr>
          <a:xfrm>
            <a:off x="991195" y="4323040"/>
            <a:ext cx="1298972"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Expanded Mini-Games</a:t>
            </a:r>
            <a:endParaRPr lang="en-US" sz="950"/>
          </a:p>
        </p:txBody>
      </p:sp>
      <p:sp>
        <p:nvSpPr>
          <p:cNvPr id="23" name="Text 21"/>
          <p:cNvSpPr/>
          <p:nvPr/>
        </p:nvSpPr>
        <p:spPr>
          <a:xfrm>
            <a:off x="991195" y="4542115"/>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Addition of a wider variety of engaging mini-games to enhance user entertainment.</a:t>
            </a:r>
            <a:endParaRPr lang="en-US" sz="850"/>
          </a:p>
        </p:txBody>
      </p:sp>
      <p:sp>
        <p:nvSpPr>
          <p:cNvPr id="24" name="Shape 22"/>
          <p:cNvSpPr/>
          <p:nvPr/>
        </p:nvSpPr>
        <p:spPr>
          <a:xfrm>
            <a:off x="440531" y="4983837"/>
            <a:ext cx="440531" cy="660797"/>
          </a:xfrm>
          <a:prstGeom prst="roundRect">
            <a:avLst>
              <a:gd name="adj" fmla="val 360049"/>
            </a:avLst>
          </a:prstGeom>
          <a:solidFill>
            <a:srgbClr val="0A081B"/>
          </a:solidFill>
          <a:ln w="7620">
            <a:solidFill>
              <a:srgbClr val="29DDDA"/>
            </a:solidFill>
            <a:prstDash val="solid"/>
          </a:ln>
        </p:spPr>
        <p:txBody>
          <a:bodyPr/>
          <a:lstStyle/>
          <a:p/>
        </p:txBody>
      </p:sp>
      <p:sp>
        <p:nvSpPr>
          <p:cNvPr id="25" name="Text 23"/>
          <p:cNvSpPr/>
          <p:nvPr/>
        </p:nvSpPr>
        <p:spPr>
          <a:xfrm>
            <a:off x="578168" y="5211008"/>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6</a:t>
            </a:r>
            <a:endParaRPr lang="en-US" sz="1300"/>
          </a:p>
        </p:txBody>
      </p:sp>
      <p:sp>
        <p:nvSpPr>
          <p:cNvPr id="26" name="Text 24"/>
          <p:cNvSpPr/>
          <p:nvPr/>
        </p:nvSpPr>
        <p:spPr>
          <a:xfrm>
            <a:off x="991195" y="5093970"/>
            <a:ext cx="1396603"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Multi-Language Support</a:t>
            </a:r>
            <a:endParaRPr lang="en-US" sz="950"/>
          </a:p>
        </p:txBody>
      </p:sp>
      <p:sp>
        <p:nvSpPr>
          <p:cNvPr id="27" name="Text 25"/>
          <p:cNvSpPr/>
          <p:nvPr/>
        </p:nvSpPr>
        <p:spPr>
          <a:xfrm>
            <a:off x="991195" y="5313045"/>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Enabling the application to support multiple languages for a global user base.</a:t>
            </a:r>
            <a:endParaRPr lang="en-US" sz="850"/>
          </a:p>
        </p:txBody>
      </p:sp>
      <p:sp>
        <p:nvSpPr>
          <p:cNvPr id="28" name="Shape 26"/>
          <p:cNvSpPr/>
          <p:nvPr/>
        </p:nvSpPr>
        <p:spPr>
          <a:xfrm>
            <a:off x="440531" y="5754767"/>
            <a:ext cx="440531" cy="660797"/>
          </a:xfrm>
          <a:prstGeom prst="roundRect">
            <a:avLst>
              <a:gd name="adj" fmla="val 360049"/>
            </a:avLst>
          </a:prstGeom>
          <a:solidFill>
            <a:srgbClr val="0A081B"/>
          </a:solidFill>
          <a:ln w="7620">
            <a:solidFill>
              <a:srgbClr val="37A7E7"/>
            </a:solidFill>
            <a:prstDash val="solid"/>
          </a:ln>
        </p:spPr>
        <p:txBody>
          <a:bodyPr/>
          <a:lstStyle/>
          <a:p/>
        </p:txBody>
      </p:sp>
      <p:sp>
        <p:nvSpPr>
          <p:cNvPr id="29" name="Text 27"/>
          <p:cNvSpPr/>
          <p:nvPr/>
        </p:nvSpPr>
        <p:spPr>
          <a:xfrm>
            <a:off x="578168" y="5981938"/>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7</a:t>
            </a:r>
            <a:endParaRPr lang="en-US" sz="1300"/>
          </a:p>
        </p:txBody>
      </p:sp>
      <p:sp>
        <p:nvSpPr>
          <p:cNvPr id="30" name="Text 28"/>
          <p:cNvSpPr/>
          <p:nvPr/>
        </p:nvSpPr>
        <p:spPr>
          <a:xfrm>
            <a:off x="991195" y="5864900"/>
            <a:ext cx="1545074"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Advanced Admin Analytics</a:t>
            </a:r>
            <a:endParaRPr lang="en-US" sz="950"/>
          </a:p>
        </p:txBody>
      </p:sp>
      <p:sp>
        <p:nvSpPr>
          <p:cNvPr id="31" name="Text 29"/>
          <p:cNvSpPr/>
          <p:nvPr/>
        </p:nvSpPr>
        <p:spPr>
          <a:xfrm>
            <a:off x="991195" y="6083975"/>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Development of enhanced analytics and monitoring tools for administrators to gain deeper insights.</a:t>
            </a:r>
            <a:endParaRPr lang="en-US" sz="850"/>
          </a:p>
        </p:txBody>
      </p:sp>
      <p:sp>
        <p:nvSpPr>
          <p:cNvPr id="32" name="Shape 30"/>
          <p:cNvSpPr/>
          <p:nvPr/>
        </p:nvSpPr>
        <p:spPr>
          <a:xfrm>
            <a:off x="440531" y="6525697"/>
            <a:ext cx="440531" cy="660797"/>
          </a:xfrm>
          <a:prstGeom prst="roundRect">
            <a:avLst>
              <a:gd name="adj" fmla="val 360049"/>
            </a:avLst>
          </a:prstGeom>
          <a:solidFill>
            <a:srgbClr val="0A081B"/>
          </a:solidFill>
          <a:ln w="7620">
            <a:solidFill>
              <a:srgbClr val="091231"/>
            </a:solidFill>
            <a:prstDash val="solid"/>
          </a:ln>
        </p:spPr>
        <p:txBody>
          <a:bodyPr/>
          <a:lstStyle/>
          <a:p/>
        </p:txBody>
      </p:sp>
      <p:sp>
        <p:nvSpPr>
          <p:cNvPr id="33" name="Text 31"/>
          <p:cNvSpPr/>
          <p:nvPr/>
        </p:nvSpPr>
        <p:spPr>
          <a:xfrm>
            <a:off x="578168" y="6752868"/>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8</a:t>
            </a:r>
            <a:endParaRPr lang="en-US" sz="1300"/>
          </a:p>
        </p:txBody>
      </p:sp>
      <p:sp>
        <p:nvSpPr>
          <p:cNvPr id="34" name="Text 32"/>
          <p:cNvSpPr/>
          <p:nvPr/>
        </p:nvSpPr>
        <p:spPr>
          <a:xfrm>
            <a:off x="991195" y="6635829"/>
            <a:ext cx="1256824"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Theme Customisation</a:t>
            </a:r>
            <a:endParaRPr lang="en-US" sz="950"/>
          </a:p>
        </p:txBody>
      </p:sp>
      <p:sp>
        <p:nvSpPr>
          <p:cNvPr id="35" name="Text 33"/>
          <p:cNvSpPr/>
          <p:nvPr/>
        </p:nvSpPr>
        <p:spPr>
          <a:xfrm>
            <a:off x="991195" y="6854904"/>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Offering more extensive wallpaper and theme customisation options for greater personalisation.</a:t>
            </a:r>
            <a:endParaRPr lang="en-US" sz="850"/>
          </a:p>
        </p:txBody>
      </p:sp>
      <p:sp>
        <p:nvSpPr>
          <p:cNvPr id="36" name="Shape 34"/>
          <p:cNvSpPr/>
          <p:nvPr/>
        </p:nvSpPr>
        <p:spPr>
          <a:xfrm>
            <a:off x="440531" y="7296626"/>
            <a:ext cx="440531" cy="660797"/>
          </a:xfrm>
          <a:prstGeom prst="roundRect">
            <a:avLst>
              <a:gd name="adj" fmla="val 360049"/>
            </a:avLst>
          </a:prstGeom>
          <a:solidFill>
            <a:srgbClr val="0A081B"/>
          </a:solidFill>
          <a:ln w="7620">
            <a:solidFill>
              <a:srgbClr val="16FFBB"/>
            </a:solidFill>
            <a:prstDash val="solid"/>
          </a:ln>
        </p:spPr>
        <p:txBody>
          <a:bodyPr/>
          <a:lstStyle/>
          <a:p/>
        </p:txBody>
      </p:sp>
      <p:sp>
        <p:nvSpPr>
          <p:cNvPr id="37" name="Text 35"/>
          <p:cNvSpPr/>
          <p:nvPr/>
        </p:nvSpPr>
        <p:spPr>
          <a:xfrm>
            <a:off x="578168" y="7523798"/>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9</a:t>
            </a:r>
            <a:endParaRPr lang="en-US" sz="1300"/>
          </a:p>
        </p:txBody>
      </p:sp>
      <p:sp>
        <p:nvSpPr>
          <p:cNvPr id="38" name="Text 36"/>
          <p:cNvSpPr/>
          <p:nvPr/>
        </p:nvSpPr>
        <p:spPr>
          <a:xfrm>
            <a:off x="991195" y="7406759"/>
            <a:ext cx="1223843"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Cloud Backup</a:t>
            </a:r>
            <a:endParaRPr lang="en-US" sz="950"/>
          </a:p>
        </p:txBody>
      </p:sp>
      <p:sp>
        <p:nvSpPr>
          <p:cNvPr id="39" name="Text 37"/>
          <p:cNvSpPr/>
          <p:nvPr/>
        </p:nvSpPr>
        <p:spPr>
          <a:xfrm>
            <a:off x="991195" y="7625834"/>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Introduction of cloud backup services for user settings and preferences, ensuring data safety.</a:t>
            </a:r>
            <a:endParaRPr lang="en-US" sz="850"/>
          </a:p>
        </p:txBody>
      </p:sp>
      <p:sp>
        <p:nvSpPr>
          <p:cNvPr id="40" name="Shape 38"/>
          <p:cNvSpPr/>
          <p:nvPr/>
        </p:nvSpPr>
        <p:spPr>
          <a:xfrm>
            <a:off x="440531" y="8067556"/>
            <a:ext cx="440531" cy="660797"/>
          </a:xfrm>
          <a:prstGeom prst="roundRect">
            <a:avLst>
              <a:gd name="adj" fmla="val 360049"/>
            </a:avLst>
          </a:prstGeom>
          <a:solidFill>
            <a:srgbClr val="0A081B"/>
          </a:solidFill>
          <a:ln w="7620">
            <a:solidFill>
              <a:srgbClr val="29DDDA"/>
            </a:solidFill>
            <a:prstDash val="solid"/>
          </a:ln>
        </p:spPr>
        <p:txBody>
          <a:bodyPr/>
          <a:lstStyle/>
          <a:p/>
        </p:txBody>
      </p:sp>
      <p:sp>
        <p:nvSpPr>
          <p:cNvPr id="41" name="Text 39"/>
          <p:cNvSpPr/>
          <p:nvPr/>
        </p:nvSpPr>
        <p:spPr>
          <a:xfrm>
            <a:off x="578168" y="8294727"/>
            <a:ext cx="165140" cy="206454"/>
          </a:xfrm>
          <a:prstGeom prst="rect">
            <a:avLst/>
          </a:prstGeom>
          <a:noFill/>
        </p:spPr>
        <p:txBody>
          <a:bodyPr wrap="none" lIns="0" tIns="0" rIns="0" bIns="0" rtlCol="0" anchor="t"/>
          <a:lstStyle/>
          <a:p>
            <a:pPr marL="0" indent="0" algn="l">
              <a:lnSpc>
                <a:spcPts val="1300"/>
              </a:lnSpc>
              <a:buNone/>
            </a:pPr>
            <a:r>
              <a:rPr lang="en-US" sz="1300" b="1">
                <a:solidFill>
                  <a:srgbClr val="E0E4E6"/>
                </a:solidFill>
                <a:latin typeface="Spline Sans Bold" pitchFamily="34" charset="0"/>
                <a:ea typeface="Spline Sans Bold" pitchFamily="34" charset="-122"/>
                <a:cs typeface="Spline Sans Bold" pitchFamily="34" charset="-120"/>
              </a:rPr>
              <a:t>10</a:t>
            </a:r>
            <a:endParaRPr lang="en-US" sz="1300"/>
          </a:p>
        </p:txBody>
      </p:sp>
      <p:sp>
        <p:nvSpPr>
          <p:cNvPr id="42" name="Text 40"/>
          <p:cNvSpPr/>
          <p:nvPr/>
        </p:nvSpPr>
        <p:spPr>
          <a:xfrm>
            <a:off x="991195" y="8177689"/>
            <a:ext cx="2096453" cy="152995"/>
          </a:xfrm>
          <a:prstGeom prst="rect">
            <a:avLst/>
          </a:prstGeom>
          <a:noFill/>
        </p:spPr>
        <p:txBody>
          <a:bodyPr wrap="none" lIns="0" tIns="0" rIns="0" bIns="0" rtlCol="0" anchor="t"/>
          <a:lstStyle/>
          <a:p>
            <a:pPr marL="0" indent="0" algn="l">
              <a:lnSpc>
                <a:spcPts val="1200"/>
              </a:lnSpc>
              <a:buNone/>
            </a:pPr>
            <a:r>
              <a:rPr lang="en-US" sz="950" b="1">
                <a:solidFill>
                  <a:srgbClr val="E0E4E6"/>
                </a:solidFill>
                <a:latin typeface="Spline Sans Bold" pitchFamily="34" charset="0"/>
                <a:ea typeface="Spline Sans Bold" pitchFamily="34" charset="-122"/>
                <a:cs typeface="Spline Sans Bold" pitchFamily="34" charset="-120"/>
              </a:rPr>
              <a:t>Enhanced Spam/Profanity Detection</a:t>
            </a:r>
            <a:endParaRPr lang="en-US" sz="950"/>
          </a:p>
        </p:txBody>
      </p:sp>
      <p:sp>
        <p:nvSpPr>
          <p:cNvPr id="43" name="Text 41"/>
          <p:cNvSpPr/>
          <p:nvPr/>
        </p:nvSpPr>
        <p:spPr>
          <a:xfrm>
            <a:off x="991195" y="8396764"/>
            <a:ext cx="13198673" cy="176213"/>
          </a:xfrm>
          <a:prstGeom prst="rect">
            <a:avLst/>
          </a:prstGeom>
          <a:noFill/>
        </p:spPr>
        <p:txBody>
          <a:bodyPr wrap="none" lIns="0" tIns="0" rIns="0" bIns="0" rtlCol="0" anchor="t"/>
          <a:lstStyle/>
          <a:p>
            <a:pPr marL="0" indent="0" algn="l">
              <a:lnSpc>
                <a:spcPts val="1350"/>
              </a:lnSpc>
              <a:buNone/>
            </a:pPr>
            <a:r>
              <a:rPr lang="en-US" sz="850">
                <a:solidFill>
                  <a:srgbClr val="E0E4E6"/>
                </a:solidFill>
                <a:latin typeface="Barlow" pitchFamily="34" charset="0"/>
                <a:ea typeface="Barlow" pitchFamily="34" charset="-122"/>
                <a:cs typeface="Barlow" pitchFamily="34" charset="-120"/>
              </a:rPr>
              <a:t>Utilisation of Machine Learning (ML) for more sophisticated detection of spam and profanity in real-time.</a:t>
            </a:r>
            <a:endParaRPr lang="en-US" sz="850"/>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7">
    <p:spTree>
      <p:nvGrpSpPr>
        <p:cNvPr id="1" name=""/>
        <p:cNvGrpSpPr/>
        <p:nvPr/>
      </p:nvGrpSpPr>
      <p:grpSpPr>
        <a:xfrm>
          <a:off x="0" y="0"/>
          <a:ext cx="0" cy="0"/>
        </a:xfrm>
      </p:grpSpPr>
      <p:sp>
        <p:nvSpPr>
          <p:cNvPr id="2" name="Text 0"/>
          <p:cNvSpPr/>
          <p:nvPr/>
        </p:nvSpPr>
        <p:spPr>
          <a:xfrm>
            <a:off x="580073" y="398740"/>
            <a:ext cx="7365444" cy="402788"/>
          </a:xfrm>
          <a:prstGeom prst="rect">
            <a:avLst/>
          </a:prstGeom>
          <a:noFill/>
        </p:spPr>
        <p:txBody>
          <a:bodyPr wrap="none" lIns="0" tIns="0" rIns="0" bIns="0" rtlCol="0" anchor="t"/>
          <a:lstStyle/>
          <a:p>
            <a:pPr marL="0" indent="0" algn="l">
              <a:lnSpc>
                <a:spcPts val="3150"/>
              </a:lnSpc>
              <a:buNone/>
            </a:pPr>
            <a:r>
              <a:rPr lang="en-US" sz="2500" b="1">
                <a:solidFill>
                  <a:srgbClr val="F0FCFF"/>
                </a:solidFill>
                <a:latin typeface="Spline Sans Bold" pitchFamily="34" charset="0"/>
                <a:ea typeface="Spline Sans Bold" pitchFamily="34" charset="-122"/>
                <a:cs typeface="Spline Sans Bold" pitchFamily="34" charset="-120"/>
              </a:rPr>
              <a:t>Software &amp; Hardware Requirements for SafePlay</a:t>
            </a:r>
            <a:endParaRPr lang="en-US" sz="2500"/>
          </a:p>
        </p:txBody>
      </p:sp>
      <p:sp>
        <p:nvSpPr>
          <p:cNvPr id="3" name="Text 1"/>
          <p:cNvSpPr/>
          <p:nvPr/>
        </p:nvSpPr>
        <p:spPr>
          <a:xfrm>
            <a:off x="580073" y="1091565"/>
            <a:ext cx="13470255" cy="231934"/>
          </a:xfrm>
          <a:prstGeom prst="rect">
            <a:avLst/>
          </a:prstGeom>
          <a:noFill/>
        </p:spPr>
        <p:txBody>
          <a:bodyPr wrap="none" lIns="0" tIns="0" rIns="0" bIns="0" rtlCol="0" anchor="t"/>
          <a:lstStyle/>
          <a:p>
            <a:pPr marL="0" indent="0" algn="l">
              <a:lnSpc>
                <a:spcPts val="1800"/>
              </a:lnSpc>
              <a:buNone/>
            </a:pPr>
            <a:r>
              <a:rPr lang="en-US" sz="1100">
                <a:solidFill>
                  <a:srgbClr val="E0E4E6"/>
                </a:solidFill>
                <a:latin typeface="Barlow" pitchFamily="34" charset="0"/>
                <a:ea typeface="Barlow" pitchFamily="34" charset="-122"/>
                <a:cs typeface="Barlow" pitchFamily="34" charset="-120"/>
              </a:rPr>
              <a:t>The successful development and deployment of SafePlay rely on a specific set of software and hardware specifications, ensuring optimal performance and security across the application's lifecycle.</a:t>
            </a:r>
            <a:endParaRPr lang="en-US" sz="110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4365" y="1654135"/>
            <a:ext cx="217527" cy="217527"/>
          </a:xfrm>
          <a:prstGeom prst="rect">
            <a:avLst/>
          </a:prstGeom>
        </p:spPr>
      </p:pic>
      <p:sp>
        <p:nvSpPr>
          <p:cNvPr id="5" name="Text 2"/>
          <p:cNvSpPr/>
          <p:nvPr/>
        </p:nvSpPr>
        <p:spPr>
          <a:xfrm>
            <a:off x="1051322" y="1649730"/>
            <a:ext cx="1611273" cy="201335"/>
          </a:xfrm>
          <a:prstGeom prst="rect">
            <a:avLst/>
          </a:prstGeom>
          <a:noFill/>
        </p:spPr>
        <p:txBody>
          <a:bodyPr wrap="none" lIns="0" tIns="0" rIns="0" bIns="0" rtlCol="0" anchor="t"/>
          <a:lstStyle/>
          <a:p>
            <a:pPr marL="0" indent="0" algn="l">
              <a:lnSpc>
                <a:spcPts val="1550"/>
              </a:lnSpc>
              <a:buNone/>
            </a:pPr>
            <a:r>
              <a:rPr lang="en-US" sz="1250" b="1">
                <a:solidFill>
                  <a:srgbClr val="E0E4E6"/>
                </a:solidFill>
                <a:latin typeface="Spline Sans Bold" pitchFamily="34" charset="0"/>
                <a:ea typeface="Spline Sans Bold" pitchFamily="34" charset="-122"/>
                <a:cs typeface="Spline Sans Bold" pitchFamily="34" charset="-120"/>
              </a:rPr>
              <a:t>Operating System</a:t>
            </a:r>
            <a:endParaRPr lang="en-US" sz="1250"/>
          </a:p>
        </p:txBody>
      </p:sp>
      <p:sp>
        <p:nvSpPr>
          <p:cNvPr id="6" name="Text 3"/>
          <p:cNvSpPr/>
          <p:nvPr/>
        </p:nvSpPr>
        <p:spPr>
          <a:xfrm>
            <a:off x="1051322" y="1996083"/>
            <a:ext cx="6087070" cy="231934"/>
          </a:xfrm>
          <a:prstGeom prst="rect">
            <a:avLst/>
          </a:prstGeom>
          <a:noFill/>
        </p:spPr>
        <p:txBody>
          <a:bodyPr wrap="none" lIns="0" tIns="0" rIns="0" bIns="0" rtlCol="0" anchor="t"/>
          <a:lstStyle/>
          <a:p>
            <a:pPr marL="0" indent="0" algn="l">
              <a:lnSpc>
                <a:spcPts val="1800"/>
              </a:lnSpc>
              <a:buNone/>
            </a:pPr>
            <a:r>
              <a:rPr lang="en-US" sz="1100">
                <a:solidFill>
                  <a:srgbClr val="E0E4E6"/>
                </a:solidFill>
                <a:latin typeface="Barlow" pitchFamily="34" charset="0"/>
                <a:ea typeface="Barlow" pitchFamily="34" charset="-122"/>
                <a:cs typeface="Barlow" pitchFamily="34" charset="-120"/>
              </a:rPr>
              <a:t>Windows / macOS for development environments; Android for application deployment.</a:t>
            </a:r>
            <a:endParaRPr lang="en-US" sz="110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4365" y="2522458"/>
            <a:ext cx="217527" cy="217527"/>
          </a:xfrm>
          <a:prstGeom prst="rect">
            <a:avLst/>
          </a:prstGeom>
        </p:spPr>
      </p:pic>
      <p:sp>
        <p:nvSpPr>
          <p:cNvPr id="8" name="Text 4"/>
          <p:cNvSpPr/>
          <p:nvPr/>
        </p:nvSpPr>
        <p:spPr>
          <a:xfrm>
            <a:off x="1051322" y="2518053"/>
            <a:ext cx="1825466" cy="201335"/>
          </a:xfrm>
          <a:prstGeom prst="rect">
            <a:avLst/>
          </a:prstGeom>
          <a:noFill/>
        </p:spPr>
        <p:txBody>
          <a:bodyPr wrap="none" lIns="0" tIns="0" rIns="0" bIns="0" rtlCol="0" anchor="t"/>
          <a:lstStyle/>
          <a:p>
            <a:pPr marL="0" indent="0" algn="l">
              <a:lnSpc>
                <a:spcPts val="1550"/>
              </a:lnSpc>
              <a:buNone/>
            </a:pPr>
            <a:r>
              <a:rPr lang="en-US" sz="1250" b="1">
                <a:solidFill>
                  <a:srgbClr val="E0E4E6"/>
                </a:solidFill>
                <a:latin typeface="Spline Sans Bold" pitchFamily="34" charset="0"/>
                <a:ea typeface="Spline Sans Bold" pitchFamily="34" charset="-122"/>
                <a:cs typeface="Spline Sans Bold" pitchFamily="34" charset="-120"/>
              </a:rPr>
              <a:t>Programming Language</a:t>
            </a:r>
            <a:endParaRPr lang="en-US" sz="1250"/>
          </a:p>
        </p:txBody>
      </p:sp>
      <p:sp>
        <p:nvSpPr>
          <p:cNvPr id="9" name="Text 5"/>
          <p:cNvSpPr/>
          <p:nvPr/>
        </p:nvSpPr>
        <p:spPr>
          <a:xfrm>
            <a:off x="1051322" y="2864406"/>
            <a:ext cx="6087070" cy="231934"/>
          </a:xfrm>
          <a:prstGeom prst="rect">
            <a:avLst/>
          </a:prstGeom>
          <a:noFill/>
        </p:spPr>
        <p:txBody>
          <a:bodyPr wrap="none" lIns="0" tIns="0" rIns="0" bIns="0" rtlCol="0" anchor="t"/>
          <a:lstStyle/>
          <a:p>
            <a:pPr marL="0" indent="0" algn="l">
              <a:lnSpc>
                <a:spcPts val="1800"/>
              </a:lnSpc>
              <a:buNone/>
            </a:pPr>
            <a:r>
              <a:rPr lang="en-US" sz="1100">
                <a:solidFill>
                  <a:srgbClr val="16FFBB"/>
                </a:solidFill>
                <a:latin typeface="Barlow" pitchFamily="34" charset="0"/>
                <a:ea typeface="Barlow" pitchFamily="34" charset="-122"/>
                <a:cs typeface="Barlow" pitchFamily="34" charset="-120"/>
              </a:rPr>
              <a:t>Kotlin</a:t>
            </a:r>
            <a:r>
              <a:rPr lang="en-US" sz="1100">
                <a:solidFill>
                  <a:srgbClr val="E0E4E6"/>
                </a:solidFill>
                <a:latin typeface="Barlow" pitchFamily="34" charset="0"/>
                <a:ea typeface="Barlow" pitchFamily="34" charset="-122"/>
                <a:cs typeface="Barlow" pitchFamily="34" charset="-120"/>
              </a:rPr>
              <a:t> is the primary language for application logic and development.</a:t>
            </a:r>
            <a:endParaRPr lang="en-US" sz="110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4365" y="3390781"/>
            <a:ext cx="217527" cy="217527"/>
          </a:xfrm>
          <a:prstGeom prst="rect">
            <a:avLst/>
          </a:prstGeom>
        </p:spPr>
      </p:pic>
      <p:sp>
        <p:nvSpPr>
          <p:cNvPr id="11" name="Text 6"/>
          <p:cNvSpPr/>
          <p:nvPr/>
        </p:nvSpPr>
        <p:spPr>
          <a:xfrm>
            <a:off x="1051322" y="3386376"/>
            <a:ext cx="1611273" cy="201335"/>
          </a:xfrm>
          <a:prstGeom prst="rect">
            <a:avLst/>
          </a:prstGeom>
          <a:noFill/>
        </p:spPr>
        <p:txBody>
          <a:bodyPr wrap="none" lIns="0" tIns="0" rIns="0" bIns="0" rtlCol="0" anchor="t"/>
          <a:lstStyle/>
          <a:p>
            <a:pPr marL="0" indent="0" algn="l">
              <a:lnSpc>
                <a:spcPts val="1550"/>
              </a:lnSpc>
              <a:buNone/>
            </a:pPr>
            <a:r>
              <a:rPr lang="en-US" sz="1250" b="1">
                <a:solidFill>
                  <a:srgbClr val="E0E4E6"/>
                </a:solidFill>
                <a:latin typeface="Spline Sans Bold" pitchFamily="34" charset="0"/>
                <a:ea typeface="Spline Sans Bold" pitchFamily="34" charset="-122"/>
                <a:cs typeface="Spline Sans Bold" pitchFamily="34" charset="-120"/>
              </a:rPr>
              <a:t>Framework</a:t>
            </a:r>
            <a:endParaRPr lang="en-US" sz="1250"/>
          </a:p>
        </p:txBody>
      </p:sp>
      <p:sp>
        <p:nvSpPr>
          <p:cNvPr id="12" name="Text 7"/>
          <p:cNvSpPr/>
          <p:nvPr/>
        </p:nvSpPr>
        <p:spPr>
          <a:xfrm>
            <a:off x="1051322" y="3732728"/>
            <a:ext cx="6087070" cy="231934"/>
          </a:xfrm>
          <a:prstGeom prst="rect">
            <a:avLst/>
          </a:prstGeom>
          <a:noFill/>
        </p:spPr>
        <p:txBody>
          <a:bodyPr wrap="none" lIns="0" tIns="0" rIns="0" bIns="0" rtlCol="0" anchor="t"/>
          <a:lstStyle/>
          <a:p>
            <a:pPr marL="0" indent="0" algn="l">
              <a:lnSpc>
                <a:spcPts val="1800"/>
              </a:lnSpc>
              <a:buNone/>
            </a:pPr>
            <a:r>
              <a:rPr lang="en-US" sz="1100">
                <a:solidFill>
                  <a:srgbClr val="16FFBB"/>
                </a:solidFill>
                <a:latin typeface="Barlow" pitchFamily="34" charset="0"/>
                <a:ea typeface="Barlow" pitchFamily="34" charset="-122"/>
                <a:cs typeface="Barlow" pitchFamily="34" charset="-120"/>
              </a:rPr>
              <a:t>Jetpack Compose</a:t>
            </a:r>
            <a:r>
              <a:rPr lang="en-US" sz="1100">
                <a:solidFill>
                  <a:srgbClr val="E0E4E6"/>
                </a:solidFill>
                <a:latin typeface="Barlow" pitchFamily="34" charset="0"/>
                <a:ea typeface="Barlow" pitchFamily="34" charset="-122"/>
                <a:cs typeface="Barlow" pitchFamily="34" charset="-120"/>
              </a:rPr>
              <a:t> provides a modern toolkit for building native Android UI.</a:t>
            </a:r>
            <a:endParaRPr lang="en-US" sz="110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4365" y="4259104"/>
            <a:ext cx="217527" cy="217527"/>
          </a:xfrm>
          <a:prstGeom prst="rect">
            <a:avLst/>
          </a:prstGeom>
        </p:spPr>
      </p:pic>
      <p:sp>
        <p:nvSpPr>
          <p:cNvPr id="14" name="Text 8"/>
          <p:cNvSpPr/>
          <p:nvPr/>
        </p:nvSpPr>
        <p:spPr>
          <a:xfrm>
            <a:off x="1051322" y="4254698"/>
            <a:ext cx="1611273" cy="201335"/>
          </a:xfrm>
          <a:prstGeom prst="rect">
            <a:avLst/>
          </a:prstGeom>
          <a:noFill/>
        </p:spPr>
        <p:txBody>
          <a:bodyPr wrap="none" lIns="0" tIns="0" rIns="0" bIns="0" rtlCol="0" anchor="t"/>
          <a:lstStyle/>
          <a:p>
            <a:pPr marL="0" indent="0" algn="l">
              <a:lnSpc>
                <a:spcPts val="1550"/>
              </a:lnSpc>
              <a:buNone/>
            </a:pPr>
            <a:r>
              <a:rPr lang="en-US" sz="1250" b="1">
                <a:solidFill>
                  <a:srgbClr val="E0E4E6"/>
                </a:solidFill>
                <a:latin typeface="Spline Sans Bold" pitchFamily="34" charset="0"/>
                <a:ea typeface="Spline Sans Bold" pitchFamily="34" charset="-122"/>
                <a:cs typeface="Spline Sans Bold" pitchFamily="34" charset="-120"/>
              </a:rPr>
              <a:t>Backend Services</a:t>
            </a:r>
            <a:endParaRPr lang="en-US" sz="1250"/>
          </a:p>
        </p:txBody>
      </p:sp>
      <p:sp>
        <p:nvSpPr>
          <p:cNvPr id="15" name="Text 9"/>
          <p:cNvSpPr/>
          <p:nvPr/>
        </p:nvSpPr>
        <p:spPr>
          <a:xfrm>
            <a:off x="1051322" y="4601051"/>
            <a:ext cx="6087070" cy="463868"/>
          </a:xfrm>
          <a:prstGeom prst="rect">
            <a:avLst/>
          </a:prstGeom>
          <a:noFill/>
        </p:spPr>
        <p:txBody>
          <a:bodyPr wrap="square" lIns="0" tIns="0" rIns="0" bIns="0" rtlCol="0" anchor="t"/>
          <a:lstStyle/>
          <a:p>
            <a:pPr marL="0" indent="0" algn="l">
              <a:lnSpc>
                <a:spcPts val="1800"/>
              </a:lnSpc>
              <a:buNone/>
            </a:pPr>
            <a:r>
              <a:rPr lang="en-US" sz="1100">
                <a:solidFill>
                  <a:srgbClr val="16FFBB"/>
                </a:solidFill>
                <a:latin typeface="Barlow" pitchFamily="34" charset="0"/>
                <a:ea typeface="Barlow" pitchFamily="34" charset="-122"/>
                <a:cs typeface="Barlow" pitchFamily="34" charset="-120"/>
              </a:rPr>
              <a:t>Firebase</a:t>
            </a:r>
            <a:r>
              <a:rPr lang="en-US" sz="1100">
                <a:solidFill>
                  <a:srgbClr val="E0E4E6"/>
                </a:solidFill>
                <a:latin typeface="Barlow" pitchFamily="34" charset="0"/>
                <a:ea typeface="Barlow" pitchFamily="34" charset="-122"/>
                <a:cs typeface="Barlow" pitchFamily="34" charset="-120"/>
              </a:rPr>
              <a:t> (Authentication, Firestore, Storage) serves as the comprehensive backend infrastructure.</a:t>
            </a:r>
            <a:endParaRPr lang="en-US" sz="1100"/>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4365" y="5359360"/>
            <a:ext cx="217527" cy="217527"/>
          </a:xfrm>
          <a:prstGeom prst="rect">
            <a:avLst/>
          </a:prstGeom>
        </p:spPr>
      </p:pic>
      <p:sp>
        <p:nvSpPr>
          <p:cNvPr id="17" name="Text 10"/>
          <p:cNvSpPr/>
          <p:nvPr/>
        </p:nvSpPr>
        <p:spPr>
          <a:xfrm>
            <a:off x="1051322" y="5354955"/>
            <a:ext cx="1611273" cy="201335"/>
          </a:xfrm>
          <a:prstGeom prst="rect">
            <a:avLst/>
          </a:prstGeom>
          <a:noFill/>
        </p:spPr>
        <p:txBody>
          <a:bodyPr wrap="none" lIns="0" tIns="0" rIns="0" bIns="0" rtlCol="0" anchor="t"/>
          <a:lstStyle/>
          <a:p>
            <a:pPr marL="0" indent="0" algn="l">
              <a:lnSpc>
                <a:spcPts val="1550"/>
              </a:lnSpc>
              <a:buNone/>
            </a:pPr>
            <a:r>
              <a:rPr lang="en-US" sz="1250" b="1">
                <a:solidFill>
                  <a:srgbClr val="E0E4E6"/>
                </a:solidFill>
                <a:latin typeface="Spline Sans Bold" pitchFamily="34" charset="0"/>
                <a:ea typeface="Spline Sans Bold" pitchFamily="34" charset="-122"/>
                <a:cs typeface="Spline Sans Bold" pitchFamily="34" charset="-120"/>
              </a:rPr>
              <a:t>Database</a:t>
            </a:r>
            <a:endParaRPr lang="en-US" sz="1250"/>
          </a:p>
        </p:txBody>
      </p:sp>
      <p:sp>
        <p:nvSpPr>
          <p:cNvPr id="18" name="Text 11"/>
          <p:cNvSpPr/>
          <p:nvPr/>
        </p:nvSpPr>
        <p:spPr>
          <a:xfrm>
            <a:off x="1051322" y="5701308"/>
            <a:ext cx="6087070" cy="231934"/>
          </a:xfrm>
          <a:prstGeom prst="rect">
            <a:avLst/>
          </a:prstGeom>
          <a:noFill/>
        </p:spPr>
        <p:txBody>
          <a:bodyPr wrap="none" lIns="0" tIns="0" rIns="0" bIns="0" rtlCol="0" anchor="t"/>
          <a:lstStyle/>
          <a:p>
            <a:pPr marL="0" indent="0" algn="l">
              <a:lnSpc>
                <a:spcPts val="1800"/>
              </a:lnSpc>
              <a:buNone/>
            </a:pPr>
            <a:r>
              <a:rPr lang="en-US" sz="1100">
                <a:solidFill>
                  <a:srgbClr val="16FFBB"/>
                </a:solidFill>
                <a:latin typeface="Barlow" pitchFamily="34" charset="0"/>
                <a:ea typeface="Barlow" pitchFamily="34" charset="-122"/>
                <a:cs typeface="Barlow" pitchFamily="34" charset="-120"/>
              </a:rPr>
              <a:t>Firestore NoSQL</a:t>
            </a:r>
            <a:r>
              <a:rPr lang="en-US" sz="1100">
                <a:solidFill>
                  <a:srgbClr val="E0E4E6"/>
                </a:solidFill>
                <a:latin typeface="Barlow" pitchFamily="34" charset="0"/>
                <a:ea typeface="Barlow" pitchFamily="34" charset="-122"/>
                <a:cs typeface="Barlow" pitchFamily="34" charset="-120"/>
              </a:rPr>
              <a:t> is employed for flexible and scalable data storage.</a:t>
            </a:r>
            <a:endParaRPr lang="en-US" sz="1100"/>
          </a:p>
        </p:txBody>
      </p:sp>
      <p:pic>
        <p:nvPicPr>
          <p:cNvPr id="19"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4365" y="6227683"/>
            <a:ext cx="217527" cy="217527"/>
          </a:xfrm>
          <a:prstGeom prst="rect">
            <a:avLst/>
          </a:prstGeom>
        </p:spPr>
      </p:pic>
      <p:sp>
        <p:nvSpPr>
          <p:cNvPr id="20" name="Text 12"/>
          <p:cNvSpPr/>
          <p:nvPr/>
        </p:nvSpPr>
        <p:spPr>
          <a:xfrm>
            <a:off x="1051322" y="6223278"/>
            <a:ext cx="1611273" cy="201335"/>
          </a:xfrm>
          <a:prstGeom prst="rect">
            <a:avLst/>
          </a:prstGeom>
          <a:noFill/>
        </p:spPr>
        <p:txBody>
          <a:bodyPr wrap="none" lIns="0" tIns="0" rIns="0" bIns="0" rtlCol="0" anchor="t"/>
          <a:lstStyle/>
          <a:p>
            <a:pPr marL="0" indent="0" algn="l">
              <a:lnSpc>
                <a:spcPts val="1550"/>
              </a:lnSpc>
              <a:buNone/>
            </a:pPr>
            <a:r>
              <a:rPr lang="en-US" sz="1250" b="1">
                <a:solidFill>
                  <a:srgbClr val="E0E4E6"/>
                </a:solidFill>
                <a:latin typeface="Spline Sans Bold" pitchFamily="34" charset="0"/>
                <a:ea typeface="Spline Sans Bold" pitchFamily="34" charset="-122"/>
                <a:cs typeface="Spline Sans Bold" pitchFamily="34" charset="-120"/>
              </a:rPr>
              <a:t>Security Protocols</a:t>
            </a:r>
            <a:endParaRPr lang="en-US" sz="1250"/>
          </a:p>
        </p:txBody>
      </p:sp>
      <p:sp>
        <p:nvSpPr>
          <p:cNvPr id="21" name="Text 13"/>
          <p:cNvSpPr/>
          <p:nvPr/>
        </p:nvSpPr>
        <p:spPr>
          <a:xfrm>
            <a:off x="1051322" y="6569631"/>
            <a:ext cx="6087070" cy="231934"/>
          </a:xfrm>
          <a:prstGeom prst="rect">
            <a:avLst/>
          </a:prstGeom>
          <a:noFill/>
        </p:spPr>
        <p:txBody>
          <a:bodyPr wrap="none" lIns="0" tIns="0" rIns="0" bIns="0" rtlCol="0" anchor="t"/>
          <a:lstStyle/>
          <a:p>
            <a:pPr marL="0" indent="0" algn="l">
              <a:lnSpc>
                <a:spcPts val="1800"/>
              </a:lnSpc>
              <a:buNone/>
            </a:pPr>
            <a:r>
              <a:rPr lang="en-US" sz="1100">
                <a:solidFill>
                  <a:srgbClr val="16FFBB"/>
                </a:solidFill>
                <a:latin typeface="Barlow" pitchFamily="34" charset="0"/>
                <a:ea typeface="Barlow" pitchFamily="34" charset="-122"/>
                <a:cs typeface="Barlow" pitchFamily="34" charset="-120"/>
              </a:rPr>
              <a:t>Firebase Auth</a:t>
            </a:r>
            <a:r>
              <a:rPr lang="en-US" sz="1100">
                <a:solidFill>
                  <a:srgbClr val="E0E4E6"/>
                </a:solidFill>
                <a:latin typeface="Barlow" pitchFamily="34" charset="0"/>
                <a:ea typeface="Barlow" pitchFamily="34" charset="-122"/>
                <a:cs typeface="Barlow" pitchFamily="34" charset="-120"/>
              </a:rPr>
              <a:t>, </a:t>
            </a:r>
            <a:r>
              <a:rPr lang="en-US" sz="1100">
                <a:solidFill>
                  <a:srgbClr val="16FFBB"/>
                </a:solidFill>
                <a:latin typeface="Barlow" pitchFamily="34" charset="0"/>
                <a:ea typeface="Barlow" pitchFamily="34" charset="-122"/>
                <a:cs typeface="Barlow" pitchFamily="34" charset="-120"/>
              </a:rPr>
              <a:t>Firebase rules</a:t>
            </a:r>
            <a:r>
              <a:rPr lang="en-US" sz="1100">
                <a:solidFill>
                  <a:srgbClr val="E0E4E6"/>
                </a:solidFill>
                <a:latin typeface="Barlow" pitchFamily="34" charset="0"/>
                <a:ea typeface="Barlow" pitchFamily="34" charset="-122"/>
                <a:cs typeface="Barlow" pitchFamily="34" charset="-120"/>
              </a:rPr>
              <a:t>, and </a:t>
            </a:r>
            <a:r>
              <a:rPr lang="en-US" sz="1100">
                <a:solidFill>
                  <a:srgbClr val="16FFBB"/>
                </a:solidFill>
                <a:latin typeface="Barlow" pitchFamily="34" charset="0"/>
                <a:ea typeface="Barlow" pitchFamily="34" charset="-122"/>
                <a:cs typeface="Barlow" pitchFamily="34" charset="-120"/>
              </a:rPr>
              <a:t>EncryptedSharedPreferences</a:t>
            </a:r>
            <a:r>
              <a:rPr lang="en-US" sz="1100">
                <a:solidFill>
                  <a:srgbClr val="E0E4E6"/>
                </a:solidFill>
                <a:latin typeface="Barlow" pitchFamily="34" charset="0"/>
                <a:ea typeface="Barlow" pitchFamily="34" charset="-122"/>
                <a:cs typeface="Barlow" pitchFamily="34" charset="-120"/>
              </a:rPr>
              <a:t> ensure robust security.</a:t>
            </a:r>
            <a:endParaRPr lang="en-US" sz="1100"/>
          </a:p>
        </p:txBody>
      </p:sp>
      <p:pic>
        <p:nvPicPr>
          <p:cNvPr id="22"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4365" y="7096006"/>
            <a:ext cx="217527" cy="217527"/>
          </a:xfrm>
          <a:prstGeom prst="rect">
            <a:avLst/>
          </a:prstGeom>
        </p:spPr>
      </p:pic>
      <p:sp>
        <p:nvSpPr>
          <p:cNvPr id="23" name="Text 14"/>
          <p:cNvSpPr/>
          <p:nvPr/>
        </p:nvSpPr>
        <p:spPr>
          <a:xfrm>
            <a:off x="1051322" y="7091601"/>
            <a:ext cx="1611273" cy="201335"/>
          </a:xfrm>
          <a:prstGeom prst="rect">
            <a:avLst/>
          </a:prstGeom>
          <a:noFill/>
        </p:spPr>
        <p:txBody>
          <a:bodyPr wrap="none" lIns="0" tIns="0" rIns="0" bIns="0" rtlCol="0" anchor="t"/>
          <a:lstStyle/>
          <a:p>
            <a:pPr marL="0" indent="0" algn="l">
              <a:lnSpc>
                <a:spcPts val="1550"/>
              </a:lnSpc>
              <a:buNone/>
            </a:pPr>
            <a:r>
              <a:rPr lang="en-US" sz="1250" b="1">
                <a:solidFill>
                  <a:srgbClr val="E0E4E6"/>
                </a:solidFill>
                <a:latin typeface="Spline Sans Bold" pitchFamily="34" charset="0"/>
                <a:ea typeface="Spline Sans Bold" pitchFamily="34" charset="-122"/>
                <a:cs typeface="Spline Sans Bold" pitchFamily="34" charset="-120"/>
              </a:rPr>
              <a:t>Development Tools</a:t>
            </a:r>
            <a:endParaRPr lang="en-US" sz="1250"/>
          </a:p>
        </p:txBody>
      </p:sp>
      <p:sp>
        <p:nvSpPr>
          <p:cNvPr id="24" name="Text 15"/>
          <p:cNvSpPr/>
          <p:nvPr/>
        </p:nvSpPr>
        <p:spPr>
          <a:xfrm>
            <a:off x="1051322" y="7437953"/>
            <a:ext cx="6087070" cy="231934"/>
          </a:xfrm>
          <a:prstGeom prst="rect">
            <a:avLst/>
          </a:prstGeom>
          <a:noFill/>
        </p:spPr>
        <p:txBody>
          <a:bodyPr wrap="none" lIns="0" tIns="0" rIns="0" bIns="0" rtlCol="0" anchor="t"/>
          <a:lstStyle/>
          <a:p>
            <a:pPr marL="0" indent="0" algn="l">
              <a:lnSpc>
                <a:spcPts val="1800"/>
              </a:lnSpc>
              <a:buNone/>
            </a:pPr>
            <a:r>
              <a:rPr lang="en-US" sz="1100">
                <a:solidFill>
                  <a:srgbClr val="16FFBB"/>
                </a:solidFill>
                <a:latin typeface="Barlow" pitchFamily="34" charset="0"/>
                <a:ea typeface="Barlow" pitchFamily="34" charset="-122"/>
                <a:cs typeface="Barlow" pitchFamily="34" charset="-120"/>
              </a:rPr>
              <a:t>Android Studio</a:t>
            </a:r>
            <a:r>
              <a:rPr lang="en-US" sz="1100">
                <a:solidFill>
                  <a:srgbClr val="E0E4E6"/>
                </a:solidFill>
                <a:latin typeface="Barlow" pitchFamily="34" charset="0"/>
                <a:ea typeface="Barlow" pitchFamily="34" charset="-122"/>
                <a:cs typeface="Barlow" pitchFamily="34" charset="-120"/>
              </a:rPr>
              <a:t> is the integrated development environment (IDE) of choice.</a:t>
            </a:r>
            <a:endParaRPr lang="en-US" sz="1100"/>
          </a:p>
        </p:txBody>
      </p:sp>
      <p:sp>
        <p:nvSpPr>
          <p:cNvPr id="25" name="Text 16"/>
          <p:cNvSpPr/>
          <p:nvPr/>
        </p:nvSpPr>
        <p:spPr>
          <a:xfrm>
            <a:off x="7499628" y="1631633"/>
            <a:ext cx="1856899" cy="201335"/>
          </a:xfrm>
          <a:prstGeom prst="rect">
            <a:avLst/>
          </a:prstGeom>
          <a:noFill/>
        </p:spPr>
        <p:txBody>
          <a:bodyPr wrap="none" lIns="0" tIns="0" rIns="0" bIns="0" rtlCol="0" anchor="t"/>
          <a:lstStyle/>
          <a:p>
            <a:pPr marL="0" indent="0" algn="l">
              <a:lnSpc>
                <a:spcPts val="1550"/>
              </a:lnSpc>
              <a:buNone/>
            </a:pPr>
            <a:r>
              <a:rPr lang="en-US" sz="1250" b="1">
                <a:solidFill>
                  <a:srgbClr val="F0FCFF"/>
                </a:solidFill>
                <a:latin typeface="Spline Sans Bold" pitchFamily="34" charset="0"/>
                <a:ea typeface="Spline Sans Bold" pitchFamily="34" charset="-122"/>
                <a:cs typeface="Spline Sans Bold" pitchFamily="34" charset="-120"/>
              </a:rPr>
              <a:t>Hardware Requirements</a:t>
            </a:r>
            <a:endParaRPr lang="en-US" sz="1250"/>
          </a:p>
        </p:txBody>
      </p:sp>
      <p:sp>
        <p:nvSpPr>
          <p:cNvPr id="26" name="Text 17"/>
          <p:cNvSpPr/>
          <p:nvPr/>
        </p:nvSpPr>
        <p:spPr>
          <a:xfrm>
            <a:off x="7499628" y="1977985"/>
            <a:ext cx="6558320" cy="463868"/>
          </a:xfrm>
          <a:prstGeom prst="rect">
            <a:avLst/>
          </a:prstGeom>
          <a:noFill/>
        </p:spPr>
        <p:txBody>
          <a:bodyPr wrap="square" lIns="0" tIns="0" rIns="0" bIns="0" rtlCol="0" anchor="t"/>
          <a:lstStyle/>
          <a:p>
            <a:pPr marL="0" indent="0" algn="l">
              <a:lnSpc>
                <a:spcPts val="1800"/>
              </a:lnSpc>
              <a:buNone/>
            </a:pPr>
            <a:r>
              <a:rPr lang="en-US" sz="1100">
                <a:solidFill>
                  <a:srgbClr val="E0E4E6"/>
                </a:solidFill>
                <a:latin typeface="Barlow" pitchFamily="34" charset="0"/>
                <a:ea typeface="Barlow" pitchFamily="34" charset="-122"/>
                <a:cs typeface="Barlow" pitchFamily="34" charset="-120"/>
              </a:rPr>
              <a:t>For optimal user experience, SafePlay requires an Android device running </a:t>
            </a:r>
            <a:r>
              <a:rPr lang="en-US" sz="1100">
                <a:solidFill>
                  <a:srgbClr val="16FFBB"/>
                </a:solidFill>
                <a:latin typeface="Barlow" pitchFamily="34" charset="0"/>
                <a:ea typeface="Barlow" pitchFamily="34" charset="-122"/>
                <a:cs typeface="Barlow" pitchFamily="34" charset="-120"/>
              </a:rPr>
              <a:t>Android 8.0 (Oreo)</a:t>
            </a:r>
            <a:r>
              <a:rPr lang="en-US" sz="1100">
                <a:solidFill>
                  <a:srgbClr val="E0E4E6"/>
                </a:solidFill>
                <a:latin typeface="Barlow" pitchFamily="34" charset="0"/>
                <a:ea typeface="Barlow" pitchFamily="34" charset="-122"/>
                <a:cs typeface="Barlow" pitchFamily="34" charset="-120"/>
              </a:rPr>
              <a:t> or higher, coupled with a stable internet connection for seamless operation and access to all features.</a:t>
            </a:r>
            <a:endParaRPr lang="en-US" sz="1100"/>
          </a:p>
        </p:txBody>
      </p:sp>
      <p:sp>
        <p:nvSpPr>
          <p:cNvPr id="27" name="Text 18"/>
          <p:cNvSpPr/>
          <p:nvPr/>
        </p:nvSpPr>
        <p:spPr>
          <a:xfrm>
            <a:off x="7717155" y="2604968"/>
            <a:ext cx="6340793" cy="463868"/>
          </a:xfrm>
          <a:prstGeom prst="rect">
            <a:avLst/>
          </a:prstGeom>
          <a:noFill/>
        </p:spPr>
        <p:txBody>
          <a:bodyPr wrap="square" lIns="0" tIns="0" rIns="0" bIns="0" rtlCol="0" anchor="t"/>
          <a:lstStyle/>
          <a:p>
            <a:pPr marL="0" indent="0" algn="l">
              <a:lnSpc>
                <a:spcPts val="1800"/>
              </a:lnSpc>
              <a:buNone/>
            </a:pPr>
            <a:r>
              <a:rPr lang="en-US" sz="1100">
                <a:solidFill>
                  <a:srgbClr val="E0E4E6"/>
                </a:solidFill>
                <a:latin typeface="Barlow" pitchFamily="34" charset="0"/>
                <a:ea typeface="Barlow" pitchFamily="34" charset="-122"/>
                <a:cs typeface="Barlow" pitchFamily="34" charset="-120"/>
              </a:rPr>
              <a:t>"From the Software Requirements Specification (SRS) section on technologies used and constraints, SafePlay is engineered for efficiency and security."</a:t>
            </a:r>
            <a:endParaRPr lang="en-US" sz="1100"/>
          </a:p>
        </p:txBody>
      </p:sp>
      <p:sp>
        <p:nvSpPr>
          <p:cNvPr id="28" name="Shape 19"/>
          <p:cNvSpPr/>
          <p:nvPr/>
        </p:nvSpPr>
        <p:spPr>
          <a:xfrm>
            <a:off x="7499628" y="2604968"/>
            <a:ext cx="15240" cy="463868"/>
          </a:xfrm>
          <a:prstGeom prst="rect">
            <a:avLst/>
          </a:prstGeom>
          <a:solidFill>
            <a:srgbClr val="16FFBB"/>
          </a:solidFill>
        </p:spPr>
        <p:txBody>
          <a:bodyPr/>
          <a:lstStyle/>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8">
    <p:spTree>
      <p:nvGrpSpPr>
        <p:cNvPr id="1" name=""/>
        <p:cNvGrpSpPr/>
        <p:nvPr/>
      </p:nvGrpSpPr>
      <p:grpSpPr>
        <a:xfrm>
          <a:off x="0" y="0"/>
          <a:ext cx="0" cy="0"/>
        </a:xfrm>
      </p:grpSpPr>
      <p:sp>
        <p:nvSpPr>
          <p:cNvPr id="2" name="Text 0"/>
          <p:cNvSpPr/>
          <p:nvPr/>
        </p:nvSpPr>
        <p:spPr>
          <a:xfrm>
            <a:off x="881063" y="1329571"/>
            <a:ext cx="8957548"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Screen Overview 01: The Splash Screen</a:t>
            </a:r>
            <a:endParaRPr lang="en-US" sz="3850"/>
          </a:p>
        </p:txBody>
      </p:sp>
      <p:sp>
        <p:nvSpPr>
          <p:cNvPr id="3" name="Text 1"/>
          <p:cNvSpPr/>
          <p:nvPr/>
        </p:nvSpPr>
        <p:spPr>
          <a:xfrm>
            <a:off x="881063" y="2382083"/>
            <a:ext cx="12868275"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The SafePlay splash screen is the user's initial point of contact with the application, serving as a critical element in establishing brand identity and ensuring a smooth user onboarding experience.</a:t>
            </a:r>
            <a:endParaRPr lang="en-US" sz="1700"/>
          </a:p>
        </p:txBody>
      </p:sp>
      <p:sp>
        <p:nvSpPr>
          <p:cNvPr id="4" name="Shape 2"/>
          <p:cNvSpPr/>
          <p:nvPr/>
        </p:nvSpPr>
        <p:spPr>
          <a:xfrm>
            <a:off x="881063" y="3334703"/>
            <a:ext cx="12868275" cy="3565208"/>
          </a:xfrm>
          <a:prstGeom prst="roundRect">
            <a:avLst>
              <a:gd name="adj" fmla="val 9269"/>
            </a:avLst>
          </a:prstGeom>
          <a:solidFill>
            <a:srgbClr val="0A081B"/>
          </a:solidFill>
          <a:ln w="22860">
            <a:solidFill>
              <a:srgbClr val="16FFBB"/>
            </a:solidFill>
            <a:prstDash val="solid"/>
          </a:ln>
        </p:spPr>
        <p:txBody>
          <a:bodyPr/>
          <a:lstStyle/>
          <a:p/>
        </p:txBody>
      </p:sp>
      <p:sp>
        <p:nvSpPr>
          <p:cNvPr id="5" name="Shape 3"/>
          <p:cNvSpPr/>
          <p:nvPr/>
        </p:nvSpPr>
        <p:spPr>
          <a:xfrm>
            <a:off x="903923" y="3357563"/>
            <a:ext cx="6411278" cy="1583531"/>
          </a:xfrm>
          <a:prstGeom prst="roundRect">
            <a:avLst>
              <a:gd name="adj" fmla="val 20867"/>
            </a:avLst>
          </a:prstGeom>
          <a:solidFill>
            <a:srgbClr val="0A081B"/>
          </a:solidFill>
        </p:spPr>
        <p:txBody>
          <a:bodyPr/>
          <a:lstStyle/>
          <a:p/>
        </p:txBody>
      </p:sp>
      <p:sp>
        <p:nvSpPr>
          <p:cNvPr id="6" name="Text 4"/>
          <p:cNvSpPr/>
          <p:nvPr/>
        </p:nvSpPr>
        <p:spPr>
          <a:xfrm>
            <a:off x="1124188" y="3577828"/>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Brand Identity</a:t>
            </a:r>
            <a:endParaRPr lang="en-US" sz="1900"/>
          </a:p>
        </p:txBody>
      </p:sp>
      <p:sp>
        <p:nvSpPr>
          <p:cNvPr id="7" name="Text 5"/>
          <p:cNvSpPr/>
          <p:nvPr/>
        </p:nvSpPr>
        <p:spPr>
          <a:xfrm>
            <a:off x="1124188" y="4015978"/>
            <a:ext cx="5970746"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Displays the animated SafePlay logo or video, instantly communicating the application's modern and secure aesthetic.</a:t>
            </a:r>
            <a:endParaRPr lang="en-US" sz="1700"/>
          </a:p>
        </p:txBody>
      </p:sp>
      <p:sp>
        <p:nvSpPr>
          <p:cNvPr id="8" name="Shape 6"/>
          <p:cNvSpPr/>
          <p:nvPr/>
        </p:nvSpPr>
        <p:spPr>
          <a:xfrm>
            <a:off x="7315200" y="3357563"/>
            <a:ext cx="6411278" cy="1583531"/>
          </a:xfrm>
          <a:prstGeom prst="rect">
            <a:avLst/>
          </a:prstGeom>
          <a:solidFill>
            <a:srgbClr val="0A081B"/>
          </a:solidFill>
        </p:spPr>
        <p:txBody>
          <a:bodyPr/>
          <a:lstStyle/>
          <a:p/>
        </p:txBody>
      </p:sp>
      <p:sp>
        <p:nvSpPr>
          <p:cNvPr id="9" name="Shape 7"/>
          <p:cNvSpPr/>
          <p:nvPr/>
        </p:nvSpPr>
        <p:spPr>
          <a:xfrm>
            <a:off x="7315200" y="3357563"/>
            <a:ext cx="30480" cy="1583531"/>
          </a:xfrm>
          <a:prstGeom prst="roundRect">
            <a:avLst>
              <a:gd name="adj" fmla="val 1084131"/>
            </a:avLst>
          </a:prstGeom>
          <a:solidFill>
            <a:srgbClr val="0FC3C0"/>
          </a:solidFill>
        </p:spPr>
        <p:txBody>
          <a:bodyPr/>
          <a:lstStyle/>
          <a:p/>
        </p:txBody>
      </p:sp>
      <p:sp>
        <p:nvSpPr>
          <p:cNvPr id="10" name="Text 8"/>
          <p:cNvSpPr/>
          <p:nvPr/>
        </p:nvSpPr>
        <p:spPr>
          <a:xfrm>
            <a:off x="7535466" y="3577828"/>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Resource Loading</a:t>
            </a:r>
            <a:endParaRPr lang="en-US" sz="1900"/>
          </a:p>
        </p:txBody>
      </p:sp>
      <p:sp>
        <p:nvSpPr>
          <p:cNvPr id="11" name="Text 9"/>
          <p:cNvSpPr/>
          <p:nvPr/>
        </p:nvSpPr>
        <p:spPr>
          <a:xfrm>
            <a:off x="7535466" y="4015978"/>
            <a:ext cx="5970746"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Efficiently loads essential application resources in the background, preparing the app for full functionality.</a:t>
            </a:r>
            <a:endParaRPr lang="en-US" sz="1700"/>
          </a:p>
        </p:txBody>
      </p:sp>
      <p:sp>
        <p:nvSpPr>
          <p:cNvPr id="12" name="Shape 10"/>
          <p:cNvSpPr/>
          <p:nvPr/>
        </p:nvSpPr>
        <p:spPr>
          <a:xfrm>
            <a:off x="903923" y="4941094"/>
            <a:ext cx="6411278" cy="1935956"/>
          </a:xfrm>
          <a:prstGeom prst="rect">
            <a:avLst/>
          </a:prstGeom>
          <a:solidFill>
            <a:srgbClr val="0A081B"/>
          </a:solidFill>
        </p:spPr>
        <p:txBody>
          <a:bodyPr/>
          <a:lstStyle/>
          <a:p/>
        </p:txBody>
      </p:sp>
      <p:sp>
        <p:nvSpPr>
          <p:cNvPr id="13" name="Shape 11"/>
          <p:cNvSpPr/>
          <p:nvPr/>
        </p:nvSpPr>
        <p:spPr>
          <a:xfrm>
            <a:off x="903923" y="4941094"/>
            <a:ext cx="6411278" cy="30480"/>
          </a:xfrm>
          <a:prstGeom prst="roundRect">
            <a:avLst>
              <a:gd name="adj" fmla="val 1084131"/>
            </a:avLst>
          </a:prstGeom>
          <a:solidFill>
            <a:srgbClr val="1D8DCD"/>
          </a:solidFill>
        </p:spPr>
        <p:txBody>
          <a:bodyPr/>
          <a:lstStyle/>
          <a:p/>
        </p:txBody>
      </p:sp>
      <p:sp>
        <p:nvSpPr>
          <p:cNvPr id="14" name="Text 12"/>
          <p:cNvSpPr/>
          <p:nvPr/>
        </p:nvSpPr>
        <p:spPr>
          <a:xfrm>
            <a:off x="1124188" y="5161359"/>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Smooth Transition</a:t>
            </a:r>
            <a:endParaRPr lang="en-US" sz="1900"/>
          </a:p>
        </p:txBody>
      </p:sp>
      <p:sp>
        <p:nvSpPr>
          <p:cNvPr id="15" name="Text 13"/>
          <p:cNvSpPr/>
          <p:nvPr/>
        </p:nvSpPr>
        <p:spPr>
          <a:xfrm>
            <a:off x="1124188" y="5599509"/>
            <a:ext cx="5970746"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Ensures a seamless and visually appealing transition from launch to the primary login or signup flow, minimising user wait times.</a:t>
            </a:r>
            <a:endParaRPr lang="en-US" sz="1700"/>
          </a:p>
        </p:txBody>
      </p:sp>
      <p:sp>
        <p:nvSpPr>
          <p:cNvPr id="16" name="Shape 14"/>
          <p:cNvSpPr/>
          <p:nvPr/>
        </p:nvSpPr>
        <p:spPr>
          <a:xfrm>
            <a:off x="7315200" y="4941094"/>
            <a:ext cx="6411278" cy="1935956"/>
          </a:xfrm>
          <a:prstGeom prst="rect">
            <a:avLst/>
          </a:prstGeom>
          <a:solidFill>
            <a:srgbClr val="0A081B"/>
          </a:solidFill>
        </p:spPr>
        <p:txBody>
          <a:bodyPr/>
          <a:lstStyle/>
          <a:p/>
        </p:txBody>
      </p:sp>
      <p:sp>
        <p:nvSpPr>
          <p:cNvPr id="17" name="Shape 15"/>
          <p:cNvSpPr/>
          <p:nvPr/>
        </p:nvSpPr>
        <p:spPr>
          <a:xfrm>
            <a:off x="7315200" y="4941094"/>
            <a:ext cx="30480" cy="1935956"/>
          </a:xfrm>
          <a:prstGeom prst="roundRect">
            <a:avLst>
              <a:gd name="adj" fmla="val 1084131"/>
            </a:avLst>
          </a:prstGeom>
          <a:solidFill>
            <a:srgbClr val="222B4A"/>
          </a:solidFill>
        </p:spPr>
        <p:txBody>
          <a:bodyPr/>
          <a:lstStyle/>
          <a:p/>
        </p:txBody>
      </p:sp>
      <p:sp>
        <p:nvSpPr>
          <p:cNvPr id="18" name="Shape 16"/>
          <p:cNvSpPr/>
          <p:nvPr/>
        </p:nvSpPr>
        <p:spPr>
          <a:xfrm>
            <a:off x="7315200" y="4941094"/>
            <a:ext cx="6411278" cy="30480"/>
          </a:xfrm>
          <a:prstGeom prst="roundRect">
            <a:avLst>
              <a:gd name="adj" fmla="val 1084131"/>
            </a:avLst>
          </a:prstGeom>
          <a:solidFill>
            <a:srgbClr val="222B4A"/>
          </a:solidFill>
        </p:spPr>
        <p:txBody>
          <a:bodyPr/>
          <a:lstStyle/>
          <a:p/>
        </p:txBody>
      </p:sp>
      <p:sp>
        <p:nvSpPr>
          <p:cNvPr id="19" name="Text 17"/>
          <p:cNvSpPr/>
          <p:nvPr/>
        </p:nvSpPr>
        <p:spPr>
          <a:xfrm>
            <a:off x="7535466" y="5161359"/>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Aesthetic Alignment</a:t>
            </a:r>
            <a:endParaRPr lang="en-US" sz="1900"/>
          </a:p>
        </p:txBody>
      </p:sp>
      <p:sp>
        <p:nvSpPr>
          <p:cNvPr id="20" name="Text 18"/>
          <p:cNvSpPr/>
          <p:nvPr/>
        </p:nvSpPr>
        <p:spPr>
          <a:xfrm>
            <a:off x="7535466" y="5599509"/>
            <a:ext cx="5970746"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Designed with a clean, contemporary aesthetic, the splash screen stylistically aligns with SafePlay’s distinctive neon theme, setting the tone for the entire user interface.</a:t>
            </a:r>
            <a:endParaRPr lang="en-US" sz="1700"/>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9">
    <p:spTree>
      <p:nvGrpSpPr>
        <p:cNvPr id="1" name=""/>
        <p:cNvGrpSpPr/>
        <p:nvPr/>
      </p:nvGrpSpPr>
      <p:grpSpPr>
        <a:xfrm>
          <a:off x="0" y="0"/>
          <a:ext cx="0" cy="0"/>
        </a:xfrm>
      </p:grpSpPr>
      <p:sp>
        <p:nvSpPr>
          <p:cNvPr id="2" name="Text 0"/>
          <p:cNvSpPr/>
          <p:nvPr/>
        </p:nvSpPr>
        <p:spPr>
          <a:xfrm>
            <a:off x="881063" y="913567"/>
            <a:ext cx="10805993"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Screen Overview 02: User Registration (Signup)</a:t>
            </a:r>
            <a:endParaRPr lang="en-US" sz="3850"/>
          </a:p>
        </p:txBody>
      </p:sp>
      <p:sp>
        <p:nvSpPr>
          <p:cNvPr id="3" name="Text 1"/>
          <p:cNvSpPr/>
          <p:nvPr/>
        </p:nvSpPr>
        <p:spPr>
          <a:xfrm>
            <a:off x="881063" y="1966079"/>
            <a:ext cx="12868275"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The registration process in SafePlay is designed to be both straightforward and highly secure, ensuring that new users can create accounts with confidence while maintaining robust authentication standards.</a:t>
            </a:r>
            <a:endParaRPr lang="en-US" sz="1700"/>
          </a:p>
        </p:txBody>
      </p:sp>
      <p:sp>
        <p:nvSpPr>
          <p:cNvPr id="4" name="Text 2"/>
          <p:cNvSpPr/>
          <p:nvPr/>
        </p:nvSpPr>
        <p:spPr>
          <a:xfrm>
            <a:off x="881063" y="3138964"/>
            <a:ext cx="3028355" cy="305991"/>
          </a:xfrm>
          <a:prstGeom prst="rect">
            <a:avLst/>
          </a:prstGeom>
          <a:noFill/>
        </p:spPr>
        <p:txBody>
          <a:bodyPr wrap="none" lIns="0" tIns="0" rIns="0" bIns="0" rtlCol="0" anchor="t"/>
          <a:lstStyle/>
          <a:p>
            <a:pPr marL="0" indent="0" algn="l">
              <a:lnSpc>
                <a:spcPts val="2400"/>
              </a:lnSpc>
              <a:buNone/>
            </a:pPr>
            <a:r>
              <a:rPr lang="en-US" sz="1900" b="1">
                <a:solidFill>
                  <a:srgbClr val="F0FCFF"/>
                </a:solidFill>
                <a:latin typeface="Spline Sans Bold" pitchFamily="34" charset="0"/>
                <a:ea typeface="Spline Sans Bold" pitchFamily="34" charset="-122"/>
                <a:cs typeface="Spline Sans Bold" pitchFamily="34" charset="-120"/>
              </a:rPr>
              <a:t>Required User Information</a:t>
            </a:r>
            <a:endParaRPr lang="en-US" sz="1900"/>
          </a:p>
        </p:txBody>
      </p:sp>
      <p:sp>
        <p:nvSpPr>
          <p:cNvPr id="5" name="Text 3"/>
          <p:cNvSpPr/>
          <p:nvPr/>
        </p:nvSpPr>
        <p:spPr>
          <a:xfrm>
            <a:off x="881063" y="3665220"/>
            <a:ext cx="6165413" cy="352425"/>
          </a:xfrm>
          <a:prstGeom prst="rect">
            <a:avLst/>
          </a:prstGeom>
          <a:noFill/>
        </p:spPr>
        <p:txBody>
          <a:bodyPr wrap="non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Users are prompted to enter their </a:t>
            </a:r>
            <a:r>
              <a:rPr lang="en-US" sz="1700">
                <a:solidFill>
                  <a:srgbClr val="16FFBB"/>
                </a:solidFill>
                <a:latin typeface="Barlow" pitchFamily="34" charset="0"/>
                <a:ea typeface="Barlow" pitchFamily="34" charset="-122"/>
                <a:cs typeface="Barlow" pitchFamily="34" charset="-120"/>
              </a:rPr>
              <a:t>email address</a:t>
            </a:r>
            <a:r>
              <a:rPr lang="en-US" sz="1700">
                <a:solidFill>
                  <a:srgbClr val="E0E4E6"/>
                </a:solidFill>
                <a:latin typeface="Barlow" pitchFamily="34" charset="0"/>
                <a:ea typeface="Barlow" pitchFamily="34" charset="-122"/>
                <a:cs typeface="Barlow" pitchFamily="34" charset="-120"/>
              </a:rPr>
              <a:t>.</a:t>
            </a:r>
            <a:endParaRPr lang="en-US" sz="1700"/>
          </a:p>
        </p:txBody>
      </p:sp>
      <p:sp>
        <p:nvSpPr>
          <p:cNvPr id="6" name="Text 4"/>
          <p:cNvSpPr/>
          <p:nvPr/>
        </p:nvSpPr>
        <p:spPr>
          <a:xfrm>
            <a:off x="881063" y="4094678"/>
            <a:ext cx="6165413" cy="352425"/>
          </a:xfrm>
          <a:prstGeom prst="rect">
            <a:avLst/>
          </a:prstGeom>
          <a:noFill/>
        </p:spPr>
        <p:txBody>
          <a:bodyPr wrap="non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A valid </a:t>
            </a:r>
            <a:r>
              <a:rPr lang="en-US" sz="1700">
                <a:solidFill>
                  <a:srgbClr val="16FFBB"/>
                </a:solidFill>
                <a:latin typeface="Barlow" pitchFamily="34" charset="0"/>
                <a:ea typeface="Barlow" pitchFamily="34" charset="-122"/>
                <a:cs typeface="Barlow" pitchFamily="34" charset="-120"/>
              </a:rPr>
              <a:t>phone number</a:t>
            </a:r>
            <a:r>
              <a:rPr lang="en-US" sz="1700">
                <a:solidFill>
                  <a:srgbClr val="E0E4E6"/>
                </a:solidFill>
                <a:latin typeface="Barlow" pitchFamily="34" charset="0"/>
                <a:ea typeface="Barlow" pitchFamily="34" charset="-122"/>
                <a:cs typeface="Barlow" pitchFamily="34" charset="-120"/>
              </a:rPr>
              <a:t> is required for contact and verification.</a:t>
            </a:r>
            <a:endParaRPr lang="en-US" sz="1700"/>
          </a:p>
        </p:txBody>
      </p:sp>
      <p:sp>
        <p:nvSpPr>
          <p:cNvPr id="7" name="Text 5"/>
          <p:cNvSpPr/>
          <p:nvPr/>
        </p:nvSpPr>
        <p:spPr>
          <a:xfrm>
            <a:off x="881063" y="4524137"/>
            <a:ext cx="6165413" cy="352425"/>
          </a:xfrm>
          <a:prstGeom prst="rect">
            <a:avLst/>
          </a:prstGeom>
          <a:noFill/>
        </p:spPr>
        <p:txBody>
          <a:bodyPr wrap="non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A secure </a:t>
            </a:r>
            <a:r>
              <a:rPr lang="en-US" sz="1700">
                <a:solidFill>
                  <a:srgbClr val="16FFBB"/>
                </a:solidFill>
                <a:latin typeface="Barlow" pitchFamily="34" charset="0"/>
                <a:ea typeface="Barlow" pitchFamily="34" charset="-122"/>
                <a:cs typeface="Barlow" pitchFamily="34" charset="-120"/>
              </a:rPr>
              <a:t>password</a:t>
            </a:r>
            <a:r>
              <a:rPr lang="en-US" sz="1700">
                <a:solidFill>
                  <a:srgbClr val="E0E4E6"/>
                </a:solidFill>
                <a:latin typeface="Barlow" pitchFamily="34" charset="0"/>
                <a:ea typeface="Barlow" pitchFamily="34" charset="-122"/>
                <a:cs typeface="Barlow" pitchFamily="34" charset="-120"/>
              </a:rPr>
              <a:t> must be created to protect the account.</a:t>
            </a:r>
            <a:endParaRPr lang="en-US" sz="1700"/>
          </a:p>
        </p:txBody>
      </p:sp>
      <p:sp>
        <p:nvSpPr>
          <p:cNvPr id="8" name="Text 6"/>
          <p:cNvSpPr/>
          <p:nvPr/>
        </p:nvSpPr>
        <p:spPr>
          <a:xfrm>
            <a:off x="7591544" y="3138964"/>
            <a:ext cx="2935605" cy="305991"/>
          </a:xfrm>
          <a:prstGeom prst="rect">
            <a:avLst/>
          </a:prstGeom>
          <a:noFill/>
        </p:spPr>
        <p:txBody>
          <a:bodyPr wrap="none" lIns="0" tIns="0" rIns="0" bIns="0" rtlCol="0" anchor="t"/>
          <a:lstStyle/>
          <a:p>
            <a:pPr marL="0" indent="0" algn="l">
              <a:lnSpc>
                <a:spcPts val="2400"/>
              </a:lnSpc>
              <a:buNone/>
            </a:pPr>
            <a:r>
              <a:rPr lang="en-US" sz="1900" b="1">
                <a:solidFill>
                  <a:srgbClr val="F0FCFF"/>
                </a:solidFill>
                <a:latin typeface="Spline Sans Bold" pitchFamily="34" charset="0"/>
                <a:ea typeface="Spline Sans Bold" pitchFamily="34" charset="-122"/>
                <a:cs typeface="Spline Sans Bold" pitchFamily="34" charset="-120"/>
              </a:rPr>
              <a:t>Secure Onboarding Steps</a:t>
            </a:r>
            <a:endParaRPr lang="en-US" sz="1900"/>
          </a:p>
        </p:txBody>
      </p:sp>
      <p:sp>
        <p:nvSpPr>
          <p:cNvPr id="9" name="Text 7"/>
          <p:cNvSpPr/>
          <p:nvPr/>
        </p:nvSpPr>
        <p:spPr>
          <a:xfrm>
            <a:off x="7591544" y="3665220"/>
            <a:ext cx="6165413" cy="704850"/>
          </a:xfrm>
          <a:prstGeom prst="rect">
            <a:avLst/>
          </a:prstGeom>
          <a:noFill/>
        </p:spPr>
        <p:txBody>
          <a:bodyPr wrap="square" lIns="0" tIns="0" rIns="0" bIns="0" rtlCol="0" anchor="t"/>
          <a:lstStyle/>
          <a:p>
            <a:pPr marL="0" indent="0" algn="l">
              <a:lnSpc>
                <a:spcPts val="2750"/>
              </a:lnSpc>
              <a:buNone/>
            </a:pPr>
            <a:r>
              <a:rPr lang="en-US" sz="1700">
                <a:solidFill>
                  <a:srgbClr val="16FFBB"/>
                </a:solidFill>
                <a:latin typeface="Barlow" pitchFamily="34" charset="0"/>
                <a:ea typeface="Barlow" pitchFamily="34" charset="-122"/>
                <a:cs typeface="Barlow" pitchFamily="34" charset="-120"/>
              </a:rPr>
              <a:t>OTP (One-Time Password) verification</a:t>
            </a:r>
            <a:r>
              <a:rPr lang="en-US" sz="1700">
                <a:solidFill>
                  <a:srgbClr val="E0E4E6"/>
                </a:solidFill>
                <a:latin typeface="Barlow" pitchFamily="34" charset="0"/>
                <a:ea typeface="Barlow" pitchFamily="34" charset="-122"/>
                <a:cs typeface="Barlow" pitchFamily="34" charset="-120"/>
              </a:rPr>
              <a:t> is mandatory for the provided phone number, confirming user authenticity.</a:t>
            </a:r>
            <a:endParaRPr lang="en-US" sz="1700"/>
          </a:p>
        </p:txBody>
      </p:sp>
      <p:sp>
        <p:nvSpPr>
          <p:cNvPr id="10" name="Text 8"/>
          <p:cNvSpPr/>
          <p:nvPr/>
        </p:nvSpPr>
        <p:spPr>
          <a:xfrm>
            <a:off x="7591544" y="4447103"/>
            <a:ext cx="6165413" cy="704850"/>
          </a:xfrm>
          <a:prstGeom prst="rect">
            <a:avLst/>
          </a:prstGeom>
          <a:noFill/>
        </p:spPr>
        <p:txBody>
          <a:bodyPr wrap="square" lIns="0" tIns="0" rIns="0" bIns="0" rtlCol="0" anchor="t"/>
          <a:lstStyle/>
          <a:p>
            <a:pPr marL="0" indent="0" algn="l">
              <a:lnSpc>
                <a:spcPts val="2750"/>
              </a:lnSpc>
              <a:buNone/>
            </a:pPr>
            <a:r>
              <a:rPr lang="en-US" sz="1700">
                <a:solidFill>
                  <a:srgbClr val="16FFBB"/>
                </a:solidFill>
                <a:latin typeface="Barlow" pitchFamily="34" charset="0"/>
                <a:ea typeface="Barlow" pitchFamily="34" charset="-122"/>
                <a:cs typeface="Barlow" pitchFamily="34" charset="-120"/>
              </a:rPr>
              <a:t>Email verification</a:t>
            </a:r>
            <a:r>
              <a:rPr lang="en-US" sz="1700">
                <a:solidFill>
                  <a:srgbClr val="E0E4E6"/>
                </a:solidFill>
                <a:latin typeface="Barlow" pitchFamily="34" charset="0"/>
                <a:ea typeface="Barlow" pitchFamily="34" charset="-122"/>
                <a:cs typeface="Barlow" pitchFamily="34" charset="-120"/>
              </a:rPr>
              <a:t> must be completed before a new user can successfully log in, adding an additional layer of security.</a:t>
            </a:r>
            <a:endParaRPr lang="en-US" sz="1700"/>
          </a:p>
        </p:txBody>
      </p:sp>
      <p:sp>
        <p:nvSpPr>
          <p:cNvPr id="11" name="Text 9"/>
          <p:cNvSpPr/>
          <p:nvPr/>
        </p:nvSpPr>
        <p:spPr>
          <a:xfrm>
            <a:off x="7591544" y="5228987"/>
            <a:ext cx="6165413"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Upon successful registration, essential user details (email, phone, and a default 'user' role) are securely stored within </a:t>
            </a:r>
            <a:r>
              <a:rPr lang="en-US" sz="1700">
                <a:solidFill>
                  <a:srgbClr val="16FFBB"/>
                </a:solidFill>
                <a:latin typeface="Barlow" pitchFamily="34" charset="0"/>
                <a:ea typeface="Barlow" pitchFamily="34" charset="-122"/>
                <a:cs typeface="Barlow" pitchFamily="34" charset="-120"/>
              </a:rPr>
              <a:t>Firestore</a:t>
            </a:r>
            <a:r>
              <a:rPr lang="en-US" sz="1700">
                <a:solidFill>
                  <a:srgbClr val="E0E4E6"/>
                </a:solidFill>
                <a:latin typeface="Barlow" pitchFamily="34" charset="0"/>
                <a:ea typeface="Barlow" pitchFamily="34" charset="-122"/>
                <a:cs typeface="Barlow" pitchFamily="34" charset="-120"/>
              </a:rPr>
              <a:t>.</a:t>
            </a:r>
            <a:endParaRPr lang="en-US" sz="1700"/>
          </a:p>
        </p:txBody>
      </p:sp>
      <p:sp>
        <p:nvSpPr>
          <p:cNvPr id="12" name="Text 10"/>
          <p:cNvSpPr/>
          <p:nvPr/>
        </p:nvSpPr>
        <p:spPr>
          <a:xfrm>
            <a:off x="881063" y="6611064"/>
            <a:ext cx="12868275"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This multi-step verification process guarantees secure onboarding and reinforces account authenticity from the outset, protecting both the user and the platform.</a:t>
            </a:r>
            <a:endParaRPr lang="en-US" sz="1700"/>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10">
    <p:spTree>
      <p:nvGrpSpPr>
        <p:cNvPr id="1" name=""/>
        <p:cNvGrpSpPr/>
        <p:nvPr/>
      </p:nvGrpSpPr>
      <p:grpSpPr>
        <a:xfrm>
          <a:off x="0" y="0"/>
          <a:ext cx="0" cy="0"/>
        </a:xfrm>
      </p:grpSpPr>
      <p:sp>
        <p:nvSpPr>
          <p:cNvPr id="2" name="Text 0"/>
          <p:cNvSpPr/>
          <p:nvPr/>
        </p:nvSpPr>
        <p:spPr>
          <a:xfrm>
            <a:off x="834033" y="581382"/>
            <a:ext cx="8486299" cy="579239"/>
          </a:xfrm>
          <a:prstGeom prst="rect">
            <a:avLst/>
          </a:prstGeom>
          <a:noFill/>
        </p:spPr>
        <p:txBody>
          <a:bodyPr wrap="none" lIns="0" tIns="0" rIns="0" bIns="0" rtlCol="0" anchor="t"/>
          <a:lstStyle/>
          <a:p>
            <a:pPr marL="0" indent="0" algn="l">
              <a:lnSpc>
                <a:spcPts val="4550"/>
              </a:lnSpc>
              <a:buNone/>
            </a:pPr>
            <a:r>
              <a:rPr lang="en-US" sz="3600" b="1">
                <a:solidFill>
                  <a:srgbClr val="F0FCFF"/>
                </a:solidFill>
                <a:latin typeface="Spline Sans Bold" pitchFamily="34" charset="0"/>
                <a:ea typeface="Spline Sans Bold" pitchFamily="34" charset="-122"/>
                <a:cs typeface="Spline Sans Bold" pitchFamily="34" charset="-120"/>
              </a:rPr>
              <a:t>Screen Overview 03: Secure User Login</a:t>
            </a:r>
            <a:endParaRPr lang="en-US" sz="3600"/>
          </a:p>
        </p:txBody>
      </p:sp>
      <p:sp>
        <p:nvSpPr>
          <p:cNvPr id="3" name="Text 1"/>
          <p:cNvSpPr/>
          <p:nvPr/>
        </p:nvSpPr>
        <p:spPr>
          <a:xfrm>
            <a:off x="834033" y="1577578"/>
            <a:ext cx="12962334" cy="666988"/>
          </a:xfrm>
          <a:prstGeom prst="rect">
            <a:avLst/>
          </a:prstGeom>
          <a:noFill/>
        </p:spPr>
        <p:txBody>
          <a:bodyPr wrap="square" lIns="0" tIns="0" rIns="0" bIns="0" rtlCol="0" anchor="t"/>
          <a:lstStyle/>
          <a:p>
            <a:pPr marL="0" indent="0" algn="l">
              <a:lnSpc>
                <a:spcPts val="2600"/>
              </a:lnSpc>
              <a:buNone/>
            </a:pPr>
            <a:r>
              <a:rPr lang="en-US" sz="1600">
                <a:solidFill>
                  <a:srgbClr val="E0E4E6"/>
                </a:solidFill>
                <a:latin typeface="Barlow" pitchFamily="34" charset="0"/>
                <a:ea typeface="Barlow" pitchFamily="34" charset="-122"/>
                <a:cs typeface="Barlow" pitchFamily="34" charset="-120"/>
              </a:rPr>
              <a:t>The login screen for SafePlay is meticulously designed to provide returning users with a secure and efficient access point to their accounts, incorporating essential security checks and seamless transitions.</a:t>
            </a:r>
            <a:endParaRPr lang="en-US" sz="1600"/>
          </a:p>
        </p:txBody>
      </p:sp>
      <p:sp>
        <p:nvSpPr>
          <p:cNvPr id="4" name="Shape 2"/>
          <p:cNvSpPr/>
          <p:nvPr/>
        </p:nvSpPr>
        <p:spPr>
          <a:xfrm>
            <a:off x="834033" y="2791778"/>
            <a:ext cx="6376868" cy="2167652"/>
          </a:xfrm>
          <a:prstGeom prst="roundRect">
            <a:avLst>
              <a:gd name="adj" fmla="val 5062"/>
            </a:avLst>
          </a:prstGeom>
          <a:solidFill>
            <a:srgbClr val="0A081B">
              <a:alpha val="75000"/>
            </a:srgbClr>
          </a:solidFill>
        </p:spPr>
        <p:txBody>
          <a:bodyPr/>
          <a:lstStyle/>
          <a:p/>
        </p:txBody>
      </p:sp>
      <p:sp>
        <p:nvSpPr>
          <p:cNvPr id="5" name="Shape 3"/>
          <p:cNvSpPr/>
          <p:nvPr/>
        </p:nvSpPr>
        <p:spPr>
          <a:xfrm>
            <a:off x="834033" y="2768918"/>
            <a:ext cx="6376868" cy="91440"/>
          </a:xfrm>
          <a:prstGeom prst="roundRect">
            <a:avLst>
              <a:gd name="adj" fmla="val 342057"/>
            </a:avLst>
          </a:prstGeom>
          <a:solidFill>
            <a:srgbClr val="16FFBB"/>
          </a:solidFill>
        </p:spPr>
        <p:txBody>
          <a:bodyPr/>
          <a:lstStyle/>
          <a:p/>
        </p:txBody>
      </p:sp>
      <p:sp>
        <p:nvSpPr>
          <p:cNvPr id="6" name="Shape 4"/>
          <p:cNvSpPr/>
          <p:nvPr/>
        </p:nvSpPr>
        <p:spPr>
          <a:xfrm>
            <a:off x="3709690" y="2479119"/>
            <a:ext cx="625435" cy="625435"/>
          </a:xfrm>
          <a:prstGeom prst="roundRect">
            <a:avLst>
              <a:gd name="adj" fmla="val 146202"/>
            </a:avLst>
          </a:prstGeom>
          <a:solidFill>
            <a:srgbClr val="16FFBB"/>
          </a:solidFill>
        </p:spPr>
        <p:txBody>
          <a:bodyPr/>
          <a:lstStyle/>
          <a:p/>
        </p:txBody>
      </p:sp>
      <p:sp>
        <p:nvSpPr>
          <p:cNvPr id="7" name="Text 5"/>
          <p:cNvSpPr/>
          <p:nvPr/>
        </p:nvSpPr>
        <p:spPr>
          <a:xfrm>
            <a:off x="3897332" y="2635448"/>
            <a:ext cx="250150" cy="312658"/>
          </a:xfrm>
          <a:prstGeom prst="rect">
            <a:avLst/>
          </a:prstGeom>
          <a:noFill/>
        </p:spPr>
        <p:txBody>
          <a:bodyPr wrap="none" lIns="0" tIns="0" rIns="0" bIns="0" rtlCol="0" anchor="t"/>
          <a:lstStyle/>
          <a:p>
            <a:pPr marL="0" indent="0" algn="l">
              <a:lnSpc>
                <a:spcPts val="3150"/>
              </a:lnSpc>
              <a:buNone/>
            </a:pPr>
            <a:r>
              <a:rPr lang="en-US" sz="1950" b="1">
                <a:solidFill>
                  <a:srgbClr val="000000"/>
                </a:solidFill>
                <a:latin typeface="Spline Sans Bold" pitchFamily="34" charset="0"/>
                <a:ea typeface="Spline Sans Bold" pitchFamily="34" charset="-122"/>
                <a:cs typeface="Spline Sans Bold" pitchFamily="34" charset="-120"/>
              </a:rPr>
              <a:t>1</a:t>
            </a:r>
            <a:endParaRPr lang="en-US" sz="1950"/>
          </a:p>
        </p:txBody>
      </p:sp>
      <p:sp>
        <p:nvSpPr>
          <p:cNvPr id="8" name="Text 6"/>
          <p:cNvSpPr/>
          <p:nvPr/>
        </p:nvSpPr>
        <p:spPr>
          <a:xfrm>
            <a:off x="1065371" y="3313033"/>
            <a:ext cx="2316837" cy="289560"/>
          </a:xfrm>
          <a:prstGeom prst="rect">
            <a:avLst/>
          </a:prstGeom>
          <a:noFill/>
        </p:spPr>
        <p:txBody>
          <a:bodyPr wrap="none" lIns="0" tIns="0" rIns="0" bIns="0" rtlCol="0" anchor="t"/>
          <a:lstStyle/>
          <a:p>
            <a:pPr marL="0" indent="0" algn="l">
              <a:lnSpc>
                <a:spcPts val="2250"/>
              </a:lnSpc>
              <a:buNone/>
            </a:pPr>
            <a:r>
              <a:rPr lang="en-US" sz="1800" b="1">
                <a:solidFill>
                  <a:srgbClr val="E0E4E6"/>
                </a:solidFill>
                <a:latin typeface="Spline Sans Bold" pitchFamily="34" charset="0"/>
                <a:ea typeface="Spline Sans Bold" pitchFamily="34" charset="-122"/>
                <a:cs typeface="Spline Sans Bold" pitchFamily="34" charset="-120"/>
              </a:rPr>
              <a:t>Credentials Input</a:t>
            </a:r>
            <a:endParaRPr lang="en-US" sz="1800"/>
          </a:p>
        </p:txBody>
      </p:sp>
      <p:sp>
        <p:nvSpPr>
          <p:cNvPr id="9" name="Text 7"/>
          <p:cNvSpPr/>
          <p:nvPr/>
        </p:nvSpPr>
        <p:spPr>
          <a:xfrm>
            <a:off x="1065371" y="3727609"/>
            <a:ext cx="5914192" cy="666988"/>
          </a:xfrm>
          <a:prstGeom prst="rect">
            <a:avLst/>
          </a:prstGeom>
          <a:noFill/>
        </p:spPr>
        <p:txBody>
          <a:bodyPr wrap="square" lIns="0" tIns="0" rIns="0" bIns="0" rtlCol="0" anchor="t"/>
          <a:lstStyle/>
          <a:p>
            <a:pPr marL="0" indent="0" algn="l">
              <a:lnSpc>
                <a:spcPts val="2600"/>
              </a:lnSpc>
              <a:buNone/>
            </a:pPr>
            <a:r>
              <a:rPr lang="en-US" sz="1600">
                <a:solidFill>
                  <a:srgbClr val="E0E4E6"/>
                </a:solidFill>
                <a:latin typeface="Barlow" pitchFamily="34" charset="0"/>
                <a:ea typeface="Barlow" pitchFamily="34" charset="-122"/>
                <a:cs typeface="Barlow" pitchFamily="34" charset="-120"/>
              </a:rPr>
              <a:t>Returning users are required to enter their registered email address and corresponding password to gain access.</a:t>
            </a:r>
            <a:endParaRPr lang="en-US" sz="1600"/>
          </a:p>
        </p:txBody>
      </p:sp>
      <p:sp>
        <p:nvSpPr>
          <p:cNvPr id="10" name="Shape 8"/>
          <p:cNvSpPr/>
          <p:nvPr/>
        </p:nvSpPr>
        <p:spPr>
          <a:xfrm>
            <a:off x="7419380" y="2791778"/>
            <a:ext cx="6376988" cy="2167652"/>
          </a:xfrm>
          <a:prstGeom prst="roundRect">
            <a:avLst>
              <a:gd name="adj" fmla="val 5062"/>
            </a:avLst>
          </a:prstGeom>
          <a:solidFill>
            <a:srgbClr val="0A081B">
              <a:alpha val="75000"/>
            </a:srgbClr>
          </a:solidFill>
        </p:spPr>
        <p:txBody>
          <a:bodyPr/>
          <a:lstStyle/>
          <a:p/>
        </p:txBody>
      </p:sp>
      <p:sp>
        <p:nvSpPr>
          <p:cNvPr id="11" name="Shape 9"/>
          <p:cNvSpPr/>
          <p:nvPr/>
        </p:nvSpPr>
        <p:spPr>
          <a:xfrm>
            <a:off x="7419380" y="2768918"/>
            <a:ext cx="6376988" cy="91440"/>
          </a:xfrm>
          <a:prstGeom prst="roundRect">
            <a:avLst>
              <a:gd name="adj" fmla="val 342057"/>
            </a:avLst>
          </a:prstGeom>
          <a:solidFill>
            <a:srgbClr val="29DDDA"/>
          </a:solidFill>
        </p:spPr>
        <p:txBody>
          <a:bodyPr/>
          <a:lstStyle/>
          <a:p/>
        </p:txBody>
      </p:sp>
      <p:sp>
        <p:nvSpPr>
          <p:cNvPr id="12" name="Shape 10"/>
          <p:cNvSpPr/>
          <p:nvPr/>
        </p:nvSpPr>
        <p:spPr>
          <a:xfrm>
            <a:off x="10295156" y="2479119"/>
            <a:ext cx="625435" cy="625435"/>
          </a:xfrm>
          <a:prstGeom prst="roundRect">
            <a:avLst>
              <a:gd name="adj" fmla="val 146202"/>
            </a:avLst>
          </a:prstGeom>
          <a:solidFill>
            <a:srgbClr val="16FFBB"/>
          </a:solidFill>
        </p:spPr>
        <p:txBody>
          <a:bodyPr/>
          <a:lstStyle/>
          <a:p/>
        </p:txBody>
      </p:sp>
      <p:sp>
        <p:nvSpPr>
          <p:cNvPr id="13" name="Text 11"/>
          <p:cNvSpPr/>
          <p:nvPr/>
        </p:nvSpPr>
        <p:spPr>
          <a:xfrm>
            <a:off x="10482798" y="2635448"/>
            <a:ext cx="250150" cy="312658"/>
          </a:xfrm>
          <a:prstGeom prst="rect">
            <a:avLst/>
          </a:prstGeom>
          <a:noFill/>
        </p:spPr>
        <p:txBody>
          <a:bodyPr wrap="none" lIns="0" tIns="0" rIns="0" bIns="0" rtlCol="0" anchor="t"/>
          <a:lstStyle/>
          <a:p>
            <a:pPr marL="0" indent="0" algn="l">
              <a:lnSpc>
                <a:spcPts val="3150"/>
              </a:lnSpc>
              <a:buNone/>
            </a:pPr>
            <a:r>
              <a:rPr lang="en-US" sz="1950" b="1">
                <a:solidFill>
                  <a:srgbClr val="000000"/>
                </a:solidFill>
                <a:latin typeface="Spline Sans Bold" pitchFamily="34" charset="0"/>
                <a:ea typeface="Spline Sans Bold" pitchFamily="34" charset="-122"/>
                <a:cs typeface="Spline Sans Bold" pitchFamily="34" charset="-120"/>
              </a:rPr>
              <a:t>2</a:t>
            </a:r>
            <a:endParaRPr lang="en-US" sz="1950"/>
          </a:p>
        </p:txBody>
      </p:sp>
      <p:sp>
        <p:nvSpPr>
          <p:cNvPr id="14" name="Text 12"/>
          <p:cNvSpPr/>
          <p:nvPr/>
        </p:nvSpPr>
        <p:spPr>
          <a:xfrm>
            <a:off x="7650718" y="3313033"/>
            <a:ext cx="2647831" cy="289560"/>
          </a:xfrm>
          <a:prstGeom prst="rect">
            <a:avLst/>
          </a:prstGeom>
          <a:noFill/>
        </p:spPr>
        <p:txBody>
          <a:bodyPr wrap="none" lIns="0" tIns="0" rIns="0" bIns="0" rtlCol="0" anchor="t"/>
          <a:lstStyle/>
          <a:p>
            <a:pPr marL="0" indent="0" algn="l">
              <a:lnSpc>
                <a:spcPts val="2250"/>
              </a:lnSpc>
              <a:buNone/>
            </a:pPr>
            <a:r>
              <a:rPr lang="en-US" sz="1800" b="1">
                <a:solidFill>
                  <a:srgbClr val="E0E4E6"/>
                </a:solidFill>
                <a:latin typeface="Spline Sans Bold" pitchFamily="34" charset="0"/>
                <a:ea typeface="Spline Sans Bold" pitchFamily="34" charset="-122"/>
                <a:cs typeface="Spline Sans Bold" pitchFamily="34" charset="-120"/>
              </a:rPr>
              <a:t>Email Verification Check</a:t>
            </a:r>
            <a:endParaRPr lang="en-US" sz="1800"/>
          </a:p>
        </p:txBody>
      </p:sp>
      <p:sp>
        <p:nvSpPr>
          <p:cNvPr id="15" name="Text 13"/>
          <p:cNvSpPr/>
          <p:nvPr/>
        </p:nvSpPr>
        <p:spPr>
          <a:xfrm>
            <a:off x="7650718" y="3727609"/>
            <a:ext cx="5914311" cy="1000482"/>
          </a:xfrm>
          <a:prstGeom prst="rect">
            <a:avLst/>
          </a:prstGeom>
          <a:noFill/>
        </p:spPr>
        <p:txBody>
          <a:bodyPr wrap="square" lIns="0" tIns="0" rIns="0" bIns="0" rtlCol="0" anchor="t"/>
          <a:lstStyle/>
          <a:p>
            <a:pPr marL="0" indent="0" algn="l">
              <a:lnSpc>
                <a:spcPts val="2600"/>
              </a:lnSpc>
              <a:buNone/>
            </a:pPr>
            <a:r>
              <a:rPr lang="en-US" sz="1600">
                <a:solidFill>
                  <a:srgbClr val="E0E4E6"/>
                </a:solidFill>
                <a:latin typeface="Barlow" pitchFamily="34" charset="0"/>
                <a:ea typeface="Barlow" pitchFamily="34" charset="-122"/>
                <a:cs typeface="Barlow" pitchFamily="34" charset="-120"/>
              </a:rPr>
              <a:t>Prior to granting full access, the system performs an automatic check to ensure that the user's email has been successfully verified.</a:t>
            </a:r>
            <a:endParaRPr lang="en-US" sz="1600"/>
          </a:p>
        </p:txBody>
      </p:sp>
      <p:sp>
        <p:nvSpPr>
          <p:cNvPr id="16" name="Shape 14"/>
          <p:cNvSpPr/>
          <p:nvPr/>
        </p:nvSpPr>
        <p:spPr>
          <a:xfrm>
            <a:off x="834033" y="5480566"/>
            <a:ext cx="6376868" cy="2167652"/>
          </a:xfrm>
          <a:prstGeom prst="roundRect">
            <a:avLst>
              <a:gd name="adj" fmla="val 5062"/>
            </a:avLst>
          </a:prstGeom>
          <a:solidFill>
            <a:srgbClr val="0A081B">
              <a:alpha val="75000"/>
            </a:srgbClr>
          </a:solidFill>
        </p:spPr>
        <p:txBody>
          <a:bodyPr/>
          <a:lstStyle/>
          <a:p/>
        </p:txBody>
      </p:sp>
      <p:sp>
        <p:nvSpPr>
          <p:cNvPr id="17" name="Shape 15"/>
          <p:cNvSpPr/>
          <p:nvPr/>
        </p:nvSpPr>
        <p:spPr>
          <a:xfrm>
            <a:off x="834033" y="5457706"/>
            <a:ext cx="6376868" cy="91440"/>
          </a:xfrm>
          <a:prstGeom prst="roundRect">
            <a:avLst>
              <a:gd name="adj" fmla="val 342057"/>
            </a:avLst>
          </a:prstGeom>
          <a:solidFill>
            <a:srgbClr val="37A7E7"/>
          </a:solidFill>
        </p:spPr>
        <p:txBody>
          <a:bodyPr/>
          <a:lstStyle/>
          <a:p/>
        </p:txBody>
      </p:sp>
      <p:sp>
        <p:nvSpPr>
          <p:cNvPr id="18" name="Shape 16"/>
          <p:cNvSpPr/>
          <p:nvPr/>
        </p:nvSpPr>
        <p:spPr>
          <a:xfrm>
            <a:off x="3709690" y="5167908"/>
            <a:ext cx="625435" cy="625435"/>
          </a:xfrm>
          <a:prstGeom prst="roundRect">
            <a:avLst>
              <a:gd name="adj" fmla="val 146202"/>
            </a:avLst>
          </a:prstGeom>
          <a:solidFill>
            <a:srgbClr val="16FFBB"/>
          </a:solidFill>
        </p:spPr>
        <p:txBody>
          <a:bodyPr/>
          <a:lstStyle/>
          <a:p/>
        </p:txBody>
      </p:sp>
      <p:sp>
        <p:nvSpPr>
          <p:cNvPr id="19" name="Text 17"/>
          <p:cNvSpPr/>
          <p:nvPr/>
        </p:nvSpPr>
        <p:spPr>
          <a:xfrm>
            <a:off x="3897332" y="5324237"/>
            <a:ext cx="250150" cy="312658"/>
          </a:xfrm>
          <a:prstGeom prst="rect">
            <a:avLst/>
          </a:prstGeom>
          <a:noFill/>
        </p:spPr>
        <p:txBody>
          <a:bodyPr wrap="none" lIns="0" tIns="0" rIns="0" bIns="0" rtlCol="0" anchor="t"/>
          <a:lstStyle/>
          <a:p>
            <a:pPr marL="0" indent="0" algn="l">
              <a:lnSpc>
                <a:spcPts val="3150"/>
              </a:lnSpc>
              <a:buNone/>
            </a:pPr>
            <a:r>
              <a:rPr lang="en-US" sz="1950" b="1">
                <a:solidFill>
                  <a:srgbClr val="000000"/>
                </a:solidFill>
                <a:latin typeface="Spline Sans Bold" pitchFamily="34" charset="0"/>
                <a:ea typeface="Spline Sans Bold" pitchFamily="34" charset="-122"/>
                <a:cs typeface="Spline Sans Bold" pitchFamily="34" charset="-120"/>
              </a:rPr>
              <a:t>3</a:t>
            </a:r>
            <a:endParaRPr lang="en-US" sz="1950"/>
          </a:p>
        </p:txBody>
      </p:sp>
      <p:sp>
        <p:nvSpPr>
          <p:cNvPr id="20" name="Text 18"/>
          <p:cNvSpPr/>
          <p:nvPr/>
        </p:nvSpPr>
        <p:spPr>
          <a:xfrm>
            <a:off x="1065371" y="6001822"/>
            <a:ext cx="2316837" cy="289560"/>
          </a:xfrm>
          <a:prstGeom prst="rect">
            <a:avLst/>
          </a:prstGeom>
          <a:noFill/>
        </p:spPr>
        <p:txBody>
          <a:bodyPr wrap="none" lIns="0" tIns="0" rIns="0" bIns="0" rtlCol="0" anchor="t"/>
          <a:lstStyle/>
          <a:p>
            <a:pPr marL="0" indent="0" algn="l">
              <a:lnSpc>
                <a:spcPts val="2250"/>
              </a:lnSpc>
              <a:buNone/>
            </a:pPr>
            <a:r>
              <a:rPr lang="en-US" sz="1800" b="1">
                <a:solidFill>
                  <a:srgbClr val="E0E4E6"/>
                </a:solidFill>
                <a:latin typeface="Spline Sans Bold" pitchFamily="34" charset="0"/>
                <a:ea typeface="Spline Sans Bold" pitchFamily="34" charset="-122"/>
                <a:cs typeface="Spline Sans Bold" pitchFamily="34" charset="-120"/>
              </a:rPr>
              <a:t>PIN Entry / Creation</a:t>
            </a:r>
            <a:endParaRPr lang="en-US" sz="1800"/>
          </a:p>
        </p:txBody>
      </p:sp>
      <p:sp>
        <p:nvSpPr>
          <p:cNvPr id="21" name="Text 19"/>
          <p:cNvSpPr/>
          <p:nvPr/>
        </p:nvSpPr>
        <p:spPr>
          <a:xfrm>
            <a:off x="1065371" y="6416397"/>
            <a:ext cx="5914192" cy="1000482"/>
          </a:xfrm>
          <a:prstGeom prst="rect">
            <a:avLst/>
          </a:prstGeom>
          <a:noFill/>
        </p:spPr>
        <p:txBody>
          <a:bodyPr wrap="square" lIns="0" tIns="0" rIns="0" bIns="0" rtlCol="0" anchor="t"/>
          <a:lstStyle/>
          <a:p>
            <a:pPr marL="0" indent="0" algn="l">
              <a:lnSpc>
                <a:spcPts val="2600"/>
              </a:lnSpc>
              <a:buNone/>
            </a:pPr>
            <a:r>
              <a:rPr lang="en-US" sz="1600">
                <a:solidFill>
                  <a:srgbClr val="E0E4E6"/>
                </a:solidFill>
                <a:latin typeface="Barlow" pitchFamily="34" charset="0"/>
                <a:ea typeface="Barlow" pitchFamily="34" charset="-122"/>
                <a:cs typeface="Barlow" pitchFamily="34" charset="-120"/>
              </a:rPr>
              <a:t>Upon successful authentication, users are seamlessly redirected to either enter their existing security PIN or to create a new one if it's their first login after account setup.</a:t>
            </a:r>
            <a:endParaRPr lang="en-US" sz="1600"/>
          </a:p>
        </p:txBody>
      </p:sp>
      <p:sp>
        <p:nvSpPr>
          <p:cNvPr id="22" name="Shape 20"/>
          <p:cNvSpPr/>
          <p:nvPr/>
        </p:nvSpPr>
        <p:spPr>
          <a:xfrm>
            <a:off x="7419380" y="5480566"/>
            <a:ext cx="6376988" cy="2167652"/>
          </a:xfrm>
          <a:prstGeom prst="roundRect">
            <a:avLst>
              <a:gd name="adj" fmla="val 5062"/>
            </a:avLst>
          </a:prstGeom>
          <a:solidFill>
            <a:srgbClr val="0A081B">
              <a:alpha val="75000"/>
            </a:srgbClr>
          </a:solidFill>
        </p:spPr>
        <p:txBody>
          <a:bodyPr/>
          <a:lstStyle/>
          <a:p/>
        </p:txBody>
      </p:sp>
      <p:sp>
        <p:nvSpPr>
          <p:cNvPr id="23" name="Shape 21"/>
          <p:cNvSpPr/>
          <p:nvPr/>
        </p:nvSpPr>
        <p:spPr>
          <a:xfrm>
            <a:off x="7419380" y="5457706"/>
            <a:ext cx="6376988" cy="91440"/>
          </a:xfrm>
          <a:prstGeom prst="roundRect">
            <a:avLst>
              <a:gd name="adj" fmla="val 342057"/>
            </a:avLst>
          </a:prstGeom>
          <a:solidFill>
            <a:srgbClr val="091231"/>
          </a:solidFill>
        </p:spPr>
        <p:txBody>
          <a:bodyPr/>
          <a:lstStyle/>
          <a:p/>
        </p:txBody>
      </p:sp>
      <p:sp>
        <p:nvSpPr>
          <p:cNvPr id="24" name="Shape 22"/>
          <p:cNvSpPr/>
          <p:nvPr/>
        </p:nvSpPr>
        <p:spPr>
          <a:xfrm>
            <a:off x="10295156" y="5167908"/>
            <a:ext cx="625435" cy="625435"/>
          </a:xfrm>
          <a:prstGeom prst="roundRect">
            <a:avLst>
              <a:gd name="adj" fmla="val 146202"/>
            </a:avLst>
          </a:prstGeom>
          <a:solidFill>
            <a:srgbClr val="16FFBB"/>
          </a:solidFill>
        </p:spPr>
        <p:txBody>
          <a:bodyPr/>
          <a:lstStyle/>
          <a:p/>
        </p:txBody>
      </p:sp>
      <p:sp>
        <p:nvSpPr>
          <p:cNvPr id="25" name="Text 23"/>
          <p:cNvSpPr/>
          <p:nvPr/>
        </p:nvSpPr>
        <p:spPr>
          <a:xfrm>
            <a:off x="10482798" y="5324237"/>
            <a:ext cx="250150" cy="312658"/>
          </a:xfrm>
          <a:prstGeom prst="rect">
            <a:avLst/>
          </a:prstGeom>
          <a:noFill/>
        </p:spPr>
        <p:txBody>
          <a:bodyPr wrap="none" lIns="0" tIns="0" rIns="0" bIns="0" rtlCol="0" anchor="t"/>
          <a:lstStyle/>
          <a:p>
            <a:pPr marL="0" indent="0" algn="l">
              <a:lnSpc>
                <a:spcPts val="3150"/>
              </a:lnSpc>
              <a:buNone/>
            </a:pPr>
            <a:r>
              <a:rPr lang="en-US" sz="1950" b="1">
                <a:solidFill>
                  <a:srgbClr val="000000"/>
                </a:solidFill>
                <a:latin typeface="Spline Sans Bold" pitchFamily="34" charset="0"/>
                <a:ea typeface="Spline Sans Bold" pitchFamily="34" charset="-122"/>
                <a:cs typeface="Spline Sans Bold" pitchFamily="34" charset="-120"/>
              </a:rPr>
              <a:t>4</a:t>
            </a:r>
            <a:endParaRPr lang="en-US" sz="1950"/>
          </a:p>
        </p:txBody>
      </p:sp>
      <p:sp>
        <p:nvSpPr>
          <p:cNvPr id="26" name="Text 24"/>
          <p:cNvSpPr/>
          <p:nvPr/>
        </p:nvSpPr>
        <p:spPr>
          <a:xfrm>
            <a:off x="7650718" y="6001822"/>
            <a:ext cx="2906078" cy="289560"/>
          </a:xfrm>
          <a:prstGeom prst="rect">
            <a:avLst/>
          </a:prstGeom>
          <a:noFill/>
        </p:spPr>
        <p:txBody>
          <a:bodyPr wrap="none" lIns="0" tIns="0" rIns="0" bIns="0" rtlCol="0" anchor="t"/>
          <a:lstStyle/>
          <a:p>
            <a:pPr marL="0" indent="0" algn="l">
              <a:lnSpc>
                <a:spcPts val="2250"/>
              </a:lnSpc>
              <a:buNone/>
            </a:pPr>
            <a:r>
              <a:rPr lang="en-US" sz="1800" b="1">
                <a:solidFill>
                  <a:srgbClr val="E0E4E6"/>
                </a:solidFill>
                <a:latin typeface="Spline Sans Bold" pitchFamily="34" charset="0"/>
                <a:ea typeface="Spline Sans Bold" pitchFamily="34" charset="-122"/>
                <a:cs typeface="Spline Sans Bold" pitchFamily="34" charset="-120"/>
              </a:rPr>
              <a:t>Verification Resend Option</a:t>
            </a:r>
            <a:endParaRPr lang="en-US" sz="1800"/>
          </a:p>
        </p:txBody>
      </p:sp>
      <p:sp>
        <p:nvSpPr>
          <p:cNvPr id="27" name="Text 25"/>
          <p:cNvSpPr/>
          <p:nvPr/>
        </p:nvSpPr>
        <p:spPr>
          <a:xfrm>
            <a:off x="7650718" y="6416397"/>
            <a:ext cx="5914311" cy="1000482"/>
          </a:xfrm>
          <a:prstGeom prst="rect">
            <a:avLst/>
          </a:prstGeom>
          <a:noFill/>
        </p:spPr>
        <p:txBody>
          <a:bodyPr wrap="square" lIns="0" tIns="0" rIns="0" bIns="0" rtlCol="0" anchor="t"/>
          <a:lstStyle/>
          <a:p>
            <a:pPr marL="0" indent="0" algn="l">
              <a:lnSpc>
                <a:spcPts val="2600"/>
              </a:lnSpc>
              <a:buNone/>
            </a:pPr>
            <a:r>
              <a:rPr lang="en-US" sz="1600">
                <a:solidFill>
                  <a:srgbClr val="E0E4E6"/>
                </a:solidFill>
                <a:latin typeface="Barlow" pitchFamily="34" charset="0"/>
                <a:ea typeface="Barlow" pitchFamily="34" charset="-122"/>
                <a:cs typeface="Barlow" pitchFamily="34" charset="-120"/>
              </a:rPr>
              <a:t>For users who may have missed or not received their initial verification email, an option to resend the verification link is readily available.</a:t>
            </a:r>
            <a:endParaRPr lang="en-US" sz="1600"/>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1">
    <p:spTree>
      <p:nvGrpSpPr>
        <p:cNvPr id="1" name=""/>
        <p:cNvGrpSpPr/>
        <p:nvPr/>
      </p:nvGrpSpPr>
      <p:grpSpPr>
        <a:xfrm>
          <a:off x="0" y="0"/>
          <a:ext cx="0" cy="0"/>
        </a:xfrm>
      </p:grpSpPr>
      <p:sp>
        <p:nvSpPr>
          <p:cNvPr id="2" name="Text 0"/>
          <p:cNvSpPr/>
          <p:nvPr/>
        </p:nvSpPr>
        <p:spPr>
          <a:xfrm>
            <a:off x="881063" y="3059906"/>
            <a:ext cx="11316533"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SafePlay: Revolutionising Secure Communication</a:t>
            </a:r>
            <a:endParaRPr lang="en-US" sz="3850"/>
          </a:p>
        </p:txBody>
      </p:sp>
      <p:sp>
        <p:nvSpPr>
          <p:cNvPr id="3" name="Text 1"/>
          <p:cNvSpPr/>
          <p:nvPr/>
        </p:nvSpPr>
        <p:spPr>
          <a:xfrm>
            <a:off x="881063" y="4112419"/>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Welcome to SafePlay, an innovative platform designed to provide a secure, intuitive, and engaging communication experience. Our focus is on user safety, privacy, and a modern interface that enhances daily interactions. This presentation offers a detailed overview of SafePlay's core functionalities and unique features.</a:t>
            </a:r>
            <a:endParaRPr lang="en-US" sz="1700"/>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2">
    <p:spTree>
      <p:nvGrpSpPr>
        <p:cNvPr id="1" name=""/>
        <p:cNvGrpSpPr/>
        <p:nvPr/>
      </p:nvGrpSpPr>
      <p:grpSpPr>
        <a:xfrm>
          <a:off x="0" y="0"/>
          <a:ext cx="0" cy="0"/>
        </a:xfrm>
      </p:grpSpPr>
      <p:sp>
        <p:nvSpPr>
          <p:cNvPr id="2" name="Text 0"/>
          <p:cNvSpPr/>
          <p:nvPr/>
        </p:nvSpPr>
        <p:spPr>
          <a:xfrm>
            <a:off x="881063" y="863203"/>
            <a:ext cx="2553891" cy="305991"/>
          </a:xfrm>
          <a:prstGeom prst="rect">
            <a:avLst/>
          </a:prstGeom>
          <a:noFill/>
        </p:spPr>
        <p:txBody>
          <a:bodyPr wrap="none" lIns="0" tIns="0" rIns="0" bIns="0" rtlCol="0" anchor="t"/>
          <a:lstStyle/>
          <a:p>
            <a:pPr marL="0" indent="0" algn="l">
              <a:lnSpc>
                <a:spcPts val="2400"/>
              </a:lnSpc>
              <a:buNone/>
            </a:pPr>
            <a:r>
              <a:rPr lang="en-US" sz="1900" b="1">
                <a:solidFill>
                  <a:srgbClr val="F0FCFF"/>
                </a:solidFill>
                <a:latin typeface="Spline Sans Bold" pitchFamily="34" charset="0"/>
                <a:ea typeface="Spline Sans Bold" pitchFamily="34" charset="-122"/>
                <a:cs typeface="Spline Sans Bold" pitchFamily="34" charset="-120"/>
              </a:rPr>
              <a:t>SCREEN OVERVIEW 04</a:t>
            </a:r>
            <a:endParaRPr lang="en-US" sz="1900"/>
          </a:p>
        </p:txBody>
      </p:sp>
      <p:sp>
        <p:nvSpPr>
          <p:cNvPr id="3" name="Text 1"/>
          <p:cNvSpPr/>
          <p:nvPr/>
        </p:nvSpPr>
        <p:spPr>
          <a:xfrm>
            <a:off x="881063" y="1257300"/>
            <a:ext cx="7775258"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User Dashboard: Your Central Hub</a:t>
            </a:r>
            <a:endParaRPr lang="en-US" sz="3850"/>
          </a:p>
        </p:txBody>
      </p:sp>
      <p:sp>
        <p:nvSpPr>
          <p:cNvPr id="4" name="Text 2"/>
          <p:cNvSpPr/>
          <p:nvPr/>
        </p:nvSpPr>
        <p:spPr>
          <a:xfrm>
            <a:off x="881063" y="2199680"/>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The SafePlay Dashboard serves as the primary navigation point for all user interactions. It offers a comprehensive view of ongoing conversations, combining functionality with an aesthetically pleasing design. This central hub ensures users can efficiently manage their communications while enjoying a seamless visual experience.</a:t>
            </a:r>
            <a:endParaRPr lang="en-US" sz="1700"/>
          </a:p>
        </p:txBody>
      </p:sp>
      <p:sp>
        <p:nvSpPr>
          <p:cNvPr id="5" name="Shape 3"/>
          <p:cNvSpPr/>
          <p:nvPr/>
        </p:nvSpPr>
        <p:spPr>
          <a:xfrm>
            <a:off x="881063" y="3504724"/>
            <a:ext cx="6324005" cy="1644491"/>
          </a:xfrm>
          <a:prstGeom prst="roundRect">
            <a:avLst>
              <a:gd name="adj" fmla="val 8897"/>
            </a:avLst>
          </a:prstGeom>
          <a:solidFill>
            <a:srgbClr val="0A081B">
              <a:alpha val="75000"/>
            </a:srgbClr>
          </a:solidFill>
          <a:ln w="30480">
            <a:solidFill>
              <a:srgbClr val="16FFBB"/>
            </a:solidFill>
            <a:prstDash val="solid"/>
          </a:ln>
        </p:spPr>
        <p:txBody>
          <a:bodyPr/>
          <a:lstStyle/>
          <a:p/>
        </p:txBody>
      </p:sp>
      <p:sp>
        <p:nvSpPr>
          <p:cNvPr id="6" name="Shape 4"/>
          <p:cNvSpPr/>
          <p:nvPr/>
        </p:nvSpPr>
        <p:spPr>
          <a:xfrm>
            <a:off x="850583" y="3504724"/>
            <a:ext cx="121920" cy="1644491"/>
          </a:xfrm>
          <a:prstGeom prst="roundRect">
            <a:avLst>
              <a:gd name="adj" fmla="val 271033"/>
            </a:avLst>
          </a:prstGeom>
          <a:solidFill>
            <a:srgbClr val="16FFBB"/>
          </a:solidFill>
        </p:spPr>
        <p:txBody>
          <a:bodyPr/>
          <a:lstStyle/>
          <a:p/>
        </p:txBody>
      </p:sp>
      <p:sp>
        <p:nvSpPr>
          <p:cNvPr id="7" name="Text 5"/>
          <p:cNvSpPr/>
          <p:nvPr/>
        </p:nvSpPr>
        <p:spPr>
          <a:xfrm>
            <a:off x="1223248" y="3755469"/>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Effortless Search</a:t>
            </a:r>
            <a:endParaRPr lang="en-US" sz="1900"/>
          </a:p>
        </p:txBody>
      </p:sp>
      <p:sp>
        <p:nvSpPr>
          <p:cNvPr id="8" name="Text 6"/>
          <p:cNvSpPr/>
          <p:nvPr/>
        </p:nvSpPr>
        <p:spPr>
          <a:xfrm>
            <a:off x="1223248" y="4193619"/>
            <a:ext cx="5731073"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Quickly locate users using their unique Public ID, streamlining the connection process.</a:t>
            </a:r>
            <a:endParaRPr lang="en-US" sz="1700"/>
          </a:p>
        </p:txBody>
      </p:sp>
      <p:sp>
        <p:nvSpPr>
          <p:cNvPr id="9" name="Shape 7"/>
          <p:cNvSpPr/>
          <p:nvPr/>
        </p:nvSpPr>
        <p:spPr>
          <a:xfrm>
            <a:off x="7425333" y="3504724"/>
            <a:ext cx="6324005" cy="1644491"/>
          </a:xfrm>
          <a:prstGeom prst="roundRect">
            <a:avLst>
              <a:gd name="adj" fmla="val 8897"/>
            </a:avLst>
          </a:prstGeom>
          <a:solidFill>
            <a:srgbClr val="0A081B">
              <a:alpha val="75000"/>
            </a:srgbClr>
          </a:solidFill>
          <a:ln w="30480">
            <a:solidFill>
              <a:srgbClr val="29DDDA"/>
            </a:solidFill>
            <a:prstDash val="solid"/>
          </a:ln>
        </p:spPr>
        <p:txBody>
          <a:bodyPr/>
          <a:lstStyle/>
          <a:p/>
        </p:txBody>
      </p:sp>
      <p:sp>
        <p:nvSpPr>
          <p:cNvPr id="10" name="Shape 8"/>
          <p:cNvSpPr/>
          <p:nvPr/>
        </p:nvSpPr>
        <p:spPr>
          <a:xfrm>
            <a:off x="7394853" y="3504724"/>
            <a:ext cx="121920" cy="1644491"/>
          </a:xfrm>
          <a:prstGeom prst="roundRect">
            <a:avLst>
              <a:gd name="adj" fmla="val 271033"/>
            </a:avLst>
          </a:prstGeom>
          <a:solidFill>
            <a:srgbClr val="29DDDA"/>
          </a:solidFill>
        </p:spPr>
        <p:txBody>
          <a:bodyPr/>
          <a:lstStyle/>
          <a:p/>
        </p:txBody>
      </p:sp>
      <p:sp>
        <p:nvSpPr>
          <p:cNvPr id="11" name="Text 9"/>
          <p:cNvSpPr/>
          <p:nvPr/>
        </p:nvSpPr>
        <p:spPr>
          <a:xfrm>
            <a:off x="7767518" y="3755469"/>
            <a:ext cx="3130629"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Conversation Management</a:t>
            </a:r>
            <a:endParaRPr lang="en-US" sz="1900"/>
          </a:p>
        </p:txBody>
      </p:sp>
      <p:sp>
        <p:nvSpPr>
          <p:cNvPr id="12" name="Text 10"/>
          <p:cNvSpPr/>
          <p:nvPr/>
        </p:nvSpPr>
        <p:spPr>
          <a:xfrm>
            <a:off x="7767518" y="4193619"/>
            <a:ext cx="5731073"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Easily remove unwanted or irrelevant conversations to maintain a tidy and focused inbox.</a:t>
            </a:r>
            <a:endParaRPr lang="en-US" sz="1700"/>
          </a:p>
        </p:txBody>
      </p:sp>
      <p:sp>
        <p:nvSpPr>
          <p:cNvPr id="13" name="Shape 11"/>
          <p:cNvSpPr/>
          <p:nvPr/>
        </p:nvSpPr>
        <p:spPr>
          <a:xfrm>
            <a:off x="881063" y="5369481"/>
            <a:ext cx="6324005" cy="1996916"/>
          </a:xfrm>
          <a:prstGeom prst="roundRect">
            <a:avLst>
              <a:gd name="adj" fmla="val 7326"/>
            </a:avLst>
          </a:prstGeom>
          <a:solidFill>
            <a:srgbClr val="0A081B">
              <a:alpha val="75000"/>
            </a:srgbClr>
          </a:solidFill>
          <a:ln w="30480">
            <a:solidFill>
              <a:srgbClr val="37A7E7"/>
            </a:solidFill>
            <a:prstDash val="solid"/>
          </a:ln>
        </p:spPr>
        <p:txBody>
          <a:bodyPr/>
          <a:lstStyle/>
          <a:p/>
        </p:txBody>
      </p:sp>
      <p:sp>
        <p:nvSpPr>
          <p:cNvPr id="14" name="Shape 12"/>
          <p:cNvSpPr/>
          <p:nvPr/>
        </p:nvSpPr>
        <p:spPr>
          <a:xfrm>
            <a:off x="850583" y="5369481"/>
            <a:ext cx="121920" cy="1996916"/>
          </a:xfrm>
          <a:prstGeom prst="roundRect">
            <a:avLst>
              <a:gd name="adj" fmla="val 271033"/>
            </a:avLst>
          </a:prstGeom>
          <a:solidFill>
            <a:srgbClr val="37A7E7"/>
          </a:solidFill>
        </p:spPr>
        <p:txBody>
          <a:bodyPr/>
          <a:lstStyle/>
          <a:p/>
        </p:txBody>
      </p:sp>
      <p:sp>
        <p:nvSpPr>
          <p:cNvPr id="15" name="Text 13"/>
          <p:cNvSpPr/>
          <p:nvPr/>
        </p:nvSpPr>
        <p:spPr>
          <a:xfrm>
            <a:off x="1223248" y="5620226"/>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Dynamic Visuals</a:t>
            </a:r>
            <a:endParaRPr lang="en-US" sz="1900"/>
          </a:p>
        </p:txBody>
      </p:sp>
      <p:sp>
        <p:nvSpPr>
          <p:cNvPr id="16" name="Text 14"/>
          <p:cNvSpPr/>
          <p:nvPr/>
        </p:nvSpPr>
        <p:spPr>
          <a:xfrm>
            <a:off x="1223248" y="6058376"/>
            <a:ext cx="5731073"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Experience a captivating neon glow animation when contacts update their profile photos or names, adding a touch of modern flair.</a:t>
            </a:r>
            <a:endParaRPr lang="en-US" sz="1700"/>
          </a:p>
        </p:txBody>
      </p:sp>
      <p:sp>
        <p:nvSpPr>
          <p:cNvPr id="17" name="Shape 15"/>
          <p:cNvSpPr/>
          <p:nvPr/>
        </p:nvSpPr>
        <p:spPr>
          <a:xfrm>
            <a:off x="7425333" y="5369481"/>
            <a:ext cx="6324005" cy="1996916"/>
          </a:xfrm>
          <a:prstGeom prst="roundRect">
            <a:avLst>
              <a:gd name="adj" fmla="val 7326"/>
            </a:avLst>
          </a:prstGeom>
          <a:solidFill>
            <a:srgbClr val="0A081B">
              <a:alpha val="75000"/>
            </a:srgbClr>
          </a:solidFill>
          <a:ln w="30480">
            <a:solidFill>
              <a:srgbClr val="091231"/>
            </a:solidFill>
            <a:prstDash val="solid"/>
          </a:ln>
        </p:spPr>
        <p:txBody>
          <a:bodyPr/>
          <a:lstStyle/>
          <a:p/>
        </p:txBody>
      </p:sp>
      <p:sp>
        <p:nvSpPr>
          <p:cNvPr id="18" name="Shape 16"/>
          <p:cNvSpPr/>
          <p:nvPr/>
        </p:nvSpPr>
        <p:spPr>
          <a:xfrm>
            <a:off x="7394853" y="5369481"/>
            <a:ext cx="121920" cy="1996916"/>
          </a:xfrm>
          <a:prstGeom prst="roundRect">
            <a:avLst>
              <a:gd name="adj" fmla="val 271033"/>
            </a:avLst>
          </a:prstGeom>
          <a:solidFill>
            <a:srgbClr val="091231"/>
          </a:solidFill>
        </p:spPr>
        <p:txBody>
          <a:bodyPr/>
          <a:lstStyle/>
          <a:p/>
        </p:txBody>
      </p:sp>
      <p:sp>
        <p:nvSpPr>
          <p:cNvPr id="19" name="Text 17"/>
          <p:cNvSpPr/>
          <p:nvPr/>
        </p:nvSpPr>
        <p:spPr>
          <a:xfrm>
            <a:off x="7767518" y="5620226"/>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Rapid Navigation</a:t>
            </a:r>
            <a:endParaRPr lang="en-US" sz="1900"/>
          </a:p>
        </p:txBody>
      </p:sp>
      <p:sp>
        <p:nvSpPr>
          <p:cNvPr id="20" name="Text 18"/>
          <p:cNvSpPr/>
          <p:nvPr/>
        </p:nvSpPr>
        <p:spPr>
          <a:xfrm>
            <a:off x="7767518" y="6058376"/>
            <a:ext cx="5731073"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Enjoy instant access to individual chat screens, ensuring no delay in communication.</a:t>
            </a:r>
            <a:endParaRPr lang="en-US" sz="1700"/>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3">
    <p:spTree>
      <p:nvGrpSpPr>
        <p:cNvPr id="1" name=""/>
        <p:cNvGrpSpPr/>
        <p:nvPr/>
      </p:nvGrpSpPr>
      <p:grpSpPr>
        <a:xfrm>
          <a:off x="0" y="0"/>
          <a:ext cx="0" cy="0"/>
        </a:xfrm>
      </p:grpSpPr>
      <p:sp>
        <p:nvSpPr>
          <p:cNvPr id="2" name="Text 0"/>
          <p:cNvSpPr/>
          <p:nvPr/>
        </p:nvSpPr>
        <p:spPr>
          <a:xfrm>
            <a:off x="644485" y="538996"/>
            <a:ext cx="1864638" cy="223838"/>
          </a:xfrm>
          <a:prstGeom prst="rect">
            <a:avLst/>
          </a:prstGeom>
          <a:noFill/>
        </p:spPr>
        <p:txBody>
          <a:bodyPr wrap="none" lIns="0" tIns="0" rIns="0" bIns="0" rtlCol="0" anchor="t"/>
          <a:lstStyle/>
          <a:p>
            <a:pPr marL="0" indent="0" algn="l">
              <a:lnSpc>
                <a:spcPts val="1750"/>
              </a:lnSpc>
              <a:buNone/>
            </a:pPr>
            <a:r>
              <a:rPr lang="en-US" sz="1400" b="1">
                <a:solidFill>
                  <a:srgbClr val="F0FCFF"/>
                </a:solidFill>
                <a:latin typeface="Spline Sans Bold" pitchFamily="34" charset="0"/>
                <a:ea typeface="Spline Sans Bold" pitchFamily="34" charset="-122"/>
                <a:cs typeface="Spline Sans Bold" pitchFamily="34" charset="-120"/>
              </a:rPr>
              <a:t>SCREEN OVERVIEW 05</a:t>
            </a:r>
            <a:endParaRPr lang="en-US" sz="1400"/>
          </a:p>
        </p:txBody>
      </p:sp>
      <p:sp>
        <p:nvSpPr>
          <p:cNvPr id="3" name="Text 1"/>
          <p:cNvSpPr/>
          <p:nvPr/>
        </p:nvSpPr>
        <p:spPr>
          <a:xfrm>
            <a:off x="644485" y="827246"/>
            <a:ext cx="7132677" cy="447437"/>
          </a:xfrm>
          <a:prstGeom prst="rect">
            <a:avLst/>
          </a:prstGeom>
          <a:noFill/>
        </p:spPr>
        <p:txBody>
          <a:bodyPr wrap="none" lIns="0" tIns="0" rIns="0" bIns="0" rtlCol="0" anchor="t"/>
          <a:lstStyle/>
          <a:p>
            <a:pPr marL="0" indent="0" algn="l">
              <a:lnSpc>
                <a:spcPts val="3500"/>
              </a:lnSpc>
              <a:buNone/>
            </a:pPr>
            <a:r>
              <a:rPr lang="en-US" sz="2800" b="1">
                <a:solidFill>
                  <a:srgbClr val="F0FCFF"/>
                </a:solidFill>
                <a:latin typeface="Spline Sans Bold" pitchFamily="34" charset="0"/>
                <a:ea typeface="Spline Sans Bold" pitchFamily="34" charset="-122"/>
                <a:cs typeface="Spline Sans Bold" pitchFamily="34" charset="-120"/>
              </a:rPr>
              <a:t>Chat Screen: Real-time Messaging Refined</a:t>
            </a:r>
            <a:endParaRPr lang="en-US" sz="2800"/>
          </a:p>
        </p:txBody>
      </p:sp>
      <p:sp>
        <p:nvSpPr>
          <p:cNvPr id="4" name="Text 2"/>
          <p:cNvSpPr/>
          <p:nvPr/>
        </p:nvSpPr>
        <p:spPr>
          <a:xfrm>
            <a:off x="644485" y="1516261"/>
            <a:ext cx="13341429" cy="515303"/>
          </a:xfrm>
          <a:prstGeom prst="rect">
            <a:avLst/>
          </a:prstGeom>
          <a:noFill/>
        </p:spPr>
        <p:txBody>
          <a:bodyPr wrap="square" lIns="0" tIns="0" rIns="0" bIns="0" rtlCol="0" anchor="t"/>
          <a:lstStyle/>
          <a:p>
            <a:pPr marL="0" indent="0" algn="l">
              <a:lnSpc>
                <a:spcPts val="2000"/>
              </a:lnSpc>
              <a:buNone/>
            </a:pPr>
            <a:r>
              <a:rPr lang="en-US" sz="1250">
                <a:solidFill>
                  <a:srgbClr val="E0E4E6"/>
                </a:solidFill>
                <a:latin typeface="Barlow" pitchFamily="34" charset="0"/>
                <a:ea typeface="Barlow" pitchFamily="34" charset="-122"/>
                <a:cs typeface="Barlow" pitchFamily="34" charset="-120"/>
              </a:rPr>
              <a:t>The SafePlay chat screen is engineered for a fluid and feature-rich messaging experience, blending advanced functionalities with a visually engaging interface. Every element is designed to make conversations natural and enjoyable.</a:t>
            </a:r>
            <a:endParaRPr lang="en-US" sz="1250"/>
          </a:p>
        </p:txBody>
      </p:sp>
      <p:sp>
        <p:nvSpPr>
          <p:cNvPr id="5" name="Shape 3"/>
          <p:cNvSpPr/>
          <p:nvPr/>
        </p:nvSpPr>
        <p:spPr>
          <a:xfrm>
            <a:off x="644485" y="2212777"/>
            <a:ext cx="644485" cy="966668"/>
          </a:xfrm>
          <a:prstGeom prst="roundRect">
            <a:avLst>
              <a:gd name="adj" fmla="val 360012"/>
            </a:avLst>
          </a:prstGeom>
          <a:solidFill>
            <a:srgbClr val="0A081B"/>
          </a:solidFill>
          <a:ln w="15240">
            <a:solidFill>
              <a:srgbClr val="16FFBB"/>
            </a:solidFill>
            <a:prstDash val="solid"/>
          </a:ln>
        </p:spPr>
        <p:txBody>
          <a:bodyPr/>
          <a:lstStyle/>
          <a:p/>
        </p:txBody>
      </p:sp>
      <p:sp>
        <p:nvSpPr>
          <p:cNvPr id="6" name="Text 4"/>
          <p:cNvSpPr/>
          <p:nvPr/>
        </p:nvSpPr>
        <p:spPr>
          <a:xfrm>
            <a:off x="845939" y="2545080"/>
            <a:ext cx="241578" cy="302062"/>
          </a:xfrm>
          <a:prstGeom prst="rect">
            <a:avLst/>
          </a:prstGeom>
          <a:noFill/>
        </p:spPr>
        <p:txBody>
          <a:bodyPr wrap="none" lIns="0" tIns="0" rIns="0" bIns="0" rtlCol="0" anchor="t"/>
          <a:lstStyle/>
          <a:p>
            <a:pPr marL="0" indent="0" algn="l">
              <a:lnSpc>
                <a:spcPts val="1900"/>
              </a:lnSpc>
              <a:buNone/>
            </a:pPr>
            <a:r>
              <a:rPr lang="en-US" sz="1900" b="1">
                <a:solidFill>
                  <a:srgbClr val="E0E4E6"/>
                </a:solidFill>
                <a:latin typeface="Spline Sans Bold" pitchFamily="34" charset="0"/>
                <a:ea typeface="Spline Sans Bold" pitchFamily="34" charset="-122"/>
                <a:cs typeface="Spline Sans Bold" pitchFamily="34" charset="-120"/>
              </a:rPr>
              <a:t>1</a:t>
            </a:r>
            <a:endParaRPr lang="en-US" sz="1900"/>
          </a:p>
        </p:txBody>
      </p:sp>
      <p:sp>
        <p:nvSpPr>
          <p:cNvPr id="7" name="Text 5"/>
          <p:cNvSpPr/>
          <p:nvPr/>
        </p:nvSpPr>
        <p:spPr>
          <a:xfrm>
            <a:off x="1450062" y="2373868"/>
            <a:ext cx="2769275" cy="223838"/>
          </a:xfrm>
          <a:prstGeom prst="rect">
            <a:avLst/>
          </a:prstGeom>
          <a:noFill/>
        </p:spPr>
        <p:txBody>
          <a:bodyPr wrap="none" lIns="0" tIns="0" rIns="0" bIns="0" rtlCol="0" anchor="t"/>
          <a:lstStyle/>
          <a:p>
            <a:pPr marL="0" indent="0" algn="l">
              <a:lnSpc>
                <a:spcPts val="1750"/>
              </a:lnSpc>
              <a:buNone/>
            </a:pPr>
            <a:r>
              <a:rPr lang="en-US" sz="1400" b="1">
                <a:solidFill>
                  <a:srgbClr val="E0E4E6"/>
                </a:solidFill>
                <a:latin typeface="Spline Sans Bold" pitchFamily="34" charset="0"/>
                <a:ea typeface="Spline Sans Bold" pitchFamily="34" charset="-122"/>
                <a:cs typeface="Spline Sans Bold" pitchFamily="34" charset="-120"/>
              </a:rPr>
              <a:t>Comprehensive Messaging Tools</a:t>
            </a:r>
            <a:endParaRPr lang="en-US" sz="1400"/>
          </a:p>
        </p:txBody>
      </p:sp>
      <p:sp>
        <p:nvSpPr>
          <p:cNvPr id="8" name="Text 6"/>
          <p:cNvSpPr/>
          <p:nvPr/>
        </p:nvSpPr>
        <p:spPr>
          <a:xfrm>
            <a:off x="1450062" y="2694265"/>
            <a:ext cx="12535853" cy="257651"/>
          </a:xfrm>
          <a:prstGeom prst="rect">
            <a:avLst/>
          </a:prstGeom>
          <a:noFill/>
        </p:spPr>
        <p:txBody>
          <a:bodyPr wrap="none" lIns="0" tIns="0" rIns="0" bIns="0" rtlCol="0" anchor="t"/>
          <a:lstStyle/>
          <a:p>
            <a:pPr marL="0" indent="0" algn="l">
              <a:lnSpc>
                <a:spcPts val="2000"/>
              </a:lnSpc>
              <a:buNone/>
            </a:pPr>
            <a:r>
              <a:rPr lang="en-US" sz="1250">
                <a:solidFill>
                  <a:srgbClr val="E0E4E6"/>
                </a:solidFill>
                <a:latin typeface="Barlow" pitchFamily="34" charset="0"/>
                <a:ea typeface="Barlow" pitchFamily="34" charset="-122"/>
                <a:cs typeface="Barlow" pitchFamily="34" charset="-120"/>
              </a:rPr>
              <a:t>Send, edit, and delete messages with ease, giving you full control over your conversations.</a:t>
            </a:r>
            <a:endParaRPr lang="en-US" sz="1250"/>
          </a:p>
        </p:txBody>
      </p:sp>
      <p:sp>
        <p:nvSpPr>
          <p:cNvPr id="9" name="Shape 7"/>
          <p:cNvSpPr/>
          <p:nvPr/>
        </p:nvSpPr>
        <p:spPr>
          <a:xfrm>
            <a:off x="644485" y="3340537"/>
            <a:ext cx="644485" cy="966668"/>
          </a:xfrm>
          <a:prstGeom prst="roundRect">
            <a:avLst>
              <a:gd name="adj" fmla="val 360012"/>
            </a:avLst>
          </a:prstGeom>
          <a:solidFill>
            <a:srgbClr val="0A081B"/>
          </a:solidFill>
          <a:ln w="15240">
            <a:solidFill>
              <a:srgbClr val="29DDDA"/>
            </a:solidFill>
            <a:prstDash val="solid"/>
          </a:ln>
        </p:spPr>
        <p:txBody>
          <a:bodyPr/>
          <a:lstStyle/>
          <a:p/>
        </p:txBody>
      </p:sp>
      <p:sp>
        <p:nvSpPr>
          <p:cNvPr id="10" name="Text 8"/>
          <p:cNvSpPr/>
          <p:nvPr/>
        </p:nvSpPr>
        <p:spPr>
          <a:xfrm>
            <a:off x="845939" y="3672840"/>
            <a:ext cx="241578" cy="302062"/>
          </a:xfrm>
          <a:prstGeom prst="rect">
            <a:avLst/>
          </a:prstGeom>
          <a:noFill/>
        </p:spPr>
        <p:txBody>
          <a:bodyPr wrap="none" lIns="0" tIns="0" rIns="0" bIns="0" rtlCol="0" anchor="t"/>
          <a:lstStyle/>
          <a:p>
            <a:pPr marL="0" indent="0" algn="l">
              <a:lnSpc>
                <a:spcPts val="1900"/>
              </a:lnSpc>
              <a:buNone/>
            </a:pPr>
            <a:r>
              <a:rPr lang="en-US" sz="1900" b="1">
                <a:solidFill>
                  <a:srgbClr val="E0E4E6"/>
                </a:solidFill>
                <a:latin typeface="Spline Sans Bold" pitchFamily="34" charset="0"/>
                <a:ea typeface="Spline Sans Bold" pitchFamily="34" charset="-122"/>
                <a:cs typeface="Spline Sans Bold" pitchFamily="34" charset="-120"/>
              </a:rPr>
              <a:t>2</a:t>
            </a:r>
            <a:endParaRPr lang="en-US" sz="1900"/>
          </a:p>
        </p:txBody>
      </p:sp>
      <p:sp>
        <p:nvSpPr>
          <p:cNvPr id="11" name="Text 9"/>
          <p:cNvSpPr/>
          <p:nvPr/>
        </p:nvSpPr>
        <p:spPr>
          <a:xfrm>
            <a:off x="1450062" y="3501628"/>
            <a:ext cx="1983581" cy="223838"/>
          </a:xfrm>
          <a:prstGeom prst="rect">
            <a:avLst/>
          </a:prstGeom>
          <a:noFill/>
        </p:spPr>
        <p:txBody>
          <a:bodyPr wrap="none" lIns="0" tIns="0" rIns="0" bIns="0" rtlCol="0" anchor="t"/>
          <a:lstStyle/>
          <a:p>
            <a:pPr marL="0" indent="0" algn="l">
              <a:lnSpc>
                <a:spcPts val="1750"/>
              </a:lnSpc>
              <a:buNone/>
            </a:pPr>
            <a:r>
              <a:rPr lang="en-US" sz="1400" b="1">
                <a:solidFill>
                  <a:srgbClr val="E0E4E6"/>
                </a:solidFill>
                <a:latin typeface="Spline Sans Bold" pitchFamily="34" charset="0"/>
                <a:ea typeface="Spline Sans Bold" pitchFamily="34" charset="-122"/>
                <a:cs typeface="Spline Sans Bold" pitchFamily="34" charset="-120"/>
              </a:rPr>
              <a:t>Expressive Interactions</a:t>
            </a:r>
            <a:endParaRPr lang="en-US" sz="1400"/>
          </a:p>
        </p:txBody>
      </p:sp>
      <p:sp>
        <p:nvSpPr>
          <p:cNvPr id="12" name="Text 10"/>
          <p:cNvSpPr/>
          <p:nvPr/>
        </p:nvSpPr>
        <p:spPr>
          <a:xfrm>
            <a:off x="1450062" y="3822025"/>
            <a:ext cx="12535853" cy="257651"/>
          </a:xfrm>
          <a:prstGeom prst="rect">
            <a:avLst/>
          </a:prstGeom>
          <a:noFill/>
        </p:spPr>
        <p:txBody>
          <a:bodyPr wrap="none" lIns="0" tIns="0" rIns="0" bIns="0" rtlCol="0" anchor="t"/>
          <a:lstStyle/>
          <a:p>
            <a:pPr marL="0" indent="0" algn="l">
              <a:lnSpc>
                <a:spcPts val="2000"/>
              </a:lnSpc>
              <a:buNone/>
            </a:pPr>
            <a:r>
              <a:rPr lang="en-US" sz="1250">
                <a:solidFill>
                  <a:srgbClr val="E0E4E6"/>
                </a:solidFill>
                <a:latin typeface="Barlow" pitchFamily="34" charset="0"/>
                <a:ea typeface="Barlow" pitchFamily="34" charset="-122"/>
                <a:cs typeface="Barlow" pitchFamily="34" charset="-120"/>
              </a:rPr>
              <a:t>Utilise message reactions for quick responses and rely on our robust profanity filter for a clean communication environment.</a:t>
            </a:r>
            <a:endParaRPr lang="en-US" sz="1250"/>
          </a:p>
        </p:txBody>
      </p:sp>
      <p:sp>
        <p:nvSpPr>
          <p:cNvPr id="13" name="Shape 11"/>
          <p:cNvSpPr/>
          <p:nvPr/>
        </p:nvSpPr>
        <p:spPr>
          <a:xfrm>
            <a:off x="644485" y="4468297"/>
            <a:ext cx="644485" cy="966668"/>
          </a:xfrm>
          <a:prstGeom prst="roundRect">
            <a:avLst>
              <a:gd name="adj" fmla="val 360012"/>
            </a:avLst>
          </a:prstGeom>
          <a:solidFill>
            <a:srgbClr val="0A081B"/>
          </a:solidFill>
          <a:ln w="15240">
            <a:solidFill>
              <a:srgbClr val="37A7E7"/>
            </a:solidFill>
            <a:prstDash val="solid"/>
          </a:ln>
        </p:spPr>
        <p:txBody>
          <a:bodyPr/>
          <a:lstStyle/>
          <a:p/>
        </p:txBody>
      </p:sp>
      <p:sp>
        <p:nvSpPr>
          <p:cNvPr id="14" name="Text 12"/>
          <p:cNvSpPr/>
          <p:nvPr/>
        </p:nvSpPr>
        <p:spPr>
          <a:xfrm>
            <a:off x="845939" y="4800600"/>
            <a:ext cx="241578" cy="302062"/>
          </a:xfrm>
          <a:prstGeom prst="rect">
            <a:avLst/>
          </a:prstGeom>
          <a:noFill/>
        </p:spPr>
        <p:txBody>
          <a:bodyPr wrap="none" lIns="0" tIns="0" rIns="0" bIns="0" rtlCol="0" anchor="t"/>
          <a:lstStyle/>
          <a:p>
            <a:pPr marL="0" indent="0" algn="l">
              <a:lnSpc>
                <a:spcPts val="1900"/>
              </a:lnSpc>
              <a:buNone/>
            </a:pPr>
            <a:r>
              <a:rPr lang="en-US" sz="1900" b="1">
                <a:solidFill>
                  <a:srgbClr val="E0E4E6"/>
                </a:solidFill>
                <a:latin typeface="Spline Sans Bold" pitchFamily="34" charset="0"/>
                <a:ea typeface="Spline Sans Bold" pitchFamily="34" charset="-122"/>
                <a:cs typeface="Spline Sans Bold" pitchFamily="34" charset="-120"/>
              </a:rPr>
              <a:t>3</a:t>
            </a:r>
            <a:endParaRPr lang="en-US" sz="1900"/>
          </a:p>
        </p:txBody>
      </p:sp>
      <p:sp>
        <p:nvSpPr>
          <p:cNvPr id="15" name="Text 13"/>
          <p:cNvSpPr/>
          <p:nvPr/>
        </p:nvSpPr>
        <p:spPr>
          <a:xfrm>
            <a:off x="1450062" y="4629388"/>
            <a:ext cx="2739033" cy="223838"/>
          </a:xfrm>
          <a:prstGeom prst="rect">
            <a:avLst/>
          </a:prstGeom>
          <a:noFill/>
        </p:spPr>
        <p:txBody>
          <a:bodyPr wrap="none" lIns="0" tIns="0" rIns="0" bIns="0" rtlCol="0" anchor="t"/>
          <a:lstStyle/>
          <a:p>
            <a:pPr marL="0" indent="0" algn="l">
              <a:lnSpc>
                <a:spcPts val="1750"/>
              </a:lnSpc>
              <a:buNone/>
            </a:pPr>
            <a:r>
              <a:rPr lang="en-US" sz="1400" b="1">
                <a:solidFill>
                  <a:srgbClr val="E0E4E6"/>
                </a:solidFill>
                <a:latin typeface="Spline Sans Bold" pitchFamily="34" charset="0"/>
                <a:ea typeface="Spline Sans Bold" pitchFamily="34" charset="-122"/>
                <a:cs typeface="Spline Sans Bold" pitchFamily="34" charset="-120"/>
              </a:rPr>
              <a:t>Transparency in Communication</a:t>
            </a:r>
            <a:endParaRPr lang="en-US" sz="1400"/>
          </a:p>
        </p:txBody>
      </p:sp>
      <p:sp>
        <p:nvSpPr>
          <p:cNvPr id="16" name="Text 14"/>
          <p:cNvSpPr/>
          <p:nvPr/>
        </p:nvSpPr>
        <p:spPr>
          <a:xfrm>
            <a:off x="1450062" y="4949785"/>
            <a:ext cx="12535853" cy="257651"/>
          </a:xfrm>
          <a:prstGeom prst="rect">
            <a:avLst/>
          </a:prstGeom>
          <a:noFill/>
        </p:spPr>
        <p:txBody>
          <a:bodyPr wrap="none" lIns="0" tIns="0" rIns="0" bIns="0" rtlCol="0" anchor="t"/>
          <a:lstStyle/>
          <a:p>
            <a:pPr marL="0" indent="0" algn="l">
              <a:lnSpc>
                <a:spcPts val="2000"/>
              </a:lnSpc>
              <a:buNone/>
            </a:pPr>
            <a:r>
              <a:rPr lang="en-US" sz="1250">
                <a:solidFill>
                  <a:srgbClr val="E0E4E6"/>
                </a:solidFill>
                <a:latin typeface="Barlow" pitchFamily="34" charset="0"/>
                <a:ea typeface="Barlow" pitchFamily="34" charset="-122"/>
                <a:cs typeface="Barlow" pitchFamily="34" charset="-120"/>
              </a:rPr>
              <a:t>Delivered and Read indicators provide clarity on message status, while pagination allows access to older conversations.</a:t>
            </a:r>
            <a:endParaRPr lang="en-US" sz="1250"/>
          </a:p>
        </p:txBody>
      </p:sp>
      <p:sp>
        <p:nvSpPr>
          <p:cNvPr id="17" name="Shape 15"/>
          <p:cNvSpPr/>
          <p:nvPr/>
        </p:nvSpPr>
        <p:spPr>
          <a:xfrm>
            <a:off x="644485" y="5596057"/>
            <a:ext cx="644485" cy="966668"/>
          </a:xfrm>
          <a:prstGeom prst="roundRect">
            <a:avLst>
              <a:gd name="adj" fmla="val 360012"/>
            </a:avLst>
          </a:prstGeom>
          <a:solidFill>
            <a:srgbClr val="0A081B"/>
          </a:solidFill>
          <a:ln w="15240">
            <a:solidFill>
              <a:srgbClr val="091231"/>
            </a:solidFill>
            <a:prstDash val="solid"/>
          </a:ln>
        </p:spPr>
        <p:txBody>
          <a:bodyPr/>
          <a:lstStyle/>
          <a:p/>
        </p:txBody>
      </p:sp>
      <p:sp>
        <p:nvSpPr>
          <p:cNvPr id="18" name="Text 16"/>
          <p:cNvSpPr/>
          <p:nvPr/>
        </p:nvSpPr>
        <p:spPr>
          <a:xfrm>
            <a:off x="845939" y="5928360"/>
            <a:ext cx="241578" cy="302062"/>
          </a:xfrm>
          <a:prstGeom prst="rect">
            <a:avLst/>
          </a:prstGeom>
          <a:noFill/>
        </p:spPr>
        <p:txBody>
          <a:bodyPr wrap="none" lIns="0" tIns="0" rIns="0" bIns="0" rtlCol="0" anchor="t"/>
          <a:lstStyle/>
          <a:p>
            <a:pPr marL="0" indent="0" algn="l">
              <a:lnSpc>
                <a:spcPts val="1900"/>
              </a:lnSpc>
              <a:buNone/>
            </a:pPr>
            <a:r>
              <a:rPr lang="en-US" sz="1900" b="1">
                <a:solidFill>
                  <a:srgbClr val="E0E4E6"/>
                </a:solidFill>
                <a:latin typeface="Spline Sans Bold" pitchFamily="34" charset="0"/>
                <a:ea typeface="Spline Sans Bold" pitchFamily="34" charset="-122"/>
                <a:cs typeface="Spline Sans Bold" pitchFamily="34" charset="-120"/>
              </a:rPr>
              <a:t>4</a:t>
            </a:r>
            <a:endParaRPr lang="en-US" sz="1900"/>
          </a:p>
        </p:txBody>
      </p:sp>
      <p:sp>
        <p:nvSpPr>
          <p:cNvPr id="19" name="Text 17"/>
          <p:cNvSpPr/>
          <p:nvPr/>
        </p:nvSpPr>
        <p:spPr>
          <a:xfrm>
            <a:off x="1450062" y="5757148"/>
            <a:ext cx="2783086" cy="223838"/>
          </a:xfrm>
          <a:prstGeom prst="rect">
            <a:avLst/>
          </a:prstGeom>
          <a:noFill/>
        </p:spPr>
        <p:txBody>
          <a:bodyPr wrap="none" lIns="0" tIns="0" rIns="0" bIns="0" rtlCol="0" anchor="t"/>
          <a:lstStyle/>
          <a:p>
            <a:pPr marL="0" indent="0" algn="l">
              <a:lnSpc>
                <a:spcPts val="1750"/>
              </a:lnSpc>
              <a:buNone/>
            </a:pPr>
            <a:r>
              <a:rPr lang="en-US" sz="1400" b="1">
                <a:solidFill>
                  <a:srgbClr val="E0E4E6"/>
                </a:solidFill>
                <a:latin typeface="Spline Sans Bold" pitchFamily="34" charset="0"/>
                <a:ea typeface="Spline Sans Bold" pitchFamily="34" charset="-122"/>
                <a:cs typeface="Spline Sans Bold" pitchFamily="34" charset="-120"/>
              </a:rPr>
              <a:t>Enhanced Message Management</a:t>
            </a:r>
            <a:endParaRPr lang="en-US" sz="1400"/>
          </a:p>
        </p:txBody>
      </p:sp>
      <p:sp>
        <p:nvSpPr>
          <p:cNvPr id="20" name="Text 18"/>
          <p:cNvSpPr/>
          <p:nvPr/>
        </p:nvSpPr>
        <p:spPr>
          <a:xfrm>
            <a:off x="1450062" y="6077545"/>
            <a:ext cx="12535853" cy="257651"/>
          </a:xfrm>
          <a:prstGeom prst="rect">
            <a:avLst/>
          </a:prstGeom>
          <a:noFill/>
        </p:spPr>
        <p:txBody>
          <a:bodyPr wrap="none" lIns="0" tIns="0" rIns="0" bIns="0" rtlCol="0" anchor="t"/>
          <a:lstStyle/>
          <a:p>
            <a:pPr marL="0" indent="0" algn="l">
              <a:lnSpc>
                <a:spcPts val="2000"/>
              </a:lnSpc>
              <a:buNone/>
            </a:pPr>
            <a:r>
              <a:rPr lang="en-US" sz="1250">
                <a:solidFill>
                  <a:srgbClr val="E0E4E6"/>
                </a:solidFill>
                <a:latin typeface="Barlow" pitchFamily="34" charset="0"/>
                <a:ea typeface="Barlow" pitchFamily="34" charset="-122"/>
                <a:cs typeface="Barlow" pitchFamily="34" charset="-120"/>
              </a:rPr>
              <a:t>Star or unstar important messages for easy retrieval, and note the typing indicator for real-time awareness.</a:t>
            </a:r>
            <a:endParaRPr lang="en-US" sz="1250"/>
          </a:p>
        </p:txBody>
      </p:sp>
      <p:sp>
        <p:nvSpPr>
          <p:cNvPr id="21" name="Shape 19"/>
          <p:cNvSpPr/>
          <p:nvPr/>
        </p:nvSpPr>
        <p:spPr>
          <a:xfrm>
            <a:off x="644485" y="6723817"/>
            <a:ext cx="644485" cy="966668"/>
          </a:xfrm>
          <a:prstGeom prst="roundRect">
            <a:avLst>
              <a:gd name="adj" fmla="val 360012"/>
            </a:avLst>
          </a:prstGeom>
          <a:solidFill>
            <a:srgbClr val="0A081B"/>
          </a:solidFill>
          <a:ln w="15240">
            <a:solidFill>
              <a:srgbClr val="16FFBB"/>
            </a:solidFill>
            <a:prstDash val="solid"/>
          </a:ln>
        </p:spPr>
        <p:txBody>
          <a:bodyPr/>
          <a:lstStyle/>
          <a:p/>
        </p:txBody>
      </p:sp>
      <p:sp>
        <p:nvSpPr>
          <p:cNvPr id="22" name="Text 20"/>
          <p:cNvSpPr/>
          <p:nvPr/>
        </p:nvSpPr>
        <p:spPr>
          <a:xfrm>
            <a:off x="845939" y="7056120"/>
            <a:ext cx="241578" cy="302062"/>
          </a:xfrm>
          <a:prstGeom prst="rect">
            <a:avLst/>
          </a:prstGeom>
          <a:noFill/>
        </p:spPr>
        <p:txBody>
          <a:bodyPr wrap="none" lIns="0" tIns="0" rIns="0" bIns="0" rtlCol="0" anchor="t"/>
          <a:lstStyle/>
          <a:p>
            <a:pPr marL="0" indent="0" algn="l">
              <a:lnSpc>
                <a:spcPts val="1900"/>
              </a:lnSpc>
              <a:buNone/>
            </a:pPr>
            <a:r>
              <a:rPr lang="en-US" sz="1900" b="1">
                <a:solidFill>
                  <a:srgbClr val="E0E4E6"/>
                </a:solidFill>
                <a:latin typeface="Spline Sans Bold" pitchFamily="34" charset="0"/>
                <a:ea typeface="Spline Sans Bold" pitchFamily="34" charset="-122"/>
                <a:cs typeface="Spline Sans Bold" pitchFamily="34" charset="-120"/>
              </a:rPr>
              <a:t>5</a:t>
            </a:r>
            <a:endParaRPr lang="en-US" sz="1900"/>
          </a:p>
        </p:txBody>
      </p:sp>
      <p:sp>
        <p:nvSpPr>
          <p:cNvPr id="23" name="Text 21"/>
          <p:cNvSpPr/>
          <p:nvPr/>
        </p:nvSpPr>
        <p:spPr>
          <a:xfrm>
            <a:off x="1450062" y="6884908"/>
            <a:ext cx="2114193" cy="223838"/>
          </a:xfrm>
          <a:prstGeom prst="rect">
            <a:avLst/>
          </a:prstGeom>
          <a:noFill/>
        </p:spPr>
        <p:txBody>
          <a:bodyPr wrap="none" lIns="0" tIns="0" rIns="0" bIns="0" rtlCol="0" anchor="t"/>
          <a:lstStyle/>
          <a:p>
            <a:pPr marL="0" indent="0" algn="l">
              <a:lnSpc>
                <a:spcPts val="1750"/>
              </a:lnSpc>
              <a:buNone/>
            </a:pPr>
            <a:r>
              <a:rPr lang="en-US" sz="1400" b="1">
                <a:solidFill>
                  <a:srgbClr val="E0E4E6"/>
                </a:solidFill>
                <a:latin typeface="Spline Sans Bold" pitchFamily="34" charset="0"/>
                <a:ea typeface="Spline Sans Bold" pitchFamily="34" charset="-122"/>
                <a:cs typeface="Spline Sans Bold" pitchFamily="34" charset="-120"/>
              </a:rPr>
              <a:t>Personalised Visual Cues</a:t>
            </a:r>
            <a:endParaRPr lang="en-US" sz="1400"/>
          </a:p>
        </p:txBody>
      </p:sp>
      <p:sp>
        <p:nvSpPr>
          <p:cNvPr id="24" name="Text 22"/>
          <p:cNvSpPr/>
          <p:nvPr/>
        </p:nvSpPr>
        <p:spPr>
          <a:xfrm>
            <a:off x="1450062" y="7205305"/>
            <a:ext cx="12535853" cy="257651"/>
          </a:xfrm>
          <a:prstGeom prst="rect">
            <a:avLst/>
          </a:prstGeom>
          <a:noFill/>
        </p:spPr>
        <p:txBody>
          <a:bodyPr wrap="none" lIns="0" tIns="0" rIns="0" bIns="0" rtlCol="0" anchor="t"/>
          <a:lstStyle/>
          <a:p>
            <a:pPr marL="0" indent="0" algn="l">
              <a:lnSpc>
                <a:spcPts val="2000"/>
              </a:lnSpc>
              <a:buNone/>
            </a:pPr>
            <a:r>
              <a:rPr lang="en-US" sz="1250">
                <a:solidFill>
                  <a:srgbClr val="E0E4E6"/>
                </a:solidFill>
                <a:latin typeface="Barlow" pitchFamily="34" charset="0"/>
                <a:ea typeface="Barlow" pitchFamily="34" charset="-122"/>
                <a:cs typeface="Barlow" pitchFamily="34" charset="-120"/>
              </a:rPr>
              <a:t>Messages display the distinctive SafePlay neon glow upon selection, alongside default avatars for users without profile photos, ensuring a consistent aesthetic.</a:t>
            </a:r>
            <a:endParaRPr lang="en-US" sz="1250"/>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4">
    <p:spTree>
      <p:nvGrpSpPr>
        <p:cNvPr id="1" name=""/>
        <p:cNvGrpSpPr/>
        <p:nvPr/>
      </p:nvGrpSpPr>
      <p:grpSpPr>
        <a:xfrm>
          <a:off x="0" y="0"/>
          <a:ext cx="0" cy="0"/>
        </a:xfrm>
      </p:grpSpPr>
      <p:sp>
        <p:nvSpPr>
          <p:cNvPr id="2" name="Text 0"/>
          <p:cNvSpPr/>
          <p:nvPr/>
        </p:nvSpPr>
        <p:spPr>
          <a:xfrm>
            <a:off x="881063" y="2012156"/>
            <a:ext cx="2547223" cy="305991"/>
          </a:xfrm>
          <a:prstGeom prst="rect">
            <a:avLst/>
          </a:prstGeom>
          <a:noFill/>
        </p:spPr>
        <p:txBody>
          <a:bodyPr wrap="none" lIns="0" tIns="0" rIns="0" bIns="0" rtlCol="0" anchor="t"/>
          <a:lstStyle/>
          <a:p>
            <a:pPr marL="0" indent="0" algn="l">
              <a:lnSpc>
                <a:spcPts val="2400"/>
              </a:lnSpc>
              <a:buNone/>
            </a:pPr>
            <a:r>
              <a:rPr lang="en-US" sz="1900" b="1">
                <a:solidFill>
                  <a:srgbClr val="F0FCFF"/>
                </a:solidFill>
                <a:latin typeface="Spline Sans Bold" pitchFamily="34" charset="0"/>
                <a:ea typeface="Spline Sans Bold" pitchFamily="34" charset="-122"/>
                <a:cs typeface="Spline Sans Bold" pitchFamily="34" charset="-120"/>
              </a:rPr>
              <a:t>SCREEN OVERVIEW 06</a:t>
            </a:r>
            <a:endParaRPr lang="en-US" sz="1900"/>
          </a:p>
        </p:txBody>
      </p:sp>
      <p:sp>
        <p:nvSpPr>
          <p:cNvPr id="3" name="Text 1"/>
          <p:cNvSpPr/>
          <p:nvPr/>
        </p:nvSpPr>
        <p:spPr>
          <a:xfrm>
            <a:off x="881063" y="2406253"/>
            <a:ext cx="7674412"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Profile Screen: Your Personal Hub</a:t>
            </a:r>
            <a:endParaRPr lang="en-US" sz="3850"/>
          </a:p>
        </p:txBody>
      </p:sp>
      <p:sp>
        <p:nvSpPr>
          <p:cNvPr id="4" name="Text 2"/>
          <p:cNvSpPr/>
          <p:nvPr/>
        </p:nvSpPr>
        <p:spPr>
          <a:xfrm>
            <a:off x="881063" y="3348633"/>
            <a:ext cx="12868275"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The SafePlay Profile Screen empowers users to customise their digital identity and manage personal details within the application. It offers a clean, responsive layout that ensures a smooth and personalised experience.</a:t>
            </a:r>
            <a:endParaRPr lang="en-US" sz="1700"/>
          </a:p>
        </p:txBody>
      </p:sp>
      <p:sp>
        <p:nvSpPr>
          <p:cNvPr id="5" name="Text 3"/>
          <p:cNvSpPr/>
          <p:nvPr/>
        </p:nvSpPr>
        <p:spPr>
          <a:xfrm>
            <a:off x="881063" y="4499491"/>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Upload/change profile photo</a:t>
            </a:r>
            <a:endParaRPr lang="en-US" sz="1700"/>
          </a:p>
        </p:txBody>
      </p:sp>
      <p:sp>
        <p:nvSpPr>
          <p:cNvPr id="6" name="Text 4"/>
          <p:cNvSpPr/>
          <p:nvPr/>
        </p:nvSpPr>
        <p:spPr>
          <a:xfrm>
            <a:off x="881063" y="4928949"/>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Update name, 'about' section, and gender</a:t>
            </a:r>
            <a:endParaRPr lang="en-US" sz="1700"/>
          </a:p>
        </p:txBody>
      </p:sp>
      <p:sp>
        <p:nvSpPr>
          <p:cNvPr id="7" name="Text 5"/>
          <p:cNvSpPr/>
          <p:nvPr/>
        </p:nvSpPr>
        <p:spPr>
          <a:xfrm>
            <a:off x="881063" y="5358408"/>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Toggle display name visibility</a:t>
            </a:r>
            <a:endParaRPr lang="en-US" sz="1700"/>
          </a:p>
        </p:txBody>
      </p:sp>
      <p:sp>
        <p:nvSpPr>
          <p:cNvPr id="8" name="Text 6"/>
          <p:cNvSpPr/>
          <p:nvPr/>
        </p:nvSpPr>
        <p:spPr>
          <a:xfrm>
            <a:off x="881063" y="5787866"/>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View public ID &amp; account details</a:t>
            </a:r>
            <a:endParaRPr lang="en-US" sz="1700"/>
          </a:p>
        </p:txBody>
      </p:sp>
      <p:sp>
        <p:nvSpPr>
          <p:cNvPr id="9" name="Text 7"/>
          <p:cNvSpPr/>
          <p:nvPr/>
        </p:nvSpPr>
        <p:spPr>
          <a:xfrm>
            <a:off x="7591544" y="4499491"/>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Animated mini video logo in the top bar</a:t>
            </a:r>
            <a:endParaRPr lang="en-US" sz="1700"/>
          </a:p>
        </p:txBody>
      </p:sp>
      <p:sp>
        <p:nvSpPr>
          <p:cNvPr id="10" name="Text 8"/>
          <p:cNvSpPr/>
          <p:nvPr/>
        </p:nvSpPr>
        <p:spPr>
          <a:xfrm>
            <a:off x="7591544" y="4928949"/>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Clean, responsive layout for optimal viewing</a:t>
            </a:r>
            <a:endParaRPr lang="en-US" sz="1700"/>
          </a:p>
        </p:txBody>
      </p:sp>
      <p:sp>
        <p:nvSpPr>
          <p:cNvPr id="11" name="Text 9"/>
          <p:cNvSpPr/>
          <p:nvPr/>
        </p:nvSpPr>
        <p:spPr>
          <a:xfrm>
            <a:off x="7591544" y="5358408"/>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Intuitive interface for managing personal information</a:t>
            </a:r>
            <a:endParaRPr lang="en-US" sz="1700"/>
          </a:p>
        </p:txBody>
      </p:sp>
      <p:sp>
        <p:nvSpPr>
          <p:cNvPr id="12" name="Text 10"/>
          <p:cNvSpPr/>
          <p:nvPr/>
        </p:nvSpPr>
        <p:spPr>
          <a:xfrm>
            <a:off x="7591544" y="5787866"/>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Personalise your presence within the SafePlay community</a:t>
            </a:r>
            <a:endParaRPr lang="en-US" sz="1700"/>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5">
    <p:spTree>
      <p:nvGrpSpPr>
        <p:cNvPr id="1" name=""/>
        <p:cNvGrpSpPr/>
        <p:nvPr/>
      </p:nvGrpSpPr>
      <p:grpSpPr>
        <a:xfrm>
          <a:off x="0" y="0"/>
          <a:ext cx="0" cy="0"/>
        </a:xfrm>
      </p:grpSpPr>
      <p:sp>
        <p:nvSpPr>
          <p:cNvPr id="2" name="Text 0"/>
          <p:cNvSpPr/>
          <p:nvPr/>
        </p:nvSpPr>
        <p:spPr>
          <a:xfrm>
            <a:off x="797600" y="548402"/>
            <a:ext cx="2293025" cy="276939"/>
          </a:xfrm>
          <a:prstGeom prst="rect">
            <a:avLst/>
          </a:prstGeom>
          <a:noFill/>
        </p:spPr>
        <p:txBody>
          <a:bodyPr wrap="none" lIns="0" tIns="0" rIns="0" bIns="0" rtlCol="0" anchor="t"/>
          <a:lstStyle/>
          <a:p>
            <a:pPr marL="0" indent="0" algn="l">
              <a:lnSpc>
                <a:spcPts val="2150"/>
              </a:lnSpc>
              <a:buNone/>
            </a:pPr>
            <a:r>
              <a:rPr lang="en-US" sz="1700" b="1">
                <a:solidFill>
                  <a:srgbClr val="F0FCFF"/>
                </a:solidFill>
                <a:latin typeface="Spline Sans Bold" pitchFamily="34" charset="0"/>
                <a:ea typeface="Spline Sans Bold" pitchFamily="34" charset="-122"/>
                <a:cs typeface="Spline Sans Bold" pitchFamily="34" charset="-120"/>
              </a:rPr>
              <a:t>SCREEN OVERVIEW 07</a:t>
            </a:r>
            <a:endParaRPr lang="en-US" sz="1700"/>
          </a:p>
        </p:txBody>
      </p:sp>
      <p:sp>
        <p:nvSpPr>
          <p:cNvPr id="3" name="Text 1"/>
          <p:cNvSpPr/>
          <p:nvPr/>
        </p:nvSpPr>
        <p:spPr>
          <a:xfrm>
            <a:off x="797600" y="904994"/>
            <a:ext cx="8617744" cy="553879"/>
          </a:xfrm>
          <a:prstGeom prst="rect">
            <a:avLst/>
          </a:prstGeom>
          <a:noFill/>
        </p:spPr>
        <p:txBody>
          <a:bodyPr wrap="none" lIns="0" tIns="0" rIns="0" bIns="0" rtlCol="0" anchor="t"/>
          <a:lstStyle/>
          <a:p>
            <a:pPr marL="0" indent="0" algn="l">
              <a:lnSpc>
                <a:spcPts val="4350"/>
              </a:lnSpc>
              <a:buNone/>
            </a:pPr>
            <a:r>
              <a:rPr lang="en-US" sz="3450" b="1">
                <a:solidFill>
                  <a:srgbClr val="F0FCFF"/>
                </a:solidFill>
                <a:latin typeface="Spline Sans Bold" pitchFamily="34" charset="0"/>
                <a:ea typeface="Spline Sans Bold" pitchFamily="34" charset="-122"/>
                <a:cs typeface="Spline Sans Bold" pitchFamily="34" charset="-120"/>
              </a:rPr>
              <a:t>Settings Screen: Customisation &amp; Control</a:t>
            </a:r>
            <a:endParaRPr lang="en-US" sz="3450"/>
          </a:p>
        </p:txBody>
      </p:sp>
      <p:sp>
        <p:nvSpPr>
          <p:cNvPr id="4" name="Text 2"/>
          <p:cNvSpPr/>
          <p:nvPr/>
        </p:nvSpPr>
        <p:spPr>
          <a:xfrm>
            <a:off x="797600" y="1757958"/>
            <a:ext cx="13035201" cy="638175"/>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The SafePlay Settings module offers comprehensive controls for security, privacy, and application personalisation. Designed with user-friendliness in mind, it ensures a seamless experience in managing preferences and maintaining app security.</a:t>
            </a:r>
            <a:endParaRPr lang="en-US" sz="1550"/>
          </a:p>
        </p:txBody>
      </p:sp>
      <p:sp>
        <p:nvSpPr>
          <p:cNvPr id="5" name="Shape 3"/>
          <p:cNvSpPr/>
          <p:nvPr/>
        </p:nvSpPr>
        <p:spPr>
          <a:xfrm>
            <a:off x="797600" y="2620447"/>
            <a:ext cx="6417945" cy="2276475"/>
          </a:xfrm>
          <a:prstGeom prst="roundRect">
            <a:avLst>
              <a:gd name="adj" fmla="val 13141"/>
            </a:avLst>
          </a:prstGeom>
          <a:solidFill>
            <a:srgbClr val="0A081B"/>
          </a:solidFill>
          <a:ln w="22860">
            <a:solidFill>
              <a:srgbClr val="16FFBB"/>
            </a:solidFill>
            <a:prstDash val="solid"/>
          </a:ln>
        </p:spPr>
        <p:txBody>
          <a:bodyPr/>
          <a:lstStyle/>
          <a:p/>
        </p:txBody>
      </p:sp>
      <p:sp>
        <p:nvSpPr>
          <p:cNvPr id="6" name="Shape 4"/>
          <p:cNvSpPr/>
          <p:nvPr/>
        </p:nvSpPr>
        <p:spPr>
          <a:xfrm>
            <a:off x="1019770" y="2842617"/>
            <a:ext cx="598170" cy="598170"/>
          </a:xfrm>
          <a:prstGeom prst="roundRect">
            <a:avLst>
              <a:gd name="adj" fmla="val 15285096"/>
            </a:avLst>
          </a:prstGeom>
          <a:solidFill>
            <a:srgbClr val="16FFBB"/>
          </a:solidFill>
        </p:spPr>
        <p:txBody>
          <a:bodyPr/>
          <a:lstStyle/>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4196" y="3007043"/>
            <a:ext cx="269200" cy="269200"/>
          </a:xfrm>
          <a:prstGeom prst="rect">
            <a:avLst/>
          </a:prstGeom>
        </p:spPr>
      </p:pic>
      <p:sp>
        <p:nvSpPr>
          <p:cNvPr id="8" name="Text 5"/>
          <p:cNvSpPr/>
          <p:nvPr/>
        </p:nvSpPr>
        <p:spPr>
          <a:xfrm>
            <a:off x="1019770" y="3640098"/>
            <a:ext cx="2310884" cy="276939"/>
          </a:xfrm>
          <a:prstGeom prst="rect">
            <a:avLst/>
          </a:prstGeom>
          <a:noFill/>
        </p:spPr>
        <p:txBody>
          <a:bodyPr wrap="none" lIns="0" tIns="0" rIns="0" bIns="0" rtlCol="0" anchor="t"/>
          <a:lstStyle/>
          <a:p>
            <a:pPr marL="0" indent="0" algn="l">
              <a:lnSpc>
                <a:spcPts val="2150"/>
              </a:lnSpc>
              <a:buNone/>
            </a:pPr>
            <a:r>
              <a:rPr lang="en-US" sz="1700" b="1">
                <a:solidFill>
                  <a:srgbClr val="E0E4E6"/>
                </a:solidFill>
                <a:latin typeface="Spline Sans Bold" pitchFamily="34" charset="0"/>
                <a:ea typeface="Spline Sans Bold" pitchFamily="34" charset="-122"/>
                <a:cs typeface="Spline Sans Bold" pitchFamily="34" charset="-120"/>
              </a:rPr>
              <a:t>Security Management</a:t>
            </a:r>
            <a:endParaRPr lang="en-US" sz="1700"/>
          </a:p>
        </p:txBody>
      </p:sp>
      <p:sp>
        <p:nvSpPr>
          <p:cNvPr id="9" name="Text 6"/>
          <p:cNvSpPr/>
          <p:nvPr/>
        </p:nvSpPr>
        <p:spPr>
          <a:xfrm>
            <a:off x="1019770" y="4036576"/>
            <a:ext cx="5973604" cy="638175"/>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Easily change your PIN, update your password, and manage biometric login options for enhanced security.</a:t>
            </a:r>
            <a:endParaRPr lang="en-US" sz="1550"/>
          </a:p>
        </p:txBody>
      </p:sp>
      <p:sp>
        <p:nvSpPr>
          <p:cNvPr id="10" name="Shape 7"/>
          <p:cNvSpPr/>
          <p:nvPr/>
        </p:nvSpPr>
        <p:spPr>
          <a:xfrm>
            <a:off x="7414855" y="2620447"/>
            <a:ext cx="6417945" cy="2276475"/>
          </a:xfrm>
          <a:prstGeom prst="roundRect">
            <a:avLst>
              <a:gd name="adj" fmla="val 13141"/>
            </a:avLst>
          </a:prstGeom>
          <a:solidFill>
            <a:srgbClr val="0A081B"/>
          </a:solidFill>
          <a:ln w="22860">
            <a:solidFill>
              <a:srgbClr val="29DDDA"/>
            </a:solidFill>
            <a:prstDash val="solid"/>
          </a:ln>
        </p:spPr>
        <p:txBody>
          <a:bodyPr/>
          <a:lstStyle/>
          <a:p/>
        </p:txBody>
      </p:sp>
      <p:sp>
        <p:nvSpPr>
          <p:cNvPr id="11" name="Shape 8"/>
          <p:cNvSpPr/>
          <p:nvPr/>
        </p:nvSpPr>
        <p:spPr>
          <a:xfrm>
            <a:off x="7637026" y="2842617"/>
            <a:ext cx="598170" cy="598170"/>
          </a:xfrm>
          <a:prstGeom prst="roundRect">
            <a:avLst>
              <a:gd name="adj" fmla="val 15285096"/>
            </a:avLst>
          </a:prstGeom>
          <a:solidFill>
            <a:srgbClr val="29DDDA"/>
          </a:solidFill>
        </p:spPr>
        <p:txBody>
          <a:bodyPr/>
          <a:lstStyle/>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1451" y="3007043"/>
            <a:ext cx="269200" cy="269200"/>
          </a:xfrm>
          <a:prstGeom prst="rect">
            <a:avLst/>
          </a:prstGeom>
        </p:spPr>
      </p:pic>
      <p:sp>
        <p:nvSpPr>
          <p:cNvPr id="13" name="Text 9"/>
          <p:cNvSpPr/>
          <p:nvPr/>
        </p:nvSpPr>
        <p:spPr>
          <a:xfrm>
            <a:off x="7637026" y="3640098"/>
            <a:ext cx="2496860" cy="276939"/>
          </a:xfrm>
          <a:prstGeom prst="rect">
            <a:avLst/>
          </a:prstGeom>
          <a:noFill/>
        </p:spPr>
        <p:txBody>
          <a:bodyPr wrap="none" lIns="0" tIns="0" rIns="0" bIns="0" rtlCol="0" anchor="t"/>
          <a:lstStyle/>
          <a:p>
            <a:pPr marL="0" indent="0" algn="l">
              <a:lnSpc>
                <a:spcPts val="2150"/>
              </a:lnSpc>
              <a:buNone/>
            </a:pPr>
            <a:r>
              <a:rPr lang="en-US" sz="1700" b="1">
                <a:solidFill>
                  <a:srgbClr val="E0E4E6"/>
                </a:solidFill>
                <a:latin typeface="Spline Sans Bold" pitchFamily="34" charset="0"/>
                <a:ea typeface="Spline Sans Bold" pitchFamily="34" charset="-122"/>
                <a:cs typeface="Spline Sans Bold" pitchFamily="34" charset="-120"/>
              </a:rPr>
              <a:t>Personalisation Options</a:t>
            </a:r>
            <a:endParaRPr lang="en-US" sz="1700"/>
          </a:p>
        </p:txBody>
      </p:sp>
      <p:sp>
        <p:nvSpPr>
          <p:cNvPr id="14" name="Text 10"/>
          <p:cNvSpPr/>
          <p:nvPr/>
        </p:nvSpPr>
        <p:spPr>
          <a:xfrm>
            <a:off x="7637026" y="4036576"/>
            <a:ext cx="5973604" cy="638175"/>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Customise your chat experience by changing your wallpaper and choosing between dark/light adaptive themes.</a:t>
            </a:r>
            <a:endParaRPr lang="en-US" sz="1550"/>
          </a:p>
        </p:txBody>
      </p:sp>
      <p:sp>
        <p:nvSpPr>
          <p:cNvPr id="15" name="Shape 11"/>
          <p:cNvSpPr/>
          <p:nvPr/>
        </p:nvSpPr>
        <p:spPr>
          <a:xfrm>
            <a:off x="797600" y="5096232"/>
            <a:ext cx="6417945" cy="2595562"/>
          </a:xfrm>
          <a:prstGeom prst="roundRect">
            <a:avLst>
              <a:gd name="adj" fmla="val 11525"/>
            </a:avLst>
          </a:prstGeom>
          <a:solidFill>
            <a:srgbClr val="0A081B"/>
          </a:solidFill>
          <a:ln w="22860">
            <a:solidFill>
              <a:srgbClr val="37A7E7"/>
            </a:solidFill>
            <a:prstDash val="solid"/>
          </a:ln>
        </p:spPr>
        <p:txBody>
          <a:bodyPr/>
          <a:lstStyle/>
          <a:p/>
        </p:txBody>
      </p:sp>
      <p:sp>
        <p:nvSpPr>
          <p:cNvPr id="16" name="Shape 12"/>
          <p:cNvSpPr/>
          <p:nvPr/>
        </p:nvSpPr>
        <p:spPr>
          <a:xfrm>
            <a:off x="1019770" y="5318403"/>
            <a:ext cx="598170" cy="598170"/>
          </a:xfrm>
          <a:prstGeom prst="roundRect">
            <a:avLst>
              <a:gd name="adj" fmla="val 15285096"/>
            </a:avLst>
          </a:prstGeom>
          <a:solidFill>
            <a:srgbClr val="37A7E7"/>
          </a:solidFill>
        </p:spPr>
        <p:txBody>
          <a:bodyPr/>
          <a:lstStyle/>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4196" y="5482828"/>
            <a:ext cx="269200" cy="269200"/>
          </a:xfrm>
          <a:prstGeom prst="rect">
            <a:avLst/>
          </a:prstGeom>
        </p:spPr>
      </p:pic>
      <p:sp>
        <p:nvSpPr>
          <p:cNvPr id="18" name="Text 13"/>
          <p:cNvSpPr/>
          <p:nvPr/>
        </p:nvSpPr>
        <p:spPr>
          <a:xfrm>
            <a:off x="1019770" y="6115883"/>
            <a:ext cx="2215872" cy="276939"/>
          </a:xfrm>
          <a:prstGeom prst="rect">
            <a:avLst/>
          </a:prstGeom>
          <a:noFill/>
        </p:spPr>
        <p:txBody>
          <a:bodyPr wrap="none" lIns="0" tIns="0" rIns="0" bIns="0" rtlCol="0" anchor="t"/>
          <a:lstStyle/>
          <a:p>
            <a:pPr marL="0" indent="0" algn="l">
              <a:lnSpc>
                <a:spcPts val="2150"/>
              </a:lnSpc>
              <a:buNone/>
            </a:pPr>
            <a:r>
              <a:rPr lang="en-US" sz="1700" b="1">
                <a:solidFill>
                  <a:srgbClr val="E0E4E6"/>
                </a:solidFill>
                <a:latin typeface="Spline Sans Bold" pitchFamily="34" charset="0"/>
                <a:ea typeface="Spline Sans Bold" pitchFamily="34" charset="-122"/>
                <a:cs typeface="Spline Sans Bold" pitchFamily="34" charset="-120"/>
              </a:rPr>
              <a:t>Support &amp; Feedback</a:t>
            </a:r>
            <a:endParaRPr lang="en-US" sz="1700"/>
          </a:p>
        </p:txBody>
      </p:sp>
      <p:sp>
        <p:nvSpPr>
          <p:cNvPr id="19" name="Text 14"/>
          <p:cNvSpPr/>
          <p:nvPr/>
        </p:nvSpPr>
        <p:spPr>
          <a:xfrm>
            <a:off x="1019770" y="6512362"/>
            <a:ext cx="5973604" cy="638175"/>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Submit feedback directly, access support via email, and find help with any issues you encounter.</a:t>
            </a:r>
            <a:endParaRPr lang="en-US" sz="1550"/>
          </a:p>
        </p:txBody>
      </p:sp>
      <p:sp>
        <p:nvSpPr>
          <p:cNvPr id="20" name="Shape 15"/>
          <p:cNvSpPr/>
          <p:nvPr/>
        </p:nvSpPr>
        <p:spPr>
          <a:xfrm>
            <a:off x="7414855" y="5096232"/>
            <a:ext cx="6417945" cy="2595562"/>
          </a:xfrm>
          <a:prstGeom prst="roundRect">
            <a:avLst>
              <a:gd name="adj" fmla="val 11525"/>
            </a:avLst>
          </a:prstGeom>
          <a:solidFill>
            <a:srgbClr val="0A081B"/>
          </a:solidFill>
          <a:ln w="22860">
            <a:solidFill>
              <a:srgbClr val="091231"/>
            </a:solidFill>
            <a:prstDash val="solid"/>
          </a:ln>
        </p:spPr>
        <p:txBody>
          <a:bodyPr/>
          <a:lstStyle/>
          <a:p/>
        </p:txBody>
      </p:sp>
      <p:sp>
        <p:nvSpPr>
          <p:cNvPr id="21" name="Shape 16"/>
          <p:cNvSpPr/>
          <p:nvPr/>
        </p:nvSpPr>
        <p:spPr>
          <a:xfrm>
            <a:off x="7637026" y="5318403"/>
            <a:ext cx="598170" cy="598170"/>
          </a:xfrm>
          <a:prstGeom prst="roundRect">
            <a:avLst>
              <a:gd name="adj" fmla="val 15285096"/>
            </a:avLst>
          </a:prstGeom>
          <a:solidFill>
            <a:srgbClr val="091231"/>
          </a:solidFill>
        </p:spPr>
        <p:txBody>
          <a:bodyPr/>
          <a:lstStyle/>
          <a:p/>
        </p:txBody>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01451" y="5482828"/>
            <a:ext cx="269200" cy="269200"/>
          </a:xfrm>
          <a:prstGeom prst="rect">
            <a:avLst/>
          </a:prstGeom>
        </p:spPr>
      </p:pic>
      <p:sp>
        <p:nvSpPr>
          <p:cNvPr id="23" name="Text 17"/>
          <p:cNvSpPr/>
          <p:nvPr/>
        </p:nvSpPr>
        <p:spPr>
          <a:xfrm>
            <a:off x="7637026" y="6115883"/>
            <a:ext cx="2302073" cy="276939"/>
          </a:xfrm>
          <a:prstGeom prst="rect">
            <a:avLst/>
          </a:prstGeom>
          <a:noFill/>
        </p:spPr>
        <p:txBody>
          <a:bodyPr wrap="none" lIns="0" tIns="0" rIns="0" bIns="0" rtlCol="0" anchor="t"/>
          <a:lstStyle/>
          <a:p>
            <a:pPr marL="0" indent="0" algn="l">
              <a:lnSpc>
                <a:spcPts val="2150"/>
              </a:lnSpc>
              <a:buNone/>
            </a:pPr>
            <a:r>
              <a:rPr lang="en-US" sz="1700" b="1">
                <a:solidFill>
                  <a:srgbClr val="E0E4E6"/>
                </a:solidFill>
                <a:latin typeface="Spline Sans Bold" pitchFamily="34" charset="0"/>
                <a:ea typeface="Spline Sans Bold" pitchFamily="34" charset="-122"/>
                <a:cs typeface="Spline Sans Bold" pitchFamily="34" charset="-120"/>
              </a:rPr>
              <a:t>Account Management</a:t>
            </a:r>
            <a:endParaRPr lang="en-US" sz="1700"/>
          </a:p>
        </p:txBody>
      </p:sp>
      <p:sp>
        <p:nvSpPr>
          <p:cNvPr id="24" name="Text 18"/>
          <p:cNvSpPr/>
          <p:nvPr/>
        </p:nvSpPr>
        <p:spPr>
          <a:xfrm>
            <a:off x="7637026" y="6512362"/>
            <a:ext cx="5973604" cy="957263"/>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Securely log out of your account, with all rows featuring video icons that match the distinctive SafePlay theme for a cohesive visual experience.</a:t>
            </a:r>
            <a:endParaRPr lang="en-US" sz="1550"/>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6">
    <p:spTree>
      <p:nvGrpSpPr>
        <p:cNvPr id="1" name=""/>
        <p:cNvGrpSpPr/>
        <p:nvPr/>
      </p:nvGrpSpPr>
      <p:grpSpPr>
        <a:xfrm>
          <a:off x="0" y="0"/>
          <a:ext cx="0" cy="0"/>
        </a:xfrm>
      </p:grpSpPr>
      <p:sp>
        <p:nvSpPr>
          <p:cNvPr id="2" name="Text 0"/>
          <p:cNvSpPr/>
          <p:nvPr/>
        </p:nvSpPr>
        <p:spPr>
          <a:xfrm>
            <a:off x="881063" y="1078349"/>
            <a:ext cx="2555558" cy="305991"/>
          </a:xfrm>
          <a:prstGeom prst="rect">
            <a:avLst/>
          </a:prstGeom>
          <a:noFill/>
        </p:spPr>
        <p:txBody>
          <a:bodyPr wrap="none" lIns="0" tIns="0" rIns="0" bIns="0" rtlCol="0" anchor="t"/>
          <a:lstStyle/>
          <a:p>
            <a:pPr marL="0" indent="0" algn="l">
              <a:lnSpc>
                <a:spcPts val="2400"/>
              </a:lnSpc>
              <a:buNone/>
            </a:pPr>
            <a:r>
              <a:rPr lang="en-US" sz="1900" b="1">
                <a:solidFill>
                  <a:srgbClr val="F0FCFF"/>
                </a:solidFill>
                <a:latin typeface="Spline Sans Bold" pitchFamily="34" charset="0"/>
                <a:ea typeface="Spline Sans Bold" pitchFamily="34" charset="-122"/>
                <a:cs typeface="Spline Sans Bold" pitchFamily="34" charset="-120"/>
              </a:rPr>
              <a:t>SCREEN OVERVIEW 08</a:t>
            </a:r>
            <a:endParaRPr lang="en-US" sz="1900"/>
          </a:p>
        </p:txBody>
      </p:sp>
      <p:sp>
        <p:nvSpPr>
          <p:cNvPr id="3" name="Text 1"/>
          <p:cNvSpPr/>
          <p:nvPr/>
        </p:nvSpPr>
        <p:spPr>
          <a:xfrm>
            <a:off x="881063" y="1472446"/>
            <a:ext cx="9700260"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Wallpaper System: Personalise Your Chats</a:t>
            </a:r>
            <a:endParaRPr lang="en-US" sz="3850"/>
          </a:p>
        </p:txBody>
      </p:sp>
      <p:sp>
        <p:nvSpPr>
          <p:cNvPr id="4" name="Text 2"/>
          <p:cNvSpPr/>
          <p:nvPr/>
        </p:nvSpPr>
        <p:spPr>
          <a:xfrm>
            <a:off x="881063" y="2414826"/>
            <a:ext cx="12868275"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The SafePlay Wallpaper System allows users to effortlessly customise their chat backgrounds, creating a more personal and engaging communication environment. This feature is seamlessly integrated, ensuring a smooth and visually appealing user experience.</a:t>
            </a:r>
            <a:endParaRPr lang="en-US" sz="170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692" y="3374291"/>
            <a:ext cx="330398" cy="330398"/>
          </a:xfrm>
          <a:prstGeom prst="rect">
            <a:avLst/>
          </a:prstGeom>
        </p:spPr>
      </p:pic>
      <p:sp>
        <p:nvSpPr>
          <p:cNvPr id="6" name="Text 3"/>
          <p:cNvSpPr/>
          <p:nvPr/>
        </p:nvSpPr>
        <p:spPr>
          <a:xfrm>
            <a:off x="1596985" y="3367445"/>
            <a:ext cx="2965013"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Cloud Storage Integration</a:t>
            </a:r>
            <a:endParaRPr lang="en-US" sz="1900"/>
          </a:p>
        </p:txBody>
      </p:sp>
      <p:sp>
        <p:nvSpPr>
          <p:cNvPr id="7" name="Text 4"/>
          <p:cNvSpPr/>
          <p:nvPr/>
        </p:nvSpPr>
        <p:spPr>
          <a:xfrm>
            <a:off x="1596985" y="3805595"/>
            <a:ext cx="5580578"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Easily upload your chosen wallpaper to Firebase Storage, ensuring secure and reliable storage.</a:t>
            </a:r>
            <a:endParaRPr lang="en-US" sz="170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35466" y="3374291"/>
            <a:ext cx="330398" cy="330398"/>
          </a:xfrm>
          <a:prstGeom prst="rect">
            <a:avLst/>
          </a:prstGeom>
        </p:spPr>
      </p:pic>
      <p:sp>
        <p:nvSpPr>
          <p:cNvPr id="9" name="Text 5"/>
          <p:cNvSpPr/>
          <p:nvPr/>
        </p:nvSpPr>
        <p:spPr>
          <a:xfrm>
            <a:off x="8168759" y="3367445"/>
            <a:ext cx="2863096"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Automated Management</a:t>
            </a:r>
            <a:endParaRPr lang="en-US" sz="1900"/>
          </a:p>
        </p:txBody>
      </p:sp>
      <p:sp>
        <p:nvSpPr>
          <p:cNvPr id="10" name="Text 6"/>
          <p:cNvSpPr/>
          <p:nvPr/>
        </p:nvSpPr>
        <p:spPr>
          <a:xfrm>
            <a:off x="8168759" y="3805595"/>
            <a:ext cx="5580578" cy="704850"/>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Previous wallpapers are automatically deleted upon new uploads, keeping your storage optimised and clutter-free.</a:t>
            </a:r>
            <a:endParaRPr lang="en-US" sz="170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3692" y="4957822"/>
            <a:ext cx="330398" cy="330398"/>
          </a:xfrm>
          <a:prstGeom prst="rect">
            <a:avLst/>
          </a:prstGeom>
        </p:spPr>
      </p:pic>
      <p:sp>
        <p:nvSpPr>
          <p:cNvPr id="12" name="Text 7"/>
          <p:cNvSpPr/>
          <p:nvPr/>
        </p:nvSpPr>
        <p:spPr>
          <a:xfrm>
            <a:off x="1596985" y="4950976"/>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Real-time Feedback</a:t>
            </a:r>
            <a:endParaRPr lang="en-US" sz="1900"/>
          </a:p>
        </p:txBody>
      </p:sp>
      <p:sp>
        <p:nvSpPr>
          <p:cNvPr id="13" name="Text 8"/>
          <p:cNvSpPr/>
          <p:nvPr/>
        </p:nvSpPr>
        <p:spPr>
          <a:xfrm>
            <a:off x="1596985" y="5389126"/>
            <a:ext cx="5580578"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Monitor the upload progress with a dynamic animation, providing instant visual feedback on the status of your new wallpaper.</a:t>
            </a:r>
            <a:endParaRPr lang="en-US" sz="1700"/>
          </a:p>
        </p:txBody>
      </p:sp>
      <p:pic>
        <p:nvPicPr>
          <p:cNvPr id="1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35466" y="4957822"/>
            <a:ext cx="330398" cy="330398"/>
          </a:xfrm>
          <a:prstGeom prst="rect">
            <a:avLst/>
          </a:prstGeom>
        </p:spPr>
      </p:pic>
      <p:sp>
        <p:nvSpPr>
          <p:cNvPr id="15" name="Text 9"/>
          <p:cNvSpPr/>
          <p:nvPr/>
        </p:nvSpPr>
        <p:spPr>
          <a:xfrm>
            <a:off x="8168759" y="4950976"/>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Seamless Loading</a:t>
            </a:r>
            <a:endParaRPr lang="en-US" sz="1900"/>
          </a:p>
        </p:txBody>
      </p:sp>
      <p:sp>
        <p:nvSpPr>
          <p:cNvPr id="16" name="Text 10"/>
          <p:cNvSpPr/>
          <p:nvPr/>
        </p:nvSpPr>
        <p:spPr>
          <a:xfrm>
            <a:off x="8168759" y="5389126"/>
            <a:ext cx="5580578" cy="176212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Wallpapers load smoothly from both local storage and the server, ensuring quick display. Preview your current wallpaper to ensure it meets your expectations, all accompanied by a smooth SafePlay-style animation during the upload process.</a:t>
            </a:r>
            <a:endParaRPr lang="en-US" sz="1700"/>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7">
    <p:spTree>
      <p:nvGrpSpPr>
        <p:cNvPr id="1" name=""/>
        <p:cNvGrpSpPr/>
        <p:nvPr/>
      </p:nvGrpSpPr>
      <p:grpSpPr>
        <a:xfrm>
          <a:off x="0" y="0"/>
          <a:ext cx="0" cy="0"/>
        </a:xfrm>
      </p:grpSpPr>
      <p:sp>
        <p:nvSpPr>
          <p:cNvPr id="2" name="Text 0"/>
          <p:cNvSpPr/>
          <p:nvPr/>
        </p:nvSpPr>
        <p:spPr>
          <a:xfrm>
            <a:off x="881063" y="1355050"/>
            <a:ext cx="2549366" cy="305991"/>
          </a:xfrm>
          <a:prstGeom prst="rect">
            <a:avLst/>
          </a:prstGeom>
          <a:noFill/>
        </p:spPr>
        <p:txBody>
          <a:bodyPr wrap="none" lIns="0" tIns="0" rIns="0" bIns="0" rtlCol="0" anchor="t"/>
          <a:lstStyle/>
          <a:p>
            <a:pPr marL="0" indent="0" algn="l">
              <a:lnSpc>
                <a:spcPts val="2400"/>
              </a:lnSpc>
              <a:buNone/>
            </a:pPr>
            <a:r>
              <a:rPr lang="en-US" sz="1900" b="1">
                <a:solidFill>
                  <a:srgbClr val="F0FCFF"/>
                </a:solidFill>
                <a:latin typeface="Spline Sans Bold" pitchFamily="34" charset="0"/>
                <a:ea typeface="Spline Sans Bold" pitchFamily="34" charset="-122"/>
                <a:cs typeface="Spline Sans Bold" pitchFamily="34" charset="-120"/>
              </a:rPr>
              <a:t>SCREEN OVERVIEW 09</a:t>
            </a:r>
            <a:endParaRPr lang="en-US" sz="1900"/>
          </a:p>
        </p:txBody>
      </p:sp>
      <p:sp>
        <p:nvSpPr>
          <p:cNvPr id="3" name="Text 1"/>
          <p:cNvSpPr/>
          <p:nvPr/>
        </p:nvSpPr>
        <p:spPr>
          <a:xfrm>
            <a:off x="881063" y="1749147"/>
            <a:ext cx="9942076"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Feedback System: Bridging Users &amp; Admins</a:t>
            </a:r>
            <a:endParaRPr lang="en-US" sz="3850"/>
          </a:p>
        </p:txBody>
      </p:sp>
      <p:sp>
        <p:nvSpPr>
          <p:cNvPr id="4" name="Text 2"/>
          <p:cNvSpPr/>
          <p:nvPr/>
        </p:nvSpPr>
        <p:spPr>
          <a:xfrm>
            <a:off x="881063" y="2691527"/>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SafePlay integrates a straightforward and efficient feedback system, designed to foster better communication between users and administrators. This two-sided system ensures that user concerns are heard and addressed promptly, enhancing the overall platform experience.</a:t>
            </a:r>
            <a:endParaRPr lang="en-US" sz="1700"/>
          </a:p>
        </p:txBody>
      </p:sp>
      <p:sp>
        <p:nvSpPr>
          <p:cNvPr id="5" name="Text 3"/>
          <p:cNvSpPr/>
          <p:nvPr/>
        </p:nvSpPr>
        <p:spPr>
          <a:xfrm>
            <a:off x="881063" y="4216837"/>
            <a:ext cx="2937153" cy="367070"/>
          </a:xfrm>
          <a:prstGeom prst="rect">
            <a:avLst/>
          </a:prstGeom>
          <a:noFill/>
        </p:spPr>
        <p:txBody>
          <a:bodyPr wrap="none" lIns="0" tIns="0" rIns="0" bIns="0" rtlCol="0" anchor="t"/>
          <a:lstStyle/>
          <a:p>
            <a:pPr marL="0" indent="0" algn="l">
              <a:lnSpc>
                <a:spcPts val="2850"/>
              </a:lnSpc>
              <a:buNone/>
            </a:pPr>
            <a:r>
              <a:rPr lang="en-US" sz="2300" b="1">
                <a:solidFill>
                  <a:srgbClr val="F0FCFF"/>
                </a:solidFill>
                <a:latin typeface="Spline Sans Bold" pitchFamily="34" charset="0"/>
                <a:ea typeface="Spline Sans Bold" pitchFamily="34" charset="-122"/>
                <a:cs typeface="Spline Sans Bold" pitchFamily="34" charset="-120"/>
              </a:rPr>
              <a:t>User-Side Features</a:t>
            </a:r>
            <a:endParaRPr lang="en-US" sz="2300"/>
          </a:p>
        </p:txBody>
      </p:sp>
      <p:sp>
        <p:nvSpPr>
          <p:cNvPr id="6" name="Text 4"/>
          <p:cNvSpPr/>
          <p:nvPr/>
        </p:nvSpPr>
        <p:spPr>
          <a:xfrm>
            <a:off x="881063" y="4804172"/>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Select relevant feedback categories for precise reporting.</a:t>
            </a:r>
            <a:endParaRPr lang="en-US" sz="1700"/>
          </a:p>
        </p:txBody>
      </p:sp>
      <p:sp>
        <p:nvSpPr>
          <p:cNvPr id="7" name="Text 5"/>
          <p:cNvSpPr/>
          <p:nvPr/>
        </p:nvSpPr>
        <p:spPr>
          <a:xfrm>
            <a:off x="881063" y="5233630"/>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Craft detailed messages to convey your thoughts or issues.</a:t>
            </a:r>
            <a:endParaRPr lang="en-US" sz="1700"/>
          </a:p>
        </p:txBody>
      </p:sp>
      <p:sp>
        <p:nvSpPr>
          <p:cNvPr id="8" name="Text 6"/>
          <p:cNvSpPr/>
          <p:nvPr/>
        </p:nvSpPr>
        <p:spPr>
          <a:xfrm>
            <a:off x="881063" y="5663089"/>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Submit feedback instantly to Firestore for quick processing.</a:t>
            </a:r>
            <a:endParaRPr lang="en-US" sz="1700"/>
          </a:p>
        </p:txBody>
      </p:sp>
      <p:sp>
        <p:nvSpPr>
          <p:cNvPr id="9" name="Text 7"/>
          <p:cNvSpPr/>
          <p:nvPr/>
        </p:nvSpPr>
        <p:spPr>
          <a:xfrm>
            <a:off x="7591544" y="4216837"/>
            <a:ext cx="2937153" cy="367070"/>
          </a:xfrm>
          <a:prstGeom prst="rect">
            <a:avLst/>
          </a:prstGeom>
          <a:noFill/>
        </p:spPr>
        <p:txBody>
          <a:bodyPr wrap="none" lIns="0" tIns="0" rIns="0" bIns="0" rtlCol="0" anchor="t"/>
          <a:lstStyle/>
          <a:p>
            <a:pPr marL="0" indent="0" algn="l">
              <a:lnSpc>
                <a:spcPts val="2850"/>
              </a:lnSpc>
              <a:buNone/>
            </a:pPr>
            <a:r>
              <a:rPr lang="en-US" sz="2300" b="1">
                <a:solidFill>
                  <a:srgbClr val="F0FCFF"/>
                </a:solidFill>
                <a:latin typeface="Spline Sans Bold" pitchFamily="34" charset="0"/>
                <a:ea typeface="Spline Sans Bold" pitchFamily="34" charset="-122"/>
                <a:cs typeface="Spline Sans Bold" pitchFamily="34" charset="-120"/>
              </a:rPr>
              <a:t>Admin-Side Features</a:t>
            </a:r>
            <a:endParaRPr lang="en-US" sz="2300"/>
          </a:p>
        </p:txBody>
      </p:sp>
      <p:sp>
        <p:nvSpPr>
          <p:cNvPr id="10" name="Text 8"/>
          <p:cNvSpPr/>
          <p:nvPr/>
        </p:nvSpPr>
        <p:spPr>
          <a:xfrm>
            <a:off x="7591544" y="4804172"/>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View a comprehensive list of all submitted feedback.</a:t>
            </a:r>
            <a:endParaRPr lang="en-US" sz="1700"/>
          </a:p>
        </p:txBody>
      </p:sp>
      <p:sp>
        <p:nvSpPr>
          <p:cNvPr id="11" name="Text 9"/>
          <p:cNvSpPr/>
          <p:nvPr/>
        </p:nvSpPr>
        <p:spPr>
          <a:xfrm>
            <a:off x="7591544" y="5233630"/>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Mark feedback as read or unread for efficient tracking.</a:t>
            </a:r>
            <a:endParaRPr lang="en-US" sz="1700"/>
          </a:p>
        </p:txBody>
      </p:sp>
      <p:sp>
        <p:nvSpPr>
          <p:cNvPr id="12" name="Text 10"/>
          <p:cNvSpPr/>
          <p:nvPr/>
        </p:nvSpPr>
        <p:spPr>
          <a:xfrm>
            <a:off x="7591544" y="5663089"/>
            <a:ext cx="6165413" cy="704850"/>
          </a:xfrm>
          <a:prstGeom prst="rect">
            <a:avLst/>
          </a:prstGeom>
          <a:noFill/>
        </p:spPr>
        <p:txBody>
          <a:bodyPr wrap="squar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Access full details of each submission to understand the context.</a:t>
            </a:r>
            <a:endParaRPr lang="en-US" sz="1700"/>
          </a:p>
        </p:txBody>
      </p:sp>
      <p:sp>
        <p:nvSpPr>
          <p:cNvPr id="13" name="Text 11"/>
          <p:cNvSpPr/>
          <p:nvPr/>
        </p:nvSpPr>
        <p:spPr>
          <a:xfrm>
            <a:off x="7591544" y="6444972"/>
            <a:ext cx="6165413" cy="352425"/>
          </a:xfrm>
          <a:prstGeom prst="rect">
            <a:avLst/>
          </a:prstGeom>
          <a:noFill/>
        </p:spPr>
        <p:txBody>
          <a:bodyPr wrap="none" lIns="0" tIns="0" rIns="0" bIns="0" rtlCol="0" anchor="t"/>
          <a:lstStyle/>
          <a:p>
            <a:pPr marL="342900" indent="-342900" algn="l">
              <a:lnSpc>
                <a:spcPts val="2750"/>
              </a:lnSpc>
              <a:buSzTx/>
              <a:buChar char="•"/>
            </a:pPr>
            <a:r>
              <a:rPr lang="en-US" sz="1700">
                <a:solidFill>
                  <a:srgbClr val="E0E4E6"/>
                </a:solidFill>
                <a:latin typeface="Barlow" pitchFamily="34" charset="0"/>
                <a:ea typeface="Barlow" pitchFamily="34" charset="-122"/>
                <a:cs typeface="Barlow" pitchFamily="34" charset="-120"/>
              </a:rPr>
              <a:t>Reply to users directly using the integrated feedback module.</a:t>
            </a:r>
            <a:endParaRPr lang="en-US" sz="1700"/>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8">
    <p:spTree>
      <p:nvGrpSpPr>
        <p:cNvPr id="1" name=""/>
        <p:cNvGrpSpPr/>
        <p:nvPr/>
      </p:nvGrpSpPr>
      <p:grpSpPr>
        <a:xfrm>
          <a:off x="0" y="0"/>
          <a:ext cx="0" cy="0"/>
        </a:xfrm>
      </p:grpSpPr>
      <p:sp>
        <p:nvSpPr>
          <p:cNvPr id="2" name="Text 0"/>
          <p:cNvSpPr/>
          <p:nvPr/>
        </p:nvSpPr>
        <p:spPr>
          <a:xfrm>
            <a:off x="808673" y="696516"/>
            <a:ext cx="2303859" cy="280749"/>
          </a:xfrm>
          <a:prstGeom prst="rect">
            <a:avLst/>
          </a:prstGeom>
          <a:noFill/>
        </p:spPr>
        <p:txBody>
          <a:bodyPr wrap="none" lIns="0" tIns="0" rIns="0" bIns="0" rtlCol="0" anchor="t"/>
          <a:lstStyle/>
          <a:p>
            <a:pPr marL="0" indent="0" algn="l">
              <a:lnSpc>
                <a:spcPts val="2200"/>
              </a:lnSpc>
              <a:buNone/>
            </a:pPr>
            <a:r>
              <a:rPr lang="en-US" sz="1750" b="1">
                <a:solidFill>
                  <a:srgbClr val="F0FCFF"/>
                </a:solidFill>
                <a:latin typeface="Spline Sans Bold" pitchFamily="34" charset="0"/>
                <a:ea typeface="Spline Sans Bold" pitchFamily="34" charset="-122"/>
                <a:cs typeface="Spline Sans Bold" pitchFamily="34" charset="-120"/>
              </a:rPr>
              <a:t>SCREEN OVERVIEW 10</a:t>
            </a:r>
            <a:endParaRPr lang="en-US" sz="1750"/>
          </a:p>
        </p:txBody>
      </p:sp>
      <p:sp>
        <p:nvSpPr>
          <p:cNvPr id="3" name="Text 1"/>
          <p:cNvSpPr/>
          <p:nvPr/>
        </p:nvSpPr>
        <p:spPr>
          <a:xfrm>
            <a:off x="808673" y="1058108"/>
            <a:ext cx="8257223" cy="561499"/>
          </a:xfrm>
          <a:prstGeom prst="rect">
            <a:avLst/>
          </a:prstGeom>
          <a:noFill/>
        </p:spPr>
        <p:txBody>
          <a:bodyPr wrap="none" lIns="0" tIns="0" rIns="0" bIns="0" rtlCol="0" anchor="t"/>
          <a:lstStyle/>
          <a:p>
            <a:pPr marL="0" indent="0" algn="l">
              <a:lnSpc>
                <a:spcPts val="4400"/>
              </a:lnSpc>
              <a:buNone/>
            </a:pPr>
            <a:r>
              <a:rPr lang="en-US" sz="3500" b="1">
                <a:solidFill>
                  <a:srgbClr val="F0FCFF"/>
                </a:solidFill>
                <a:latin typeface="Spline Sans Bold" pitchFamily="34" charset="0"/>
                <a:ea typeface="Spline Sans Bold" pitchFamily="34" charset="-122"/>
                <a:cs typeface="Spline Sans Bold" pitchFamily="34" charset="-120"/>
              </a:rPr>
              <a:t>Admin Panel: Ensuring Safety &amp; Control</a:t>
            </a:r>
            <a:endParaRPr lang="en-US" sz="3500"/>
          </a:p>
        </p:txBody>
      </p:sp>
      <p:sp>
        <p:nvSpPr>
          <p:cNvPr id="4" name="Text 2"/>
          <p:cNvSpPr/>
          <p:nvPr/>
        </p:nvSpPr>
        <p:spPr>
          <a:xfrm>
            <a:off x="808673" y="1922859"/>
            <a:ext cx="13013055" cy="646748"/>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The SafePlay Admin Panel is the backbone of platform security and moderation, providing powerful tools to maintain a safe and compliant user environment. It features role-based access and automated processes for efficient management.</a:t>
            </a:r>
            <a:endParaRPr lang="en-US" sz="1550"/>
          </a:p>
        </p:txBody>
      </p:sp>
      <p:sp>
        <p:nvSpPr>
          <p:cNvPr id="5" name="Shape 3"/>
          <p:cNvSpPr/>
          <p:nvPr/>
        </p:nvSpPr>
        <p:spPr>
          <a:xfrm>
            <a:off x="808673" y="2797016"/>
            <a:ext cx="6405443" cy="2105263"/>
          </a:xfrm>
          <a:prstGeom prst="roundRect">
            <a:avLst>
              <a:gd name="adj" fmla="val 14405"/>
            </a:avLst>
          </a:prstGeom>
          <a:solidFill>
            <a:srgbClr val="0A081B">
              <a:alpha val="75000"/>
            </a:srgbClr>
          </a:solidFill>
          <a:ln w="22860">
            <a:solidFill>
              <a:srgbClr val="16FFBB"/>
            </a:solidFill>
            <a:prstDash val="solid"/>
          </a:ln>
        </p:spPr>
        <p:txBody>
          <a:bodyPr/>
          <a:lstStyle/>
          <a:p/>
        </p:txBody>
      </p:sp>
      <p:sp>
        <p:nvSpPr>
          <p:cNvPr id="6" name="Shape 4"/>
          <p:cNvSpPr/>
          <p:nvPr/>
        </p:nvSpPr>
        <p:spPr>
          <a:xfrm>
            <a:off x="831533" y="2819876"/>
            <a:ext cx="6359723" cy="606504"/>
          </a:xfrm>
          <a:prstGeom prst="roundRect">
            <a:avLst>
              <a:gd name="adj" fmla="val 45479"/>
            </a:avLst>
          </a:prstGeom>
          <a:solidFill>
            <a:srgbClr val="0A081B"/>
          </a:solidFill>
        </p:spPr>
        <p:txBody>
          <a:bodyPr/>
          <a:lstStyle/>
          <a:p/>
        </p:txBody>
      </p:sp>
      <p:sp>
        <p:nvSpPr>
          <p:cNvPr id="7" name="Text 5"/>
          <p:cNvSpPr/>
          <p:nvPr/>
        </p:nvSpPr>
        <p:spPr>
          <a:xfrm>
            <a:off x="3859768" y="2922151"/>
            <a:ext cx="303252" cy="378976"/>
          </a:xfrm>
          <a:prstGeom prst="rect">
            <a:avLst/>
          </a:prstGeom>
          <a:noFill/>
        </p:spPr>
        <p:txBody>
          <a:bodyPr wrap="none" lIns="0" tIns="0" rIns="0" bIns="0" rtlCol="0" anchor="t"/>
          <a:lstStyle/>
          <a:p>
            <a:pPr marL="0" indent="0" algn="l">
              <a:lnSpc>
                <a:spcPts val="2350"/>
              </a:lnSpc>
              <a:buNone/>
            </a:pPr>
            <a:r>
              <a:rPr lang="en-US" sz="2350" b="1">
                <a:solidFill>
                  <a:srgbClr val="E0E4E6"/>
                </a:solidFill>
                <a:latin typeface="Spline Sans Bold" pitchFamily="34" charset="0"/>
                <a:ea typeface="Spline Sans Bold" pitchFamily="34" charset="-122"/>
                <a:cs typeface="Spline Sans Bold" pitchFamily="34" charset="-120"/>
              </a:rPr>
              <a:t>1</a:t>
            </a:r>
            <a:endParaRPr lang="en-US" sz="2350"/>
          </a:p>
        </p:txBody>
      </p:sp>
      <p:sp>
        <p:nvSpPr>
          <p:cNvPr id="8" name="Text 6"/>
          <p:cNvSpPr/>
          <p:nvPr/>
        </p:nvSpPr>
        <p:spPr>
          <a:xfrm>
            <a:off x="1033701" y="3628549"/>
            <a:ext cx="2246352" cy="280749"/>
          </a:xfrm>
          <a:prstGeom prst="rect">
            <a:avLst/>
          </a:prstGeom>
          <a:noFill/>
        </p:spPr>
        <p:txBody>
          <a:bodyPr wrap="none" lIns="0" tIns="0" rIns="0" bIns="0" rtlCol="0" anchor="t"/>
          <a:lstStyle/>
          <a:p>
            <a:pPr marL="0" indent="0" algn="l">
              <a:lnSpc>
                <a:spcPts val="2200"/>
              </a:lnSpc>
              <a:buNone/>
            </a:pPr>
            <a:r>
              <a:rPr lang="en-US" sz="1750" b="1">
                <a:solidFill>
                  <a:srgbClr val="E0E4E6"/>
                </a:solidFill>
                <a:latin typeface="Spline Sans Bold" pitchFamily="34" charset="0"/>
                <a:ea typeface="Spline Sans Bold" pitchFamily="34" charset="-122"/>
                <a:cs typeface="Spline Sans Bold" pitchFamily="34" charset="-120"/>
              </a:rPr>
              <a:t>User Management</a:t>
            </a:r>
            <a:endParaRPr lang="en-US" sz="1750"/>
          </a:p>
        </p:txBody>
      </p:sp>
      <p:sp>
        <p:nvSpPr>
          <p:cNvPr id="9" name="Text 7"/>
          <p:cNvSpPr/>
          <p:nvPr/>
        </p:nvSpPr>
        <p:spPr>
          <a:xfrm>
            <a:off x="1033701" y="4030504"/>
            <a:ext cx="5955387" cy="646748"/>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Ability to ban or unban users, with automated email notifications for each action, ensuring transparency and accountability.</a:t>
            </a:r>
            <a:endParaRPr lang="en-US" sz="1550"/>
          </a:p>
        </p:txBody>
      </p:sp>
      <p:sp>
        <p:nvSpPr>
          <p:cNvPr id="10" name="Shape 8"/>
          <p:cNvSpPr/>
          <p:nvPr/>
        </p:nvSpPr>
        <p:spPr>
          <a:xfrm>
            <a:off x="7416284" y="2797016"/>
            <a:ext cx="6405443" cy="2105263"/>
          </a:xfrm>
          <a:prstGeom prst="roundRect">
            <a:avLst>
              <a:gd name="adj" fmla="val 14405"/>
            </a:avLst>
          </a:prstGeom>
          <a:solidFill>
            <a:srgbClr val="0A081B">
              <a:alpha val="75000"/>
            </a:srgbClr>
          </a:solidFill>
          <a:ln w="22860">
            <a:solidFill>
              <a:srgbClr val="29DDDA"/>
            </a:solidFill>
            <a:prstDash val="solid"/>
          </a:ln>
        </p:spPr>
        <p:txBody>
          <a:bodyPr/>
          <a:lstStyle/>
          <a:p/>
        </p:txBody>
      </p:sp>
      <p:sp>
        <p:nvSpPr>
          <p:cNvPr id="11" name="Shape 9"/>
          <p:cNvSpPr/>
          <p:nvPr/>
        </p:nvSpPr>
        <p:spPr>
          <a:xfrm>
            <a:off x="7439144" y="2819876"/>
            <a:ext cx="6359723" cy="606504"/>
          </a:xfrm>
          <a:prstGeom prst="roundRect">
            <a:avLst>
              <a:gd name="adj" fmla="val 45479"/>
            </a:avLst>
          </a:prstGeom>
          <a:solidFill>
            <a:srgbClr val="0A081B"/>
          </a:solidFill>
        </p:spPr>
        <p:txBody>
          <a:bodyPr/>
          <a:lstStyle/>
          <a:p/>
        </p:txBody>
      </p:sp>
      <p:sp>
        <p:nvSpPr>
          <p:cNvPr id="12" name="Text 10"/>
          <p:cNvSpPr/>
          <p:nvPr/>
        </p:nvSpPr>
        <p:spPr>
          <a:xfrm>
            <a:off x="10467380" y="2922151"/>
            <a:ext cx="303252" cy="378976"/>
          </a:xfrm>
          <a:prstGeom prst="rect">
            <a:avLst/>
          </a:prstGeom>
          <a:noFill/>
        </p:spPr>
        <p:txBody>
          <a:bodyPr wrap="none" lIns="0" tIns="0" rIns="0" bIns="0" rtlCol="0" anchor="t"/>
          <a:lstStyle/>
          <a:p>
            <a:pPr marL="0" indent="0" algn="l">
              <a:lnSpc>
                <a:spcPts val="2350"/>
              </a:lnSpc>
              <a:buNone/>
            </a:pPr>
            <a:r>
              <a:rPr lang="en-US" sz="2350" b="1">
                <a:solidFill>
                  <a:srgbClr val="E0E4E6"/>
                </a:solidFill>
                <a:latin typeface="Spline Sans Bold" pitchFamily="34" charset="0"/>
                <a:ea typeface="Spline Sans Bold" pitchFamily="34" charset="-122"/>
                <a:cs typeface="Spline Sans Bold" pitchFamily="34" charset="-120"/>
              </a:rPr>
              <a:t>2</a:t>
            </a:r>
            <a:endParaRPr lang="en-US" sz="2350"/>
          </a:p>
        </p:txBody>
      </p:sp>
      <p:sp>
        <p:nvSpPr>
          <p:cNvPr id="13" name="Text 11"/>
          <p:cNvSpPr/>
          <p:nvPr/>
        </p:nvSpPr>
        <p:spPr>
          <a:xfrm>
            <a:off x="7641312" y="3628549"/>
            <a:ext cx="2312432" cy="280749"/>
          </a:xfrm>
          <a:prstGeom prst="rect">
            <a:avLst/>
          </a:prstGeom>
          <a:noFill/>
        </p:spPr>
        <p:txBody>
          <a:bodyPr wrap="none" lIns="0" tIns="0" rIns="0" bIns="0" rtlCol="0" anchor="t"/>
          <a:lstStyle/>
          <a:p>
            <a:pPr marL="0" indent="0" algn="l">
              <a:lnSpc>
                <a:spcPts val="2200"/>
              </a:lnSpc>
              <a:buNone/>
            </a:pPr>
            <a:r>
              <a:rPr lang="en-US" sz="1750" b="1">
                <a:solidFill>
                  <a:srgbClr val="E0E4E6"/>
                </a:solidFill>
                <a:latin typeface="Spline Sans Bold" pitchFamily="34" charset="0"/>
                <a:ea typeface="Spline Sans Bold" pitchFamily="34" charset="-122"/>
                <a:cs typeface="Spline Sans Bold" pitchFamily="34" charset="-120"/>
              </a:rPr>
              <a:t>Detailed User Insights</a:t>
            </a:r>
            <a:endParaRPr lang="en-US" sz="1750"/>
          </a:p>
        </p:txBody>
      </p:sp>
      <p:sp>
        <p:nvSpPr>
          <p:cNvPr id="14" name="Text 12"/>
          <p:cNvSpPr/>
          <p:nvPr/>
        </p:nvSpPr>
        <p:spPr>
          <a:xfrm>
            <a:off x="7641312" y="4030504"/>
            <a:ext cx="5955387" cy="646748"/>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View comprehensive user details to make informed decisions regarding moderation and support.</a:t>
            </a:r>
            <a:endParaRPr lang="en-US" sz="1550"/>
          </a:p>
        </p:txBody>
      </p:sp>
      <p:sp>
        <p:nvSpPr>
          <p:cNvPr id="15" name="Shape 13"/>
          <p:cNvSpPr/>
          <p:nvPr/>
        </p:nvSpPr>
        <p:spPr>
          <a:xfrm>
            <a:off x="808673" y="5104448"/>
            <a:ext cx="6405443" cy="2428637"/>
          </a:xfrm>
          <a:prstGeom prst="roundRect">
            <a:avLst>
              <a:gd name="adj" fmla="val 12487"/>
            </a:avLst>
          </a:prstGeom>
          <a:solidFill>
            <a:srgbClr val="0A081B">
              <a:alpha val="75000"/>
            </a:srgbClr>
          </a:solidFill>
          <a:ln w="22860">
            <a:solidFill>
              <a:srgbClr val="37A7E7"/>
            </a:solidFill>
            <a:prstDash val="solid"/>
          </a:ln>
        </p:spPr>
        <p:txBody>
          <a:bodyPr/>
          <a:lstStyle/>
          <a:p/>
        </p:txBody>
      </p:sp>
      <p:sp>
        <p:nvSpPr>
          <p:cNvPr id="16" name="Shape 14"/>
          <p:cNvSpPr/>
          <p:nvPr/>
        </p:nvSpPr>
        <p:spPr>
          <a:xfrm>
            <a:off x="831533" y="5127308"/>
            <a:ext cx="6359723" cy="606504"/>
          </a:xfrm>
          <a:prstGeom prst="roundRect">
            <a:avLst>
              <a:gd name="adj" fmla="val 45479"/>
            </a:avLst>
          </a:prstGeom>
          <a:solidFill>
            <a:srgbClr val="0A081B"/>
          </a:solidFill>
        </p:spPr>
        <p:txBody>
          <a:bodyPr/>
          <a:lstStyle/>
          <a:p/>
        </p:txBody>
      </p:sp>
      <p:sp>
        <p:nvSpPr>
          <p:cNvPr id="17" name="Text 15"/>
          <p:cNvSpPr/>
          <p:nvPr/>
        </p:nvSpPr>
        <p:spPr>
          <a:xfrm>
            <a:off x="3859768" y="5229582"/>
            <a:ext cx="303252" cy="378976"/>
          </a:xfrm>
          <a:prstGeom prst="rect">
            <a:avLst/>
          </a:prstGeom>
          <a:noFill/>
        </p:spPr>
        <p:txBody>
          <a:bodyPr wrap="none" lIns="0" tIns="0" rIns="0" bIns="0" rtlCol="0" anchor="t"/>
          <a:lstStyle/>
          <a:p>
            <a:pPr marL="0" indent="0" algn="l">
              <a:lnSpc>
                <a:spcPts val="2350"/>
              </a:lnSpc>
              <a:buNone/>
            </a:pPr>
            <a:r>
              <a:rPr lang="en-US" sz="2350" b="1">
                <a:solidFill>
                  <a:srgbClr val="E0E4E6"/>
                </a:solidFill>
                <a:latin typeface="Spline Sans Bold" pitchFamily="34" charset="0"/>
                <a:ea typeface="Spline Sans Bold" pitchFamily="34" charset="-122"/>
                <a:cs typeface="Spline Sans Bold" pitchFamily="34" charset="-120"/>
              </a:rPr>
              <a:t>3</a:t>
            </a:r>
            <a:endParaRPr lang="en-US" sz="2350"/>
          </a:p>
        </p:txBody>
      </p:sp>
      <p:sp>
        <p:nvSpPr>
          <p:cNvPr id="18" name="Text 16"/>
          <p:cNvSpPr/>
          <p:nvPr/>
        </p:nvSpPr>
        <p:spPr>
          <a:xfrm>
            <a:off x="1033701" y="5935980"/>
            <a:ext cx="2248614" cy="280749"/>
          </a:xfrm>
          <a:prstGeom prst="rect">
            <a:avLst/>
          </a:prstGeom>
          <a:noFill/>
        </p:spPr>
        <p:txBody>
          <a:bodyPr wrap="none" lIns="0" tIns="0" rIns="0" bIns="0" rtlCol="0" anchor="t"/>
          <a:lstStyle/>
          <a:p>
            <a:pPr marL="0" indent="0" algn="l">
              <a:lnSpc>
                <a:spcPts val="2200"/>
              </a:lnSpc>
              <a:buNone/>
            </a:pPr>
            <a:r>
              <a:rPr lang="en-US" sz="1750" b="1">
                <a:solidFill>
                  <a:srgbClr val="E0E4E6"/>
                </a:solidFill>
                <a:latin typeface="Spline Sans Bold" pitchFamily="34" charset="0"/>
                <a:ea typeface="Spline Sans Bold" pitchFamily="34" charset="-122"/>
                <a:cs typeface="Spline Sans Bold" pitchFamily="34" charset="-120"/>
              </a:rPr>
              <a:t>Feedback Integration</a:t>
            </a:r>
            <a:endParaRPr lang="en-US" sz="1750"/>
          </a:p>
        </p:txBody>
      </p:sp>
      <p:sp>
        <p:nvSpPr>
          <p:cNvPr id="19" name="Text 17"/>
          <p:cNvSpPr/>
          <p:nvPr/>
        </p:nvSpPr>
        <p:spPr>
          <a:xfrm>
            <a:off x="1033701" y="6337935"/>
            <a:ext cx="5955387" cy="646748"/>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Efficiently read and reply to user feedback directly within the panel, streamlining communication and issue resolution.</a:t>
            </a:r>
            <a:endParaRPr lang="en-US" sz="1550"/>
          </a:p>
        </p:txBody>
      </p:sp>
      <p:sp>
        <p:nvSpPr>
          <p:cNvPr id="20" name="Shape 18"/>
          <p:cNvSpPr/>
          <p:nvPr/>
        </p:nvSpPr>
        <p:spPr>
          <a:xfrm>
            <a:off x="7416284" y="5104448"/>
            <a:ext cx="6405443" cy="2428637"/>
          </a:xfrm>
          <a:prstGeom prst="roundRect">
            <a:avLst>
              <a:gd name="adj" fmla="val 12487"/>
            </a:avLst>
          </a:prstGeom>
          <a:solidFill>
            <a:srgbClr val="0A081B">
              <a:alpha val="75000"/>
            </a:srgbClr>
          </a:solidFill>
          <a:ln w="22860">
            <a:solidFill>
              <a:srgbClr val="091231"/>
            </a:solidFill>
            <a:prstDash val="solid"/>
          </a:ln>
        </p:spPr>
        <p:txBody>
          <a:bodyPr/>
          <a:lstStyle/>
          <a:p/>
        </p:txBody>
      </p:sp>
      <p:sp>
        <p:nvSpPr>
          <p:cNvPr id="21" name="Shape 19"/>
          <p:cNvSpPr/>
          <p:nvPr/>
        </p:nvSpPr>
        <p:spPr>
          <a:xfrm>
            <a:off x="7439144" y="5127308"/>
            <a:ext cx="6359723" cy="606504"/>
          </a:xfrm>
          <a:prstGeom prst="roundRect">
            <a:avLst>
              <a:gd name="adj" fmla="val 45479"/>
            </a:avLst>
          </a:prstGeom>
          <a:solidFill>
            <a:srgbClr val="0A081B"/>
          </a:solidFill>
        </p:spPr>
        <p:txBody>
          <a:bodyPr/>
          <a:lstStyle/>
          <a:p/>
        </p:txBody>
      </p:sp>
      <p:sp>
        <p:nvSpPr>
          <p:cNvPr id="22" name="Text 20"/>
          <p:cNvSpPr/>
          <p:nvPr/>
        </p:nvSpPr>
        <p:spPr>
          <a:xfrm>
            <a:off x="10467380" y="5229582"/>
            <a:ext cx="303252" cy="378976"/>
          </a:xfrm>
          <a:prstGeom prst="rect">
            <a:avLst/>
          </a:prstGeom>
          <a:noFill/>
        </p:spPr>
        <p:txBody>
          <a:bodyPr wrap="none" lIns="0" tIns="0" rIns="0" bIns="0" rtlCol="0" anchor="t"/>
          <a:lstStyle/>
          <a:p>
            <a:pPr marL="0" indent="0" algn="l">
              <a:lnSpc>
                <a:spcPts val="2350"/>
              </a:lnSpc>
              <a:buNone/>
            </a:pPr>
            <a:r>
              <a:rPr lang="en-US" sz="2350" b="1">
                <a:solidFill>
                  <a:srgbClr val="E0E4E6"/>
                </a:solidFill>
                <a:latin typeface="Spline Sans Bold" pitchFamily="34" charset="0"/>
                <a:ea typeface="Spline Sans Bold" pitchFamily="34" charset="-122"/>
                <a:cs typeface="Spline Sans Bold" pitchFamily="34" charset="-120"/>
              </a:rPr>
              <a:t>4</a:t>
            </a:r>
            <a:endParaRPr lang="en-US" sz="2350"/>
          </a:p>
        </p:txBody>
      </p:sp>
      <p:sp>
        <p:nvSpPr>
          <p:cNvPr id="23" name="Text 21"/>
          <p:cNvSpPr/>
          <p:nvPr/>
        </p:nvSpPr>
        <p:spPr>
          <a:xfrm>
            <a:off x="7641312" y="5935980"/>
            <a:ext cx="2246352" cy="280749"/>
          </a:xfrm>
          <a:prstGeom prst="rect">
            <a:avLst/>
          </a:prstGeom>
          <a:noFill/>
        </p:spPr>
        <p:txBody>
          <a:bodyPr wrap="none" lIns="0" tIns="0" rIns="0" bIns="0" rtlCol="0" anchor="t"/>
          <a:lstStyle/>
          <a:p>
            <a:pPr marL="0" indent="0" algn="l">
              <a:lnSpc>
                <a:spcPts val="2200"/>
              </a:lnSpc>
              <a:buNone/>
            </a:pPr>
            <a:r>
              <a:rPr lang="en-US" sz="1750" b="1">
                <a:solidFill>
                  <a:srgbClr val="E0E4E6"/>
                </a:solidFill>
                <a:latin typeface="Spline Sans Bold" pitchFamily="34" charset="0"/>
                <a:ea typeface="Spline Sans Bold" pitchFamily="34" charset="-122"/>
                <a:cs typeface="Spline Sans Bold" pitchFamily="34" charset="-120"/>
              </a:rPr>
              <a:t>Role-Based Access</a:t>
            </a:r>
            <a:endParaRPr lang="en-US" sz="1750"/>
          </a:p>
        </p:txBody>
      </p:sp>
      <p:sp>
        <p:nvSpPr>
          <p:cNvPr id="24" name="Text 22"/>
          <p:cNvSpPr/>
          <p:nvPr/>
        </p:nvSpPr>
        <p:spPr>
          <a:xfrm>
            <a:off x="7641312" y="6337935"/>
            <a:ext cx="5955387" cy="970121"/>
          </a:xfrm>
          <a:prstGeom prst="rect">
            <a:avLst/>
          </a:prstGeom>
          <a:noFill/>
        </p:spPr>
        <p:txBody>
          <a:bodyPr wrap="square" lIns="0" tIns="0" rIns="0" bIns="0" rtlCol="0" anchor="t"/>
          <a:lstStyle/>
          <a:p>
            <a:pPr marL="0" indent="0" algn="l">
              <a:lnSpc>
                <a:spcPts val="2500"/>
              </a:lnSpc>
              <a:buNone/>
            </a:pPr>
            <a:r>
              <a:rPr lang="en-US" sz="1550">
                <a:solidFill>
                  <a:srgbClr val="E0E4E6"/>
                </a:solidFill>
                <a:latin typeface="Barlow" pitchFamily="34" charset="0"/>
                <a:ea typeface="Barlow" pitchFamily="34" charset="-122"/>
                <a:cs typeface="Barlow" pitchFamily="34" charset="-120"/>
              </a:rPr>
              <a:t>Manage user roles, including the promotion of regular admins to master admins, ensuring a hierarchical control structure. Access is secured through Firestore rules, guaranteeing authorised usage.</a:t>
            </a:r>
            <a:endParaRPr lang="en-US" sz="1550"/>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9">
    <p:spTree>
      <p:nvGrpSpPr>
        <p:cNvPr id="1" name=""/>
        <p:cNvGrpSpPr/>
        <p:nvPr/>
      </p:nvGrpSpPr>
      <p:grpSpPr>
        <a:xfrm>
          <a:off x="0" y="0"/>
          <a:ext cx="0" cy="0"/>
        </a:xfrm>
      </p:grpSpPr>
      <p:sp>
        <p:nvSpPr>
          <p:cNvPr id="2" name="Text 0"/>
          <p:cNvSpPr/>
          <p:nvPr/>
        </p:nvSpPr>
        <p:spPr>
          <a:xfrm>
            <a:off x="881063" y="1622346"/>
            <a:ext cx="6081712"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Master Admin Capabilities</a:t>
            </a:r>
            <a:endParaRPr lang="en-US" sz="3850"/>
          </a:p>
        </p:txBody>
      </p:sp>
      <p:sp>
        <p:nvSpPr>
          <p:cNvPr id="3" name="Text 1"/>
          <p:cNvSpPr/>
          <p:nvPr/>
        </p:nvSpPr>
        <p:spPr>
          <a:xfrm>
            <a:off x="881063" y="2674858"/>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The Master Admin role in SafePlay provides an elevated level of control and system oversight, designed for critical management functions and bypassing standard access protocols. This ensures that the most powerful tools are in the hands of key personnel, enabling swift and decisive action.</a:t>
            </a:r>
            <a:endParaRPr lang="en-US" sz="1700"/>
          </a:p>
        </p:txBody>
      </p:sp>
      <p:sp>
        <p:nvSpPr>
          <p:cNvPr id="4" name="Shape 2"/>
          <p:cNvSpPr/>
          <p:nvPr/>
        </p:nvSpPr>
        <p:spPr>
          <a:xfrm>
            <a:off x="881063" y="4310301"/>
            <a:ext cx="6324005" cy="2296835"/>
          </a:xfrm>
          <a:prstGeom prst="roundRect">
            <a:avLst>
              <a:gd name="adj" fmla="val 6370"/>
            </a:avLst>
          </a:prstGeom>
          <a:solidFill>
            <a:srgbClr val="0A081B">
              <a:alpha val="75000"/>
            </a:srgbClr>
          </a:solidFill>
        </p:spPr>
        <p:txBody>
          <a:bodyPr/>
          <a:lstStyle/>
          <a:p/>
        </p:txBody>
      </p:sp>
      <p:sp>
        <p:nvSpPr>
          <p:cNvPr id="5" name="Shape 3"/>
          <p:cNvSpPr/>
          <p:nvPr/>
        </p:nvSpPr>
        <p:spPr>
          <a:xfrm>
            <a:off x="881063" y="4279821"/>
            <a:ext cx="6324005" cy="121920"/>
          </a:xfrm>
          <a:prstGeom prst="roundRect">
            <a:avLst>
              <a:gd name="adj" fmla="val 271033"/>
            </a:avLst>
          </a:prstGeom>
          <a:solidFill>
            <a:srgbClr val="16FFBB"/>
          </a:solidFill>
        </p:spPr>
        <p:txBody>
          <a:bodyPr/>
          <a:lstStyle/>
          <a:p/>
        </p:txBody>
      </p:sp>
      <p:sp>
        <p:nvSpPr>
          <p:cNvPr id="6" name="Shape 4"/>
          <p:cNvSpPr/>
          <p:nvPr/>
        </p:nvSpPr>
        <p:spPr>
          <a:xfrm>
            <a:off x="3712607" y="3979902"/>
            <a:ext cx="660797" cy="660797"/>
          </a:xfrm>
          <a:prstGeom prst="roundRect">
            <a:avLst>
              <a:gd name="adj" fmla="val 138378"/>
            </a:avLst>
          </a:prstGeom>
          <a:solidFill>
            <a:srgbClr val="16FFBB"/>
          </a:solidFill>
        </p:spPr>
        <p:txBody>
          <a:bodyPr/>
          <a:lstStyle/>
          <a:p/>
        </p:txBody>
      </p:sp>
      <p:sp>
        <p:nvSpPr>
          <p:cNvPr id="7" name="Text 5"/>
          <p:cNvSpPr/>
          <p:nvPr/>
        </p:nvSpPr>
        <p:spPr>
          <a:xfrm>
            <a:off x="3910846" y="4145042"/>
            <a:ext cx="264319" cy="330398"/>
          </a:xfrm>
          <a:prstGeom prst="rect">
            <a:avLst/>
          </a:prstGeom>
          <a:noFill/>
        </p:spPr>
        <p:txBody>
          <a:bodyPr wrap="none" lIns="0" tIns="0" rIns="0" bIns="0" rtlCol="0" anchor="t"/>
          <a:lstStyle/>
          <a:p>
            <a:pPr marL="0" indent="0" algn="l">
              <a:lnSpc>
                <a:spcPts val="3300"/>
              </a:lnSpc>
              <a:buNone/>
            </a:pPr>
            <a:r>
              <a:rPr lang="en-US" sz="2050" b="1">
                <a:solidFill>
                  <a:srgbClr val="000000"/>
                </a:solidFill>
                <a:latin typeface="Spline Sans Bold" pitchFamily="34" charset="0"/>
                <a:ea typeface="Spline Sans Bold" pitchFamily="34" charset="-122"/>
                <a:cs typeface="Spline Sans Bold" pitchFamily="34" charset="-120"/>
              </a:rPr>
              <a:t>1</a:t>
            </a:r>
            <a:endParaRPr lang="en-US" sz="2050"/>
          </a:p>
        </p:txBody>
      </p:sp>
      <p:sp>
        <p:nvSpPr>
          <p:cNvPr id="8" name="Text 6"/>
          <p:cNvSpPr/>
          <p:nvPr/>
        </p:nvSpPr>
        <p:spPr>
          <a:xfrm>
            <a:off x="1131808" y="4860965"/>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Direct Access</a:t>
            </a:r>
            <a:endParaRPr lang="en-US" sz="1900"/>
          </a:p>
        </p:txBody>
      </p:sp>
      <p:sp>
        <p:nvSpPr>
          <p:cNvPr id="9" name="Text 7"/>
          <p:cNvSpPr/>
          <p:nvPr/>
        </p:nvSpPr>
        <p:spPr>
          <a:xfrm>
            <a:off x="1131808" y="5299115"/>
            <a:ext cx="5822513"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Master Admins automatically bypass the role selection dialogue, gaining immediate access to the full suite of administrative tools.</a:t>
            </a:r>
            <a:endParaRPr lang="en-US" sz="1700"/>
          </a:p>
        </p:txBody>
      </p:sp>
      <p:sp>
        <p:nvSpPr>
          <p:cNvPr id="10" name="Shape 8"/>
          <p:cNvSpPr/>
          <p:nvPr/>
        </p:nvSpPr>
        <p:spPr>
          <a:xfrm>
            <a:off x="7425333" y="4310301"/>
            <a:ext cx="6324005" cy="2296835"/>
          </a:xfrm>
          <a:prstGeom prst="roundRect">
            <a:avLst>
              <a:gd name="adj" fmla="val 6370"/>
            </a:avLst>
          </a:prstGeom>
          <a:solidFill>
            <a:srgbClr val="0A081B">
              <a:alpha val="75000"/>
            </a:srgbClr>
          </a:solidFill>
        </p:spPr>
        <p:txBody>
          <a:bodyPr/>
          <a:lstStyle/>
          <a:p/>
        </p:txBody>
      </p:sp>
      <p:sp>
        <p:nvSpPr>
          <p:cNvPr id="11" name="Shape 9"/>
          <p:cNvSpPr/>
          <p:nvPr/>
        </p:nvSpPr>
        <p:spPr>
          <a:xfrm>
            <a:off x="7425333" y="4279821"/>
            <a:ext cx="6324005" cy="121920"/>
          </a:xfrm>
          <a:prstGeom prst="roundRect">
            <a:avLst>
              <a:gd name="adj" fmla="val 271033"/>
            </a:avLst>
          </a:prstGeom>
          <a:solidFill>
            <a:srgbClr val="29DDDA"/>
          </a:solidFill>
        </p:spPr>
        <p:txBody>
          <a:bodyPr/>
          <a:lstStyle/>
          <a:p/>
        </p:txBody>
      </p:sp>
      <p:sp>
        <p:nvSpPr>
          <p:cNvPr id="12" name="Shape 10"/>
          <p:cNvSpPr/>
          <p:nvPr/>
        </p:nvSpPr>
        <p:spPr>
          <a:xfrm>
            <a:off x="10256877" y="3979902"/>
            <a:ext cx="660797" cy="660797"/>
          </a:xfrm>
          <a:prstGeom prst="roundRect">
            <a:avLst>
              <a:gd name="adj" fmla="val 138378"/>
            </a:avLst>
          </a:prstGeom>
          <a:solidFill>
            <a:srgbClr val="16FFBB"/>
          </a:solidFill>
        </p:spPr>
        <p:txBody>
          <a:bodyPr/>
          <a:lstStyle/>
          <a:p/>
        </p:txBody>
      </p:sp>
      <p:sp>
        <p:nvSpPr>
          <p:cNvPr id="13" name="Text 11"/>
          <p:cNvSpPr/>
          <p:nvPr/>
        </p:nvSpPr>
        <p:spPr>
          <a:xfrm>
            <a:off x="10455116" y="4145042"/>
            <a:ext cx="264319" cy="330398"/>
          </a:xfrm>
          <a:prstGeom prst="rect">
            <a:avLst/>
          </a:prstGeom>
          <a:noFill/>
        </p:spPr>
        <p:txBody>
          <a:bodyPr wrap="none" lIns="0" tIns="0" rIns="0" bIns="0" rtlCol="0" anchor="t"/>
          <a:lstStyle/>
          <a:p>
            <a:pPr marL="0" indent="0" algn="l">
              <a:lnSpc>
                <a:spcPts val="3300"/>
              </a:lnSpc>
              <a:buNone/>
            </a:pPr>
            <a:r>
              <a:rPr lang="en-US" sz="2050" b="1">
                <a:solidFill>
                  <a:srgbClr val="000000"/>
                </a:solidFill>
                <a:latin typeface="Spline Sans Bold" pitchFamily="34" charset="0"/>
                <a:ea typeface="Spline Sans Bold" pitchFamily="34" charset="-122"/>
                <a:cs typeface="Spline Sans Bold" pitchFamily="34" charset="-120"/>
              </a:rPr>
              <a:t>2</a:t>
            </a:r>
            <a:endParaRPr lang="en-US" sz="2050"/>
          </a:p>
        </p:txBody>
      </p:sp>
      <p:sp>
        <p:nvSpPr>
          <p:cNvPr id="14" name="Text 12"/>
          <p:cNvSpPr/>
          <p:nvPr/>
        </p:nvSpPr>
        <p:spPr>
          <a:xfrm>
            <a:off x="7676078" y="4860965"/>
            <a:ext cx="2447687" cy="305991"/>
          </a:xfrm>
          <a:prstGeom prst="rect">
            <a:avLst/>
          </a:prstGeom>
          <a:noFill/>
        </p:spPr>
        <p:txBody>
          <a:bodyPr wrap="none" lIns="0" tIns="0" rIns="0" bIns="0" rtlCol="0" anchor="t"/>
          <a:lstStyle/>
          <a:p>
            <a:pPr marL="0" indent="0" algn="l">
              <a:lnSpc>
                <a:spcPts val="2400"/>
              </a:lnSpc>
              <a:buNone/>
            </a:pPr>
            <a:r>
              <a:rPr lang="en-US" sz="1900" b="1">
                <a:solidFill>
                  <a:srgbClr val="E0E4E6"/>
                </a:solidFill>
                <a:latin typeface="Spline Sans Bold" pitchFamily="34" charset="0"/>
                <a:ea typeface="Spline Sans Bold" pitchFamily="34" charset="-122"/>
                <a:cs typeface="Spline Sans Bold" pitchFamily="34" charset="-120"/>
              </a:rPr>
              <a:t>Full System Control</a:t>
            </a:r>
            <a:endParaRPr lang="en-US" sz="1900"/>
          </a:p>
        </p:txBody>
      </p:sp>
      <p:sp>
        <p:nvSpPr>
          <p:cNvPr id="15" name="Text 13"/>
          <p:cNvSpPr/>
          <p:nvPr/>
        </p:nvSpPr>
        <p:spPr>
          <a:xfrm>
            <a:off x="7676078" y="5299115"/>
            <a:ext cx="5822513"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Equipped with complete authority over system management, enabling comprehensive oversight and immediate intervention capabilities.</a:t>
            </a:r>
            <a:endParaRPr lang="en-US" sz="1700"/>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Slide 10">
    <p:spTree>
      <p:nvGrpSpPr>
        <p:cNvPr id="1" name=""/>
        <p:cNvGrpSpPr/>
        <p:nvPr/>
      </p:nvGrpSpPr>
      <p:grpSpPr>
        <a:xfrm>
          <a:off x="0" y="0"/>
          <a:ext cx="0" cy="0"/>
        </a:xfrm>
      </p:grpSpPr>
      <p:sp>
        <p:nvSpPr>
          <p:cNvPr id="2" name="Text 0"/>
          <p:cNvSpPr/>
          <p:nvPr/>
        </p:nvSpPr>
        <p:spPr>
          <a:xfrm>
            <a:off x="881063" y="2511981"/>
            <a:ext cx="12287845" cy="611981"/>
          </a:xfrm>
          <a:prstGeom prst="rect">
            <a:avLst/>
          </a:prstGeom>
          <a:noFill/>
        </p:spPr>
        <p:txBody>
          <a:bodyPr wrap="none" lIns="0" tIns="0" rIns="0" bIns="0" rtlCol="0" anchor="t"/>
          <a:lstStyle/>
          <a:p>
            <a:pPr marL="0" indent="0" algn="l">
              <a:lnSpc>
                <a:spcPts val="4800"/>
              </a:lnSpc>
              <a:buNone/>
            </a:pPr>
            <a:r>
              <a:rPr lang="en-US" sz="3850" b="1">
                <a:solidFill>
                  <a:srgbClr val="F0FCFF"/>
                </a:solidFill>
                <a:latin typeface="Spline Sans Bold" pitchFamily="34" charset="0"/>
                <a:ea typeface="Spline Sans Bold" pitchFamily="34" charset="-122"/>
                <a:cs typeface="Spline Sans Bold" pitchFamily="34" charset="-120"/>
              </a:rPr>
              <a:t>The SafePlay Vision: Secure, Connected, Personalised</a:t>
            </a:r>
            <a:endParaRPr lang="en-US" sz="3850"/>
          </a:p>
        </p:txBody>
      </p:sp>
      <p:sp>
        <p:nvSpPr>
          <p:cNvPr id="3" name="Text 1"/>
          <p:cNvSpPr/>
          <p:nvPr/>
        </p:nvSpPr>
        <p:spPr>
          <a:xfrm>
            <a:off x="881063" y="3564493"/>
            <a:ext cx="12868275" cy="1057275"/>
          </a:xfrm>
          <a:prstGeom prst="rect">
            <a:avLst/>
          </a:prstGeom>
          <a:noFill/>
        </p:spPr>
        <p:txBody>
          <a:bodyPr wrap="squar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SafePlay is more than just a messaging app; it is a commitment to secure and engaging digital communication. Our platform constantly evolves to meet user needs, ensuring privacy, offering extensive customisation, and providing robust administrative oversight. Join us in building a safer, more connected digital world.</a:t>
            </a:r>
            <a:endParaRPr lang="en-US" sz="1700"/>
          </a:p>
        </p:txBody>
      </p:sp>
      <p:sp>
        <p:nvSpPr>
          <p:cNvPr id="4" name="Text 2"/>
          <p:cNvSpPr/>
          <p:nvPr/>
        </p:nvSpPr>
        <p:spPr>
          <a:xfrm>
            <a:off x="1211461" y="5117306"/>
            <a:ext cx="12537877" cy="352425"/>
          </a:xfrm>
          <a:prstGeom prst="rect">
            <a:avLst/>
          </a:prstGeom>
          <a:noFill/>
        </p:spPr>
        <p:txBody>
          <a:bodyPr wrap="none" lIns="0" tIns="0" rIns="0" bIns="0" rtlCol="0" anchor="t"/>
          <a:lstStyle/>
          <a:p>
            <a:pPr marL="0" indent="0" algn="l">
              <a:lnSpc>
                <a:spcPts val="2750"/>
              </a:lnSpc>
              <a:buNone/>
            </a:pPr>
            <a:r>
              <a:rPr lang="en-US" sz="1700">
                <a:solidFill>
                  <a:srgbClr val="E0E4E6"/>
                </a:solidFill>
                <a:latin typeface="Barlow" pitchFamily="34" charset="0"/>
                <a:ea typeface="Barlow" pitchFamily="34" charset="-122"/>
                <a:cs typeface="Barlow" pitchFamily="34" charset="-120"/>
              </a:rPr>
              <a:t>"Empowering secure and vibrant conversations through innovation and user-centric design."</a:t>
            </a:r>
            <a:endParaRPr lang="en-US" sz="1700"/>
          </a:p>
        </p:txBody>
      </p:sp>
      <p:sp>
        <p:nvSpPr>
          <p:cNvPr id="5" name="Shape 3"/>
          <p:cNvSpPr/>
          <p:nvPr/>
        </p:nvSpPr>
        <p:spPr>
          <a:xfrm>
            <a:off x="881063" y="4869537"/>
            <a:ext cx="30480" cy="847963"/>
          </a:xfrm>
          <a:prstGeom prst="rect">
            <a:avLst/>
          </a:prstGeom>
          <a:solidFill>
            <a:srgbClr val="16FFBB"/>
          </a:solidFill>
        </p:spPr>
        <p:txBody>
          <a:bodyPr/>
          <a:lstStyle/>
          <a:p/>
        </p:txBody>
      </p:sp>
    </p:spTree>
  </p:cSld>
  <p:clrMapOvr>
    <a:masterClrMapping/>
  </p:clrMapOvr>
  <p:transition/>
  <p:timing/>
</p:sld>
</file>

<file path=ppt/tags/tag1.xml><?xml version="1.0" encoding="utf-8"?>
<p:tagLst xmlns:p="http://schemas.openxmlformats.org/presentationml/2006/main">
  <p:tag name="AS_NET" val="6.0.36"/>
  <p:tag name="AS_OS" val="Unix 5.4.0.216"/>
  <p:tag name="AS_RELEASE_DATE" val="2024.02.14"/>
  <p:tag name="AS_TITLE" val="Aspose.Slides for .NET6"/>
  <p:tag name="AS_VERSION" val="24.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249</Paragraphs>
  <Slides>20</Slides>
  <Notes>20</Notes>
  <TotalTime>1</TotalTime>
  <HiddenSlides>0</HiddenSlides>
  <MMClips>0</MMClips>
  <ScaleCrop>0</ScaleCrop>
  <HeadingPairs>
    <vt:vector baseType="variant" size="6">
      <vt:variant>
        <vt:lpstr>Fonts used</vt:lpstr>
      </vt:variant>
      <vt:variant>
        <vt:i4>5</vt:i4>
      </vt:variant>
      <vt:variant>
        <vt:lpstr>Theme</vt:lpstr>
      </vt:variant>
      <vt:variant>
        <vt:i4>1</vt:i4>
      </vt:variant>
      <vt:variant>
        <vt:lpstr>Slide Titles</vt:lpstr>
      </vt:variant>
      <vt:variant>
        <vt:i4>20</vt:i4>
      </vt:variant>
    </vt:vector>
  </HeadingPairs>
  <TitlesOfParts>
    <vt:vector baseType="lpstr" size="26">
      <vt:lpstr>Arial</vt:lpstr>
      <vt:lpstr>Calibri</vt:lpstr>
      <vt:lpstr>Calibri Light</vt:lpstr>
      <vt:lpstr>Spline Sans Bold</vt:lpstr>
      <vt:lpstr>Barlow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24.0200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2025-11-27T14:19:44.290</cp:lastPrinted>
  <dcterms:created xsi:type="dcterms:W3CDTF">2025-11-27T14:19:44Z</dcterms:created>
  <dcterms:modified xsi:type="dcterms:W3CDTF">2025-11-27T14:19:50Z</dcterms:modified>
</cp:coreProperties>
</file>